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(45 seconds). We are KD PAY LLC. We process about $800K a month at a 0.01% chargeback rate, and we want to build our platform on Airwallex. In this deck: who we are, the Asia gap we serve, our Phase 1 product, the exact partnership model we propose, and our security posture.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only slide that matters if the meeting is cut short. We want the ledger model at launch because it gets us live in weeks; connected accounts come later as volume justifies KYB cost. We are not asking for special treatment on risk — we are showing a 0.01% dispute record and asking for pricing that reflects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about the entity change before they ask: the team and book of business are from 2022, the LLC is new. We will provide statements from the current providers and references under NDA. The engineering claim is the differentiator — we are building a real ledger, not reselling a gateway.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of this slide is risk quality, not size. $800K/month is small for Airwallex; 0.01% is unusually clean. Say it plainly: we would rather bring you 50 good merchants than 500 bad ones. We will supply 12 months of statements and dispute data under NDA.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explains the business. Every point is something we hear from merchants weekly. Avoid quoting decline percentages unless we have our own data in the appendix — 'materially higher' is defensible, a made-up number is not.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them directly: which of these corridors can you support today, and which are 6-12 months away? That answer re-orders our roadmap. We are deliberately not promising all of Asia on day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is deliberately boring: hosted checkout, two plugins, an API. That is what gets merchants live. Everything else — invoicing, payouts, disputes — is already scoped and comes with the same release train.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PCI question before they ask it. Card data lives and dies inside Airwallex Elements. Our servers see a token and a result. That is why we can launch as SAQ-A rather than spending a year and six figures on a full assessment.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Careful with the Stripe comparison — say it as a coverage observation, not a criticism. If they ask what would make us leave: coverage gaps in South Asia and pricing that does not reflect our dispute record.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shows we read their documentation. Terminology matters: seller ledger vs full connected account, capability activation, payment acceptance requiring KYB. Ask them to confirm which model they would approve for a US platform onboarding merchants in Bangladesh and Pakistan. Also ask about white-label/brand-mention guidelines for the merchant UI.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overclaim: 0.01% is the trailing average across the current book. Say that, and offer the statements. The reserve sentence is the one they want to hear — platforms that fight reserves get declined. We are signalling we will fund risk.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all twelve. Say: 'there are twelve controls, all tested; let me highlight four'. Highlight 01 (SAQ-A: we cannot see a card number), 07 (RLS: a bug in our app still cannot leak a tenant's data), 08 (double-payment), 09 (audit chain). Offer the security architecture document as a follow-up — it is already written.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they push back on the ledger model because 'we don't KYC the merchants', this is the answer: we run a real KYB pipeline, screen sanctions, monitor disputes and hold reserves. We are not a shell that pipes volume. Offer to walk them through the onboarding flow screen by screen.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timeline is the credibility test. Most platforms say 'we'll integrate' without a plan. Ours has five gates and a joint certification week. If they ask what we need from them: sandbox keys by week 2 and one solutions engineer for the certification week.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careful not to inflate. The year-2 column is ambition. If they ask for a forecast with numbers, say we will model it with their pricing sheet and send it within a week — that is a stronger answer than an invented spreadsheet.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asking for the two things that unblock everything: written confirmation of the model, and sandbox access. Replace the bracketed contact details before sending — they are intentionally left as placeholders.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this page to their engineer. It answers the integration questions in their language: idempotency, webhook semantics, reconciliation tolerance, environment separation.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Ending on the entity issue is deliberate: it is the one thing underwriting will find, so we frame it before they do. Say we would rather over-share than have it surface late in the process.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A2B"/>
        </a:solidFill>
        <a:effectLst/>
      </p:bgPr>
    </p:bg>
    <p:spTree>
      <p:nvGrpSpPr>
        <p:cNvPr id="1" name=""/>
        <p:cNvGrpSpPr/>
        <p:nvPr/>
      </p:nvGrpSpPr>
      <p:grpSpPr/>
      <p:sp>
        <p:nvSpPr>
          <p:cNvPr id="2" name="Rectangle 1"/>
          <p:cNvSpPr/>
          <p:nvPr/>
        </p:nvSpPr>
        <p:spPr>
          <a:xfrm>
            <a:off x="658368" y="960120"/>
            <a:ext cx="54864" cy="2880360"/>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914400" y="932688"/>
            <a:ext cx="8686800" cy="237744"/>
          </a:xfrm>
          <a:prstGeom prst="rect">
            <a:avLst/>
          </a:prstGeom>
          <a:noFill/>
        </p:spPr>
        <p:txBody>
          <a:bodyPr wrap="square" lIns="0" tIns="0" rIns="0" bIns="0" anchor="t">
            <a:spAutoFit/>
          </a:bodyPr>
          <a:lstStyle/>
          <a:p>
            <a:pPr algn="l">
              <a:lnSpc>
                <a:spcPct val="112000"/>
              </a:lnSpc>
              <a:spcAft>
                <a:spcPts val="0"/>
              </a:spcAft>
            </a:pPr>
            <a:r>
              <a:rPr sz="1000" b="1" i="0" spc="180">
                <a:solidFill>
                  <a:srgbClr val="00B589"/>
                </a:solidFill>
                <a:latin typeface="Arial"/>
              </a:rPr>
              <a:t>PARTNERSHIP PROPOSAL  ·  CONFIDENTIAL</a:t>
            </a:r>
          </a:p>
        </p:txBody>
      </p:sp>
      <p:sp>
        <p:nvSpPr>
          <p:cNvPr id="4" name="TextBox 3"/>
          <p:cNvSpPr txBox="1"/>
          <p:nvPr/>
        </p:nvSpPr>
        <p:spPr>
          <a:xfrm>
            <a:off x="914400" y="1298448"/>
            <a:ext cx="9966960" cy="2286000"/>
          </a:xfrm>
          <a:prstGeom prst="rect">
            <a:avLst/>
          </a:prstGeom>
          <a:noFill/>
        </p:spPr>
        <p:txBody>
          <a:bodyPr wrap="square" lIns="0" tIns="0" rIns="0" bIns="0" anchor="t">
            <a:spAutoFit/>
          </a:bodyPr>
          <a:lstStyle/>
          <a:p>
            <a:pPr algn="l">
              <a:lnSpc>
                <a:spcPct val="108000"/>
              </a:lnSpc>
              <a:spcAft>
                <a:spcPts val="0"/>
              </a:spcAft>
            </a:pPr>
            <a:r>
              <a:rPr sz="4000" b="1" i="0">
                <a:solidFill>
                  <a:srgbClr val="FFFFFF"/>
                </a:solidFill>
                <a:latin typeface="Arial"/>
              </a:rPr>
              <a:t>Payments infrastructure for</a:t>
            </a:r>
          </a:p>
          <a:p>
            <a:pPr algn="l">
              <a:lnSpc>
                <a:spcPct val="108000"/>
              </a:lnSpc>
              <a:spcAft>
                <a:spcPts val="0"/>
              </a:spcAft>
            </a:pPr>
            <a:r>
              <a:rPr sz="4000" b="1" i="0">
                <a:solidFill>
                  <a:srgbClr val="FFFFFF"/>
                </a:solidFill>
                <a:latin typeface="Arial"/>
              </a:rPr>
              <a:t>Asia's cross-border merchants</a:t>
            </a:r>
          </a:p>
        </p:txBody>
      </p:sp>
      <p:sp>
        <p:nvSpPr>
          <p:cNvPr id="5" name="TextBox 4"/>
          <p:cNvSpPr txBox="1"/>
          <p:nvPr/>
        </p:nvSpPr>
        <p:spPr>
          <a:xfrm>
            <a:off x="914400" y="3584448"/>
            <a:ext cx="8961120" cy="822960"/>
          </a:xfrm>
          <a:prstGeom prst="rect">
            <a:avLst/>
          </a:prstGeom>
          <a:noFill/>
        </p:spPr>
        <p:txBody>
          <a:bodyPr wrap="square" lIns="0" tIns="0" rIns="0" bIns="0" anchor="t">
            <a:spAutoFit/>
          </a:bodyPr>
          <a:lstStyle/>
          <a:p>
            <a:pPr algn="l">
              <a:lnSpc>
                <a:spcPct val="130000"/>
              </a:lnSpc>
              <a:spcAft>
                <a:spcPts val="0"/>
              </a:spcAft>
            </a:pPr>
            <a:r>
              <a:rPr sz="1500" b="0" i="0">
                <a:solidFill>
                  <a:srgbClr val="9FB3C6"/>
                </a:solidFill>
                <a:latin typeface="Arial"/>
              </a:rPr>
              <a:t>KD PAY LLC — application to join Airwallex for Platforms as a regional payment platform.</a:t>
            </a:r>
          </a:p>
        </p:txBody>
      </p:sp>
      <p:cxnSp>
        <p:nvCxnSpPr>
          <p:cNvPr id="6" name="Connector 5"/>
          <p:cNvCxnSpPr/>
          <p:nvPr/>
        </p:nvCxnSpPr>
        <p:spPr>
          <a:xfrm>
            <a:off x="658368" y="4864608"/>
            <a:ext cx="10874959" cy="0"/>
          </a:xfrm>
          <a:prstGeom prst="line">
            <a:avLst/>
          </a:prstGeom>
          <a:ln w="10160">
            <a:solidFill>
              <a:srgbClr val="213B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5102352"/>
            <a:ext cx="2490139" cy="566928"/>
          </a:xfrm>
          <a:prstGeom prst="rect">
            <a:avLst/>
          </a:prstGeom>
          <a:noFill/>
        </p:spPr>
        <p:txBody>
          <a:bodyPr wrap="square" lIns="0" tIns="0" rIns="0" bIns="0" anchor="t">
            <a:spAutoFit/>
          </a:bodyPr>
          <a:lstStyle/>
          <a:p>
            <a:pPr algn="l">
              <a:lnSpc>
                <a:spcPct val="100000"/>
              </a:lnSpc>
              <a:spcAft>
                <a:spcPts val="0"/>
              </a:spcAft>
            </a:pPr>
            <a:r>
              <a:rPr sz="2200" b="1" i="0">
                <a:solidFill>
                  <a:srgbClr val="00B589"/>
                </a:solidFill>
                <a:latin typeface="Arial"/>
              </a:rPr>
              <a:t>$800K</a:t>
            </a:r>
          </a:p>
        </p:txBody>
      </p:sp>
      <p:sp>
        <p:nvSpPr>
          <p:cNvPr id="8" name="TextBox 7"/>
          <p:cNvSpPr txBox="1"/>
          <p:nvPr/>
        </p:nvSpPr>
        <p:spPr>
          <a:xfrm>
            <a:off x="658368" y="5650992"/>
            <a:ext cx="2490139" cy="274320"/>
          </a:xfrm>
          <a:prstGeom prst="rect">
            <a:avLst/>
          </a:prstGeom>
          <a:noFill/>
        </p:spPr>
        <p:txBody>
          <a:bodyPr wrap="square" lIns="0" tIns="0" rIns="0" bIns="0" anchor="t">
            <a:spAutoFit/>
          </a:bodyPr>
          <a:lstStyle/>
          <a:p>
            <a:pPr algn="l">
              <a:lnSpc>
                <a:spcPct val="112000"/>
              </a:lnSpc>
              <a:spcAft>
                <a:spcPts val="0"/>
              </a:spcAft>
            </a:pPr>
            <a:r>
              <a:rPr sz="1000" b="1" i="0" spc="110">
                <a:solidFill>
                  <a:srgbClr val="9FB3C6"/>
                </a:solidFill>
                <a:latin typeface="Arial"/>
              </a:rPr>
              <a:t>MONTHLY VOLUME</a:t>
            </a:r>
          </a:p>
        </p:txBody>
      </p:sp>
      <p:sp>
        <p:nvSpPr>
          <p:cNvPr id="9" name="TextBox 8"/>
          <p:cNvSpPr txBox="1"/>
          <p:nvPr/>
        </p:nvSpPr>
        <p:spPr>
          <a:xfrm>
            <a:off x="3377107" y="5102352"/>
            <a:ext cx="2490139" cy="566928"/>
          </a:xfrm>
          <a:prstGeom prst="rect">
            <a:avLst/>
          </a:prstGeom>
          <a:noFill/>
        </p:spPr>
        <p:txBody>
          <a:bodyPr wrap="square" lIns="0" tIns="0" rIns="0" bIns="0" anchor="t">
            <a:spAutoFit/>
          </a:bodyPr>
          <a:lstStyle/>
          <a:p>
            <a:pPr algn="l">
              <a:lnSpc>
                <a:spcPct val="100000"/>
              </a:lnSpc>
              <a:spcAft>
                <a:spcPts val="0"/>
              </a:spcAft>
            </a:pPr>
            <a:r>
              <a:rPr sz="2200" b="1" i="0">
                <a:solidFill>
                  <a:srgbClr val="00B589"/>
                </a:solidFill>
                <a:latin typeface="Arial"/>
              </a:rPr>
              <a:t>0.01%</a:t>
            </a:r>
          </a:p>
        </p:txBody>
      </p:sp>
      <p:sp>
        <p:nvSpPr>
          <p:cNvPr id="10" name="TextBox 9"/>
          <p:cNvSpPr txBox="1"/>
          <p:nvPr/>
        </p:nvSpPr>
        <p:spPr>
          <a:xfrm>
            <a:off x="3377107" y="5650992"/>
            <a:ext cx="2490139" cy="274320"/>
          </a:xfrm>
          <a:prstGeom prst="rect">
            <a:avLst/>
          </a:prstGeom>
          <a:noFill/>
        </p:spPr>
        <p:txBody>
          <a:bodyPr wrap="square" lIns="0" tIns="0" rIns="0" bIns="0" anchor="t">
            <a:spAutoFit/>
          </a:bodyPr>
          <a:lstStyle/>
          <a:p>
            <a:pPr algn="l">
              <a:lnSpc>
                <a:spcPct val="112000"/>
              </a:lnSpc>
              <a:spcAft>
                <a:spcPts val="0"/>
              </a:spcAft>
            </a:pPr>
            <a:r>
              <a:rPr sz="1000" b="1" i="0" spc="110">
                <a:solidFill>
                  <a:srgbClr val="9FB3C6"/>
                </a:solidFill>
                <a:latin typeface="Arial"/>
              </a:rPr>
              <a:t>CHARGEBACK RATIO</a:t>
            </a:r>
          </a:p>
        </p:txBody>
      </p:sp>
      <p:sp>
        <p:nvSpPr>
          <p:cNvPr id="11" name="TextBox 10"/>
          <p:cNvSpPr txBox="1"/>
          <p:nvPr/>
        </p:nvSpPr>
        <p:spPr>
          <a:xfrm>
            <a:off x="6095847" y="5102352"/>
            <a:ext cx="2490139" cy="566928"/>
          </a:xfrm>
          <a:prstGeom prst="rect">
            <a:avLst/>
          </a:prstGeom>
          <a:noFill/>
        </p:spPr>
        <p:txBody>
          <a:bodyPr wrap="square" lIns="0" tIns="0" rIns="0" bIns="0" anchor="t">
            <a:spAutoFit/>
          </a:bodyPr>
          <a:lstStyle/>
          <a:p>
            <a:pPr algn="l">
              <a:lnSpc>
                <a:spcPct val="100000"/>
              </a:lnSpc>
              <a:spcAft>
                <a:spcPts val="0"/>
              </a:spcAft>
            </a:pPr>
            <a:r>
              <a:rPr sz="2200" b="1" i="0">
                <a:solidFill>
                  <a:srgbClr val="FFFFFF"/>
                </a:solidFill>
                <a:latin typeface="Arial"/>
              </a:rPr>
              <a:t>2022</a:t>
            </a:r>
          </a:p>
        </p:txBody>
      </p:sp>
      <p:sp>
        <p:nvSpPr>
          <p:cNvPr id="12" name="TextBox 11"/>
          <p:cNvSpPr txBox="1"/>
          <p:nvPr/>
        </p:nvSpPr>
        <p:spPr>
          <a:xfrm>
            <a:off x="6095847" y="5650992"/>
            <a:ext cx="2490139" cy="274320"/>
          </a:xfrm>
          <a:prstGeom prst="rect">
            <a:avLst/>
          </a:prstGeom>
          <a:noFill/>
        </p:spPr>
        <p:txBody>
          <a:bodyPr wrap="square" lIns="0" tIns="0" rIns="0" bIns="0" anchor="t">
            <a:spAutoFit/>
          </a:bodyPr>
          <a:lstStyle/>
          <a:p>
            <a:pPr algn="l">
              <a:lnSpc>
                <a:spcPct val="112000"/>
              </a:lnSpc>
              <a:spcAft>
                <a:spcPts val="0"/>
              </a:spcAft>
            </a:pPr>
            <a:r>
              <a:rPr sz="1000" b="1" i="0" spc="110">
                <a:solidFill>
                  <a:srgbClr val="9FB3C6"/>
                </a:solidFill>
                <a:latin typeface="Arial"/>
              </a:rPr>
              <a:t>OPERATING SINCE</a:t>
            </a:r>
          </a:p>
        </p:txBody>
      </p:sp>
      <p:sp>
        <p:nvSpPr>
          <p:cNvPr id="13" name="TextBox 12"/>
          <p:cNvSpPr txBox="1"/>
          <p:nvPr/>
        </p:nvSpPr>
        <p:spPr>
          <a:xfrm>
            <a:off x="8814587" y="5102352"/>
            <a:ext cx="2490139" cy="566928"/>
          </a:xfrm>
          <a:prstGeom prst="rect">
            <a:avLst/>
          </a:prstGeom>
          <a:noFill/>
        </p:spPr>
        <p:txBody>
          <a:bodyPr wrap="square" lIns="0" tIns="0" rIns="0" bIns="0" anchor="t">
            <a:spAutoFit/>
          </a:bodyPr>
          <a:lstStyle/>
          <a:p>
            <a:pPr algn="l">
              <a:lnSpc>
                <a:spcPct val="100000"/>
              </a:lnSpc>
              <a:spcAft>
                <a:spcPts val="0"/>
              </a:spcAft>
            </a:pPr>
            <a:r>
              <a:rPr sz="2200" b="1" i="0">
                <a:solidFill>
                  <a:srgbClr val="FFFFFF"/>
                </a:solidFill>
                <a:latin typeface="Arial"/>
              </a:rPr>
              <a:t>Asia → global</a:t>
            </a:r>
          </a:p>
        </p:txBody>
      </p:sp>
      <p:sp>
        <p:nvSpPr>
          <p:cNvPr id="14" name="TextBox 13"/>
          <p:cNvSpPr txBox="1"/>
          <p:nvPr/>
        </p:nvSpPr>
        <p:spPr>
          <a:xfrm>
            <a:off x="8814587" y="5650992"/>
            <a:ext cx="2490139" cy="274320"/>
          </a:xfrm>
          <a:prstGeom prst="rect">
            <a:avLst/>
          </a:prstGeom>
          <a:noFill/>
        </p:spPr>
        <p:txBody>
          <a:bodyPr wrap="square" lIns="0" tIns="0" rIns="0" bIns="0" anchor="t">
            <a:spAutoFit/>
          </a:bodyPr>
          <a:lstStyle/>
          <a:p>
            <a:pPr algn="l">
              <a:lnSpc>
                <a:spcPct val="112000"/>
              </a:lnSpc>
              <a:spcAft>
                <a:spcPts val="0"/>
              </a:spcAft>
            </a:pPr>
            <a:r>
              <a:rPr sz="1000" b="1" i="0" spc="110">
                <a:solidFill>
                  <a:srgbClr val="9FB3C6"/>
                </a:solidFill>
                <a:latin typeface="Arial"/>
              </a:rPr>
              <a:t>CORRIDOR ROADMAP</a:t>
            </a:r>
          </a:p>
        </p:txBody>
      </p:sp>
      <p:sp>
        <p:nvSpPr>
          <p:cNvPr id="15" name="TextBox 14"/>
          <p:cNvSpPr txBox="1"/>
          <p:nvPr/>
        </p:nvSpPr>
        <p:spPr>
          <a:xfrm>
            <a:off x="8607247" y="932688"/>
            <a:ext cx="2926080" cy="237744"/>
          </a:xfrm>
          <a:prstGeom prst="rect">
            <a:avLst/>
          </a:prstGeom>
          <a:noFill/>
        </p:spPr>
        <p:txBody>
          <a:bodyPr wrap="square" lIns="0" tIns="0" rIns="0" bIns="0" anchor="t">
            <a:spAutoFit/>
          </a:bodyPr>
          <a:lstStyle/>
          <a:p>
            <a:pPr algn="r">
              <a:lnSpc>
                <a:spcPct val="112000"/>
              </a:lnSpc>
              <a:spcAft>
                <a:spcPts val="0"/>
              </a:spcAft>
            </a:pPr>
            <a:r>
              <a:rPr sz="1000" b="0" i="0" spc="140">
                <a:solidFill>
                  <a:srgbClr val="9FB3C6"/>
                </a:solidFill>
                <a:latin typeface="Arial"/>
              </a:rPr>
              <a:t>30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EXECUTIVE SUMMARY</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What we are asking for</a:t>
            </a:r>
          </a:p>
        </p:txBody>
      </p:sp>
      <p:sp>
        <p:nvSpPr>
          <p:cNvPr id="4" name="TextBox 3"/>
          <p:cNvSpPr txBox="1"/>
          <p:nvPr/>
        </p:nvSpPr>
        <p:spPr>
          <a:xfrm>
            <a:off x="658368" y="1307592"/>
            <a:ext cx="9326880" cy="328041"/>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Three things, and a commitment in return. Everything else in this deck supports this page.</a:t>
            </a:r>
          </a:p>
        </p:txBody>
      </p:sp>
      <p:sp>
        <p:nvSpPr>
          <p:cNvPr id="5" name="Rounded Rectangle 4"/>
          <p:cNvSpPr/>
          <p:nvPr/>
        </p:nvSpPr>
        <p:spPr>
          <a:xfrm>
            <a:off x="658368" y="1955673"/>
            <a:ext cx="3472586" cy="2286000"/>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96112" y="2156841"/>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01</a:t>
            </a:r>
          </a:p>
        </p:txBody>
      </p:sp>
      <p:sp>
        <p:nvSpPr>
          <p:cNvPr id="7" name="TextBox 6"/>
          <p:cNvSpPr txBox="1"/>
          <p:nvPr/>
        </p:nvSpPr>
        <p:spPr>
          <a:xfrm>
            <a:off x="896112" y="2394585"/>
            <a:ext cx="2997098" cy="47777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Platform account, seller-ledger model</a:t>
            </a:r>
          </a:p>
        </p:txBody>
      </p:sp>
      <p:sp>
        <p:nvSpPr>
          <p:cNvPr id="8" name="TextBox 7"/>
          <p:cNvSpPr txBox="1"/>
          <p:nvPr/>
        </p:nvSpPr>
        <p:spPr>
          <a:xfrm>
            <a:off x="896112" y="2991231"/>
            <a:ext cx="2997098" cy="1085849"/>
          </a:xfrm>
          <a:prstGeom prst="rect">
            <a:avLst/>
          </a:prstGeom>
          <a:noFill/>
        </p:spPr>
        <p:txBody>
          <a:bodyPr wrap="square" lIns="0" tIns="0" rIns="0" bIns="0" anchor="t">
            <a:spAutoFit/>
          </a:bodyPr>
          <a:lstStyle/>
          <a:p>
            <a:pPr algn="l">
              <a:lnSpc>
                <a:spcPct val="122000"/>
              </a:lnSpc>
              <a:spcAft>
                <a:spcPts val="0"/>
              </a:spcAft>
            </a:pPr>
            <a:r>
              <a:rPr sz="1100" b="0" i="0">
                <a:solidFill>
                  <a:srgbClr val="5B6E82"/>
                </a:solidFill>
                <a:latin typeface="Arial"/>
              </a:rPr>
              <a:t>KD PAY as your master platform account with seller ledgers per merchant. No per-merchant underwriting at launch — we onboard and monitor merchants ourselves, as your model allows.</a:t>
            </a:r>
          </a:p>
        </p:txBody>
      </p:sp>
      <p:sp>
        <p:nvSpPr>
          <p:cNvPr id="9" name="Rounded Rectangle 8"/>
          <p:cNvSpPr/>
          <p:nvPr/>
        </p:nvSpPr>
        <p:spPr>
          <a:xfrm>
            <a:off x="4359554" y="1955673"/>
            <a:ext cx="3472586" cy="2286000"/>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97298" y="2156841"/>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02</a:t>
            </a:r>
          </a:p>
        </p:txBody>
      </p:sp>
      <p:sp>
        <p:nvSpPr>
          <p:cNvPr id="11" name="TextBox 10"/>
          <p:cNvSpPr txBox="1"/>
          <p:nvPr/>
        </p:nvSpPr>
        <p:spPr>
          <a:xfrm>
            <a:off x="4597298" y="2394585"/>
            <a:ext cx="2997098"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Asia-first corridor coverage</a:t>
            </a:r>
          </a:p>
        </p:txBody>
      </p:sp>
      <p:sp>
        <p:nvSpPr>
          <p:cNvPr id="12" name="TextBox 11"/>
          <p:cNvSpPr txBox="1"/>
          <p:nvPr/>
        </p:nvSpPr>
        <p:spPr>
          <a:xfrm>
            <a:off x="4597298" y="2775204"/>
            <a:ext cx="2997098" cy="1301876"/>
          </a:xfrm>
          <a:prstGeom prst="rect">
            <a:avLst/>
          </a:prstGeom>
          <a:noFill/>
        </p:spPr>
        <p:txBody>
          <a:bodyPr wrap="square" lIns="0" tIns="0" rIns="0" bIns="0" anchor="t">
            <a:spAutoFit/>
          </a:bodyPr>
          <a:lstStyle/>
          <a:p>
            <a:pPr algn="l">
              <a:lnSpc>
                <a:spcPct val="122000"/>
              </a:lnSpc>
              <a:spcAft>
                <a:spcPts val="0"/>
              </a:spcAft>
            </a:pPr>
            <a:r>
              <a:rPr sz="1100" b="0" i="0">
                <a:solidFill>
                  <a:srgbClr val="5B6E82"/>
                </a:solidFill>
                <a:latin typeface="Arial"/>
              </a:rPr>
              <a:t>Card acquiring plus local methods across South, South-East and East Asia as your licensing permits, then EU/UK, US and LatAm. We enable a corridor only when you confirm coverage.</a:t>
            </a:r>
          </a:p>
        </p:txBody>
      </p:sp>
      <p:sp>
        <p:nvSpPr>
          <p:cNvPr id="13" name="Rounded Rectangle 12"/>
          <p:cNvSpPr/>
          <p:nvPr/>
        </p:nvSpPr>
        <p:spPr>
          <a:xfrm>
            <a:off x="8060740" y="1955673"/>
            <a:ext cx="3472586" cy="2286000"/>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298484" y="2156841"/>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03</a:t>
            </a:r>
          </a:p>
        </p:txBody>
      </p:sp>
      <p:sp>
        <p:nvSpPr>
          <p:cNvPr id="15" name="TextBox 14"/>
          <p:cNvSpPr txBox="1"/>
          <p:nvPr/>
        </p:nvSpPr>
        <p:spPr>
          <a:xfrm>
            <a:off x="8298484" y="2394585"/>
            <a:ext cx="2997098" cy="47777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Commercials, pricing, a partner manager</a:t>
            </a:r>
          </a:p>
        </p:txBody>
      </p:sp>
      <p:sp>
        <p:nvSpPr>
          <p:cNvPr id="16" name="TextBox 15"/>
          <p:cNvSpPr txBox="1"/>
          <p:nvPr/>
        </p:nvSpPr>
        <p:spPr>
          <a:xfrm>
            <a:off x="8298484" y="2991231"/>
            <a:ext cx="2997098" cy="1085849"/>
          </a:xfrm>
          <a:prstGeom prst="rect">
            <a:avLst/>
          </a:prstGeom>
          <a:noFill/>
        </p:spPr>
        <p:txBody>
          <a:bodyPr wrap="square" lIns="0" tIns="0" rIns="0" bIns="0" anchor="t">
            <a:spAutoFit/>
          </a:bodyPr>
          <a:lstStyle/>
          <a:p>
            <a:pPr algn="l">
              <a:lnSpc>
                <a:spcPct val="122000"/>
              </a:lnSpc>
              <a:spcAft>
                <a:spcPts val="0"/>
              </a:spcAft>
            </a:pPr>
            <a:r>
              <a:rPr sz="1100" b="0" i="0">
                <a:solidFill>
                  <a:srgbClr val="5B6E82"/>
                </a:solidFill>
                <a:latin typeface="Arial"/>
              </a:rPr>
              <a:t>Transparent pricing at our current $800K/month and at growth volume, reserve terms that reflect a 0.01% chargeback record, and a technical contact who can unblock integration.</a:t>
            </a:r>
          </a:p>
        </p:txBody>
      </p:sp>
      <p:sp>
        <p:nvSpPr>
          <p:cNvPr id="17" name="Rounded Rectangle 16"/>
          <p:cNvSpPr/>
          <p:nvPr/>
        </p:nvSpPr>
        <p:spPr>
          <a:xfrm>
            <a:off x="658368" y="4360545"/>
            <a:ext cx="10874959" cy="868680"/>
          </a:xfrm>
          <a:prstGeom prst="roundRect">
            <a:avLst>
              <a:gd name="adj" fmla="val 5000"/>
            </a:avLst>
          </a:prstGeom>
          <a:solidFill>
            <a:srgbClr val="E7F7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32688" y="4506849"/>
            <a:ext cx="2743200" cy="219456"/>
          </a:xfrm>
          <a:prstGeom prst="rect">
            <a:avLst/>
          </a:prstGeom>
          <a:noFill/>
        </p:spPr>
        <p:txBody>
          <a:bodyPr wrap="square" lIns="0" tIns="0" rIns="0" bIns="0" anchor="t">
            <a:spAutoFit/>
          </a:bodyPr>
          <a:lstStyle/>
          <a:p>
            <a:pPr algn="l">
              <a:lnSpc>
                <a:spcPct val="112000"/>
              </a:lnSpc>
              <a:spcAft>
                <a:spcPts val="0"/>
              </a:spcAft>
            </a:pPr>
            <a:r>
              <a:rPr sz="950" b="1" i="0" spc="140">
                <a:solidFill>
                  <a:srgbClr val="008A69"/>
                </a:solidFill>
                <a:latin typeface="Arial"/>
              </a:rPr>
              <a:t>OUR COMMITMENT</a:t>
            </a:r>
          </a:p>
        </p:txBody>
      </p:sp>
      <p:sp>
        <p:nvSpPr>
          <p:cNvPr id="19" name="TextBox 18"/>
          <p:cNvSpPr txBox="1"/>
          <p:nvPr/>
        </p:nvSpPr>
        <p:spPr>
          <a:xfrm>
            <a:off x="932688" y="4726305"/>
            <a:ext cx="10326319" cy="502920"/>
          </a:xfrm>
          <a:prstGeom prst="rect">
            <a:avLst/>
          </a:prstGeom>
          <a:noFill/>
        </p:spPr>
        <p:txBody>
          <a:bodyPr wrap="square" lIns="0" tIns="0" rIns="0" bIns="0" anchor="t">
            <a:spAutoFit/>
          </a:bodyPr>
          <a:lstStyle/>
          <a:p>
            <a:pPr algn="l">
              <a:lnSpc>
                <a:spcPct val="120000"/>
              </a:lnSpc>
              <a:spcAft>
                <a:spcPts val="0"/>
              </a:spcAft>
            </a:pPr>
            <a:r>
              <a:rPr sz="1250" b="0" i="0">
                <a:solidFill>
                  <a:srgbClr val="102236"/>
                </a:solidFill>
                <a:latin typeface="Arial"/>
              </a:rPr>
              <a:t>Sandbox integration running within 14 days of approval. First live transaction inside eight weeks, with one named engineer on our side for the whole build.</a:t>
            </a:r>
          </a:p>
        </p:txBody>
      </p:sp>
      <p:sp>
        <p:nvSpPr>
          <p:cNvPr id="20" name="TextBox 19"/>
          <p:cNvSpPr txBox="1"/>
          <p:nvPr/>
        </p:nvSpPr>
        <p:spPr>
          <a:xfrm>
            <a:off x="658368" y="5366385"/>
            <a:ext cx="10874959"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5B6E82"/>
                </a:solidFill>
                <a:latin typeface="Arial"/>
              </a:rPr>
              <a:t>WHY THIS IS WORTH YOUR TIME NOW</a:t>
            </a:r>
          </a:p>
        </p:txBody>
      </p:sp>
      <p:sp>
        <p:nvSpPr>
          <p:cNvPr id="21" name="TextBox 20"/>
          <p:cNvSpPr txBox="1"/>
          <p:nvPr/>
        </p:nvSpPr>
        <p:spPr>
          <a:xfrm>
            <a:off x="658368" y="5640705"/>
            <a:ext cx="3213506" cy="411480"/>
          </a:xfrm>
          <a:prstGeom prst="rect">
            <a:avLst/>
          </a:prstGeom>
          <a:noFill/>
        </p:spPr>
        <p:txBody>
          <a:bodyPr wrap="square" lIns="0" rIns="0" tIns="0" bIns="0">
            <a:spAutoFit/>
          </a:bodyPr>
          <a:lstStyle/>
          <a:p>
            <a:pPr algn="l">
              <a:lnSpc>
                <a:spcPct val="125000"/>
              </a:lnSpc>
            </a:pPr>
            <a:r>
              <a:rPr sz="930" b="1" i="0">
                <a:solidFill>
                  <a:srgbClr val="102236"/>
                </a:solidFill>
                <a:latin typeface="Arial"/>
              </a:rPr>
              <a:t>A corridor, not a campaign. </a:t>
            </a:r>
            <a:r>
              <a:rPr sz="930" b="0" i="0">
                <a:solidFill>
                  <a:srgbClr val="5B6E82"/>
                </a:solidFill>
                <a:latin typeface="Arial"/>
              </a:rPr>
              <a:t>Verified Asian merchants into your rails, underwritten by us.</a:t>
            </a:r>
          </a:p>
        </p:txBody>
      </p:sp>
      <p:sp>
        <p:nvSpPr>
          <p:cNvPr id="22" name="TextBox 21"/>
          <p:cNvSpPr txBox="1"/>
          <p:nvPr/>
        </p:nvSpPr>
        <p:spPr>
          <a:xfrm>
            <a:off x="4283354" y="5640705"/>
            <a:ext cx="3213506" cy="411480"/>
          </a:xfrm>
          <a:prstGeom prst="rect">
            <a:avLst/>
          </a:prstGeom>
          <a:noFill/>
        </p:spPr>
        <p:txBody>
          <a:bodyPr wrap="square" lIns="0" rIns="0" tIns="0" bIns="0">
            <a:spAutoFit/>
          </a:bodyPr>
          <a:lstStyle/>
          <a:p>
            <a:pPr algn="l">
              <a:lnSpc>
                <a:spcPct val="125000"/>
              </a:lnSpc>
            </a:pPr>
            <a:r>
              <a:rPr sz="930" b="1" i="0">
                <a:solidFill>
                  <a:srgbClr val="102236"/>
                </a:solidFill>
                <a:latin typeface="Arial"/>
              </a:rPr>
              <a:t>Small and clean. </a:t>
            </a:r>
            <a:r>
              <a:rPr sz="930" b="0" i="0">
                <a:solidFill>
                  <a:srgbClr val="5B6E82"/>
                </a:solidFill>
                <a:latin typeface="Arial"/>
              </a:rPr>
              <a:t>$800K a month at 0.01% chargebacks — enough to prove the model.</a:t>
            </a:r>
          </a:p>
        </p:txBody>
      </p:sp>
      <p:sp>
        <p:nvSpPr>
          <p:cNvPr id="23" name="TextBox 22"/>
          <p:cNvSpPr txBox="1"/>
          <p:nvPr/>
        </p:nvSpPr>
        <p:spPr>
          <a:xfrm>
            <a:off x="7908340" y="5640705"/>
            <a:ext cx="3213506" cy="411480"/>
          </a:xfrm>
          <a:prstGeom prst="rect">
            <a:avLst/>
          </a:prstGeom>
          <a:noFill/>
        </p:spPr>
        <p:txBody>
          <a:bodyPr wrap="square" lIns="0" rIns="0" tIns="0" bIns="0">
            <a:spAutoFit/>
          </a:bodyPr>
          <a:lstStyle/>
          <a:p>
            <a:pPr algn="l">
              <a:lnSpc>
                <a:spcPct val="125000"/>
              </a:lnSpc>
            </a:pPr>
            <a:r>
              <a:rPr sz="930" b="1" i="0">
                <a:solidFill>
                  <a:srgbClr val="102236"/>
                </a:solidFill>
                <a:latin typeface="Arial"/>
              </a:rPr>
              <a:t>Built to your contracts. </a:t>
            </a:r>
            <a:r>
              <a:rPr sz="930" b="0" i="0">
                <a:solidFill>
                  <a:srgbClr val="5B6E82"/>
                </a:solidFill>
                <a:latin typeface="Arial"/>
              </a:rPr>
              <a:t>Real integration, reconciliation and evidence at every step.</a:t>
            </a:r>
          </a:p>
        </p:txBody>
      </p:sp>
      <p:cxnSp>
        <p:nvCxnSpPr>
          <p:cNvPr id="24" name="Connector 23"/>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Airwallex partnership proposal  ·  Confidential</a:t>
            </a:r>
          </a:p>
        </p:txBody>
      </p:sp>
      <p:sp>
        <p:nvSpPr>
          <p:cNvPr id="26" name="TextBox 25"/>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COMPANY</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Who we are</a:t>
            </a:r>
          </a:p>
        </p:txBody>
      </p:sp>
      <p:sp>
        <p:nvSpPr>
          <p:cNvPr id="4" name="TextBox 3"/>
          <p:cNvSpPr txBox="1"/>
          <p:nvPr/>
        </p:nvSpPr>
        <p:spPr>
          <a:xfrm>
            <a:off x="658368" y="1554480"/>
            <a:ext cx="5989320" cy="1202436"/>
          </a:xfrm>
          <a:prstGeom prst="rect">
            <a:avLst/>
          </a:prstGeom>
          <a:noFill/>
        </p:spPr>
        <p:txBody>
          <a:bodyPr wrap="square" lIns="0" tIns="0" rIns="0" bIns="0" anchor="t">
            <a:spAutoFit/>
          </a:bodyPr>
          <a:lstStyle/>
          <a:p>
            <a:pPr algn="l">
              <a:lnSpc>
                <a:spcPct val="135000"/>
              </a:lnSpc>
              <a:spcAft>
                <a:spcPts val="0"/>
              </a:spcAft>
            </a:pPr>
            <a:r>
              <a:rPr sz="1350" b="0" i="0">
                <a:solidFill>
                  <a:srgbClr val="102236"/>
                </a:solidFill>
                <a:latin typeface="Arial"/>
              </a:rPr>
              <a:t>KD PAY LLC is a US-registered payment platform for Asian merchants that sell to buyers anywhere. We provide the acceptance layer between a merchant and their buyer: onboarding, hosted checkout, invoicing, payouts, disputes and reconciliation.</a:t>
            </a:r>
          </a:p>
        </p:txBody>
      </p:sp>
      <p:sp>
        <p:nvSpPr>
          <p:cNvPr id="5" name="TextBox 4"/>
          <p:cNvSpPr txBox="1"/>
          <p:nvPr/>
        </p:nvSpPr>
        <p:spPr>
          <a:xfrm>
            <a:off x="658368" y="2939796"/>
            <a:ext cx="5989320" cy="2651760"/>
          </a:xfrm>
          <a:prstGeom prst="rect">
            <a:avLst/>
          </a:prstGeom>
          <a:noFill/>
        </p:spPr>
        <p:txBody>
          <a:bodyPr wrap="square" lIns="0" rIns="0" tIns="0" bIns="0">
            <a:spAutoFit/>
          </a:bodyPr>
          <a:lstStyle/>
          <a:p>
            <a:pPr marL="219456" indent="-219456">
              <a:lnSpc>
                <a:spcPct val="116000"/>
              </a:lnSpc>
              <a:spcAft>
                <a:spcPts val="900"/>
              </a:spcAft>
              <a:buClr>
                <a:srgbClr val="00B589"/>
              </a:buClr>
              <a:buFont typeface="Arial"/>
              <a:buChar char="—"/>
            </a:pPr>
            <a:r>
              <a:rPr sz="1150" b="1" i="0">
                <a:solidFill>
                  <a:srgbClr val="102236"/>
                </a:solidFill>
                <a:latin typeface="Arial"/>
              </a:rPr>
              <a:t>Operating history. </a:t>
            </a:r>
            <a:r>
              <a:rPr sz="1150" b="0" i="0">
                <a:solidFill>
                  <a:srgbClr val="102236"/>
                </a:solidFill>
                <a:latin typeface="Arial"/>
              </a:rPr>
              <a:t>Since 2022 through our operating company, KD Solution IT. KD PAY LLC is the new contracting and processing entity, registered October 2026.</a:t>
            </a:r>
          </a:p>
          <a:p>
            <a:pPr marL="219456" indent="-219456">
              <a:lnSpc>
                <a:spcPct val="116000"/>
              </a:lnSpc>
              <a:spcAft>
                <a:spcPts val="900"/>
              </a:spcAft>
              <a:buClr>
                <a:srgbClr val="00B589"/>
              </a:buClr>
              <a:buFont typeface="Arial"/>
              <a:buChar char="—"/>
            </a:pPr>
            <a:r>
              <a:rPr sz="1150" b="1" i="0">
                <a:solidFill>
                  <a:srgbClr val="102236"/>
                </a:solidFill>
                <a:latin typeface="Arial"/>
              </a:rPr>
              <a:t>Today. </a:t>
            </a:r>
            <a:r>
              <a:rPr sz="1150" b="0" i="0">
                <a:solidFill>
                  <a:srgbClr val="102236"/>
                </a:solidFill>
                <a:latin typeface="Arial"/>
              </a:rPr>
              <a:t>We process through private merchant accounts at incumbent providers — B2B and B2C, card-not-present, USD-first.</a:t>
            </a:r>
          </a:p>
          <a:p>
            <a:pPr marL="219456" indent="-219456">
              <a:lnSpc>
                <a:spcPct val="116000"/>
              </a:lnSpc>
              <a:spcAft>
                <a:spcPts val="900"/>
              </a:spcAft>
              <a:buClr>
                <a:srgbClr val="00B589"/>
              </a:buClr>
              <a:buFont typeface="Arial"/>
              <a:buChar char="—"/>
            </a:pPr>
            <a:r>
              <a:rPr sz="1150" b="1" i="0">
                <a:solidFill>
                  <a:srgbClr val="102236"/>
                </a:solidFill>
                <a:latin typeface="Arial"/>
              </a:rPr>
              <a:t>Why change now. </a:t>
            </a:r>
            <a:r>
              <a:rPr sz="1150" b="0" i="0">
                <a:solidFill>
                  <a:srgbClr val="102236"/>
                </a:solidFill>
                <a:latin typeface="Arial"/>
              </a:rPr>
              <a:t>Private accounts cannot deliver Asian coverage, local payment methods or the economics that let us scale. We are consolidating onto one platform relationship.</a:t>
            </a:r>
          </a:p>
          <a:p>
            <a:pPr marL="219456" indent="-219456">
              <a:lnSpc>
                <a:spcPct val="116000"/>
              </a:lnSpc>
              <a:spcAft>
                <a:spcPts val="900"/>
              </a:spcAft>
              <a:buClr>
                <a:srgbClr val="00B589"/>
              </a:buClr>
              <a:buFont typeface="Arial"/>
              <a:buChar char="—"/>
            </a:pPr>
            <a:r>
              <a:rPr sz="1150" b="1" i="0">
                <a:solidFill>
                  <a:srgbClr val="102236"/>
                </a:solidFill>
                <a:latin typeface="Arial"/>
              </a:rPr>
              <a:t>How we work. </a:t>
            </a:r>
            <a:r>
              <a:rPr sz="1150" b="0" i="0">
                <a:solidFill>
                  <a:srgbClr val="102236"/>
                </a:solidFill>
                <a:latin typeface="Arial"/>
              </a:rPr>
              <a:t>A small team that ships, against a written specification: double-entry ledger, row-level tenant isolation, hash-chained audit trail — not a white-label reseller.</a:t>
            </a:r>
          </a:p>
        </p:txBody>
      </p:sp>
      <p:cxnSp>
        <p:nvCxnSpPr>
          <p:cNvPr id="6" name="Connector 5"/>
          <p:cNvCxnSpPr/>
          <p:nvPr/>
        </p:nvCxnSpPr>
        <p:spPr>
          <a:xfrm>
            <a:off x="658368" y="4910328"/>
            <a:ext cx="5715000" cy="0"/>
          </a:xfrm>
          <a:prstGeom prst="line">
            <a:avLst/>
          </a:prstGeom>
          <a:ln w="10160">
            <a:solidFill>
              <a:srgbClr val="DFE6E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4869180"/>
            <a:ext cx="100584" cy="100584"/>
          </a:xfrm>
          <a:prstGeom prst="roundRect">
            <a:avLst>
              <a:gd name="adj" fmla="val 50000"/>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8368" y="5056632"/>
            <a:ext cx="1630680" cy="201168"/>
          </a:xfrm>
          <a:prstGeom prst="rect">
            <a:avLst/>
          </a:prstGeom>
          <a:noFill/>
        </p:spPr>
        <p:txBody>
          <a:bodyPr wrap="square" lIns="0" tIns="0" rIns="0" bIns="0" anchor="t">
            <a:spAutoFit/>
          </a:bodyPr>
          <a:lstStyle/>
          <a:p>
            <a:pPr algn="l">
              <a:lnSpc>
                <a:spcPct val="112000"/>
              </a:lnSpc>
              <a:spcAft>
                <a:spcPts val="0"/>
              </a:spcAft>
            </a:pPr>
            <a:r>
              <a:rPr sz="850" b="1" i="0" spc="110">
                <a:solidFill>
                  <a:srgbClr val="008A69"/>
                </a:solidFill>
                <a:latin typeface="Arial"/>
              </a:rPr>
              <a:t>2022</a:t>
            </a:r>
          </a:p>
        </p:txBody>
      </p:sp>
      <p:sp>
        <p:nvSpPr>
          <p:cNvPr id="9" name="TextBox 8"/>
          <p:cNvSpPr txBox="1"/>
          <p:nvPr/>
        </p:nvSpPr>
        <p:spPr>
          <a:xfrm>
            <a:off x="658368" y="5257800"/>
            <a:ext cx="1630680" cy="384048"/>
          </a:xfrm>
          <a:prstGeom prst="rect">
            <a:avLst/>
          </a:prstGeom>
          <a:noFill/>
        </p:spPr>
        <p:txBody>
          <a:bodyPr wrap="square" lIns="0" tIns="0" rIns="0" bIns="0" anchor="t">
            <a:spAutoFit/>
          </a:bodyPr>
          <a:lstStyle/>
          <a:p>
            <a:pPr algn="l">
              <a:lnSpc>
                <a:spcPct val="118000"/>
              </a:lnSpc>
              <a:spcAft>
                <a:spcPts val="0"/>
              </a:spcAft>
            </a:pPr>
            <a:r>
              <a:rPr sz="930" b="0" i="0">
                <a:solidFill>
                  <a:srgbClr val="5B6E82"/>
                </a:solidFill>
                <a:latin typeface="Arial"/>
              </a:rPr>
              <a:t>Trading starts under KD Solution IT</a:t>
            </a:r>
          </a:p>
        </p:txBody>
      </p:sp>
      <p:sp>
        <p:nvSpPr>
          <p:cNvPr id="10" name="Rounded Rectangle 9"/>
          <p:cNvSpPr/>
          <p:nvPr/>
        </p:nvSpPr>
        <p:spPr>
          <a:xfrm>
            <a:off x="2563368" y="4869180"/>
            <a:ext cx="100584" cy="100584"/>
          </a:xfrm>
          <a:prstGeom prst="roundRect">
            <a:avLst>
              <a:gd name="adj" fmla="val 50000"/>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2563368" y="5056632"/>
            <a:ext cx="1630680" cy="201168"/>
          </a:xfrm>
          <a:prstGeom prst="rect">
            <a:avLst/>
          </a:prstGeom>
          <a:noFill/>
        </p:spPr>
        <p:txBody>
          <a:bodyPr wrap="square" lIns="0" tIns="0" rIns="0" bIns="0" anchor="t">
            <a:spAutoFit/>
          </a:bodyPr>
          <a:lstStyle/>
          <a:p>
            <a:pPr algn="l">
              <a:lnSpc>
                <a:spcPct val="112000"/>
              </a:lnSpc>
              <a:spcAft>
                <a:spcPts val="0"/>
              </a:spcAft>
            </a:pPr>
            <a:r>
              <a:rPr sz="850" b="1" i="0" spc="110">
                <a:solidFill>
                  <a:srgbClr val="008A69"/>
                </a:solidFill>
                <a:latin typeface="Arial"/>
              </a:rPr>
              <a:t>OCT 2026</a:t>
            </a:r>
          </a:p>
        </p:txBody>
      </p:sp>
      <p:sp>
        <p:nvSpPr>
          <p:cNvPr id="12" name="TextBox 11"/>
          <p:cNvSpPr txBox="1"/>
          <p:nvPr/>
        </p:nvSpPr>
        <p:spPr>
          <a:xfrm>
            <a:off x="2563368" y="5257800"/>
            <a:ext cx="1630680" cy="384048"/>
          </a:xfrm>
          <a:prstGeom prst="rect">
            <a:avLst/>
          </a:prstGeom>
          <a:noFill/>
        </p:spPr>
        <p:txBody>
          <a:bodyPr wrap="square" lIns="0" tIns="0" rIns="0" bIns="0" anchor="t">
            <a:spAutoFit/>
          </a:bodyPr>
          <a:lstStyle/>
          <a:p>
            <a:pPr algn="l">
              <a:lnSpc>
                <a:spcPct val="118000"/>
              </a:lnSpc>
              <a:spcAft>
                <a:spcPts val="0"/>
              </a:spcAft>
            </a:pPr>
            <a:r>
              <a:rPr sz="930" b="0" i="0">
                <a:solidFill>
                  <a:srgbClr val="5B6E82"/>
                </a:solidFill>
                <a:latin typeface="Arial"/>
              </a:rPr>
              <a:t>KD PAY LLC registered</a:t>
            </a:r>
          </a:p>
        </p:txBody>
      </p:sp>
      <p:sp>
        <p:nvSpPr>
          <p:cNvPr id="13" name="Rounded Rectangle 12"/>
          <p:cNvSpPr/>
          <p:nvPr/>
        </p:nvSpPr>
        <p:spPr>
          <a:xfrm>
            <a:off x="4468368" y="4869180"/>
            <a:ext cx="100584" cy="100584"/>
          </a:xfrm>
          <a:prstGeom prst="roundRect">
            <a:avLst>
              <a:gd name="adj" fmla="val 50000"/>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468368" y="5056632"/>
            <a:ext cx="1630680" cy="201168"/>
          </a:xfrm>
          <a:prstGeom prst="rect">
            <a:avLst/>
          </a:prstGeom>
          <a:noFill/>
        </p:spPr>
        <p:txBody>
          <a:bodyPr wrap="square" lIns="0" tIns="0" rIns="0" bIns="0" anchor="t">
            <a:spAutoFit/>
          </a:bodyPr>
          <a:lstStyle/>
          <a:p>
            <a:pPr algn="l">
              <a:lnSpc>
                <a:spcPct val="112000"/>
              </a:lnSpc>
              <a:spcAft>
                <a:spcPts val="0"/>
              </a:spcAft>
            </a:pPr>
            <a:r>
              <a:rPr sz="850" b="1" i="0" spc="110">
                <a:solidFill>
                  <a:srgbClr val="008A69"/>
                </a:solidFill>
                <a:latin typeface="Arial"/>
              </a:rPr>
              <a:t>NEXT</a:t>
            </a:r>
          </a:p>
        </p:txBody>
      </p:sp>
      <p:sp>
        <p:nvSpPr>
          <p:cNvPr id="15" name="TextBox 14"/>
          <p:cNvSpPr txBox="1"/>
          <p:nvPr/>
        </p:nvSpPr>
        <p:spPr>
          <a:xfrm>
            <a:off x="4468368" y="5257800"/>
            <a:ext cx="1630680" cy="384048"/>
          </a:xfrm>
          <a:prstGeom prst="rect">
            <a:avLst/>
          </a:prstGeom>
          <a:noFill/>
        </p:spPr>
        <p:txBody>
          <a:bodyPr wrap="square" lIns="0" tIns="0" rIns="0" bIns="0" anchor="t">
            <a:spAutoFit/>
          </a:bodyPr>
          <a:lstStyle/>
          <a:p>
            <a:pPr algn="l">
              <a:lnSpc>
                <a:spcPct val="118000"/>
              </a:lnSpc>
              <a:spcAft>
                <a:spcPts val="0"/>
              </a:spcAft>
            </a:pPr>
            <a:r>
              <a:rPr sz="930" b="0" i="0">
                <a:solidFill>
                  <a:srgbClr val="5B6E82"/>
                </a:solidFill>
                <a:latin typeface="Arial"/>
              </a:rPr>
              <a:t>Platform launch on Airwallex</a:t>
            </a:r>
          </a:p>
        </p:txBody>
      </p:sp>
      <p:sp>
        <p:nvSpPr>
          <p:cNvPr id="16" name="Rounded Rectangle 15"/>
          <p:cNvSpPr/>
          <p:nvPr/>
        </p:nvSpPr>
        <p:spPr>
          <a:xfrm>
            <a:off x="7150607" y="1508760"/>
            <a:ext cx="4382719" cy="4160520"/>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424927" y="1737360"/>
            <a:ext cx="3834079" cy="219456"/>
          </a:xfrm>
          <a:prstGeom prst="rect">
            <a:avLst/>
          </a:prstGeom>
          <a:noFill/>
        </p:spPr>
        <p:txBody>
          <a:bodyPr wrap="square" lIns="0" tIns="0" rIns="0" bIns="0" anchor="t">
            <a:spAutoFit/>
          </a:bodyPr>
          <a:lstStyle/>
          <a:p>
            <a:pPr algn="l">
              <a:lnSpc>
                <a:spcPct val="112000"/>
              </a:lnSpc>
              <a:spcAft>
                <a:spcPts val="0"/>
              </a:spcAft>
            </a:pPr>
            <a:r>
              <a:rPr sz="950" b="1" i="0" spc="140">
                <a:solidFill>
                  <a:srgbClr val="5B6E82"/>
                </a:solidFill>
                <a:latin typeface="Arial"/>
              </a:rPr>
              <a:t>AT A GLANCE</a:t>
            </a:r>
          </a:p>
        </p:txBody>
      </p:sp>
      <p:sp>
        <p:nvSpPr>
          <p:cNvPr id="18" name="TextBox 17"/>
          <p:cNvSpPr txBox="1"/>
          <p:nvPr/>
        </p:nvSpPr>
        <p:spPr>
          <a:xfrm>
            <a:off x="7424927" y="2075688"/>
            <a:ext cx="3834079" cy="182880"/>
          </a:xfrm>
          <a:prstGeom prst="rect">
            <a:avLst/>
          </a:prstGeom>
          <a:noFill/>
        </p:spPr>
        <p:txBody>
          <a:bodyPr wrap="square" lIns="0" tIns="0" rIns="0" bIns="0" anchor="t">
            <a:spAutoFit/>
          </a:bodyPr>
          <a:lstStyle/>
          <a:p>
            <a:pPr algn="l">
              <a:lnSpc>
                <a:spcPct val="112000"/>
              </a:lnSpc>
              <a:spcAft>
                <a:spcPts val="0"/>
              </a:spcAft>
            </a:pPr>
            <a:r>
              <a:rPr sz="850" b="1" i="0" spc="90">
                <a:solidFill>
                  <a:srgbClr val="5B6E82"/>
                </a:solidFill>
                <a:latin typeface="Arial"/>
              </a:rPr>
              <a:t>LEGAL ENTITY</a:t>
            </a:r>
          </a:p>
        </p:txBody>
      </p:sp>
      <p:sp>
        <p:nvSpPr>
          <p:cNvPr id="19" name="TextBox 18"/>
          <p:cNvSpPr txBox="1"/>
          <p:nvPr/>
        </p:nvSpPr>
        <p:spPr>
          <a:xfrm>
            <a:off x="7424927" y="2258568"/>
            <a:ext cx="3834079" cy="274320"/>
          </a:xfrm>
          <a:prstGeom prst="rect">
            <a:avLst/>
          </a:prstGeom>
          <a:noFill/>
        </p:spPr>
        <p:txBody>
          <a:bodyPr wrap="square" lIns="0" tIns="0" rIns="0" bIns="0" anchor="t">
            <a:spAutoFit/>
          </a:bodyPr>
          <a:lstStyle/>
          <a:p>
            <a:pPr algn="l">
              <a:lnSpc>
                <a:spcPct val="112000"/>
              </a:lnSpc>
              <a:spcAft>
                <a:spcPts val="0"/>
              </a:spcAft>
            </a:pPr>
            <a:r>
              <a:rPr sz="1150" b="0" i="0">
                <a:solidFill>
                  <a:srgbClr val="102236"/>
                </a:solidFill>
                <a:latin typeface="Arial"/>
              </a:rPr>
              <a:t>KD PAY LLC (US)</a:t>
            </a:r>
          </a:p>
        </p:txBody>
      </p:sp>
      <p:sp>
        <p:nvSpPr>
          <p:cNvPr id="20" name="TextBox 19"/>
          <p:cNvSpPr txBox="1"/>
          <p:nvPr/>
        </p:nvSpPr>
        <p:spPr>
          <a:xfrm>
            <a:off x="7424927" y="2578608"/>
            <a:ext cx="3834079" cy="182880"/>
          </a:xfrm>
          <a:prstGeom prst="rect">
            <a:avLst/>
          </a:prstGeom>
          <a:noFill/>
        </p:spPr>
        <p:txBody>
          <a:bodyPr wrap="square" lIns="0" tIns="0" rIns="0" bIns="0" anchor="t">
            <a:spAutoFit/>
          </a:bodyPr>
          <a:lstStyle/>
          <a:p>
            <a:pPr algn="l">
              <a:lnSpc>
                <a:spcPct val="112000"/>
              </a:lnSpc>
              <a:spcAft>
                <a:spcPts val="0"/>
              </a:spcAft>
            </a:pPr>
            <a:r>
              <a:rPr sz="850" b="1" i="0" spc="90">
                <a:solidFill>
                  <a:srgbClr val="5B6E82"/>
                </a:solidFill>
                <a:latin typeface="Arial"/>
              </a:rPr>
              <a:t>OPERATING SINCE</a:t>
            </a:r>
          </a:p>
        </p:txBody>
      </p:sp>
      <p:sp>
        <p:nvSpPr>
          <p:cNvPr id="21" name="TextBox 20"/>
          <p:cNvSpPr txBox="1"/>
          <p:nvPr/>
        </p:nvSpPr>
        <p:spPr>
          <a:xfrm>
            <a:off x="7424927" y="2761488"/>
            <a:ext cx="3834079" cy="274320"/>
          </a:xfrm>
          <a:prstGeom prst="rect">
            <a:avLst/>
          </a:prstGeom>
          <a:noFill/>
        </p:spPr>
        <p:txBody>
          <a:bodyPr wrap="square" lIns="0" tIns="0" rIns="0" bIns="0" anchor="t">
            <a:spAutoFit/>
          </a:bodyPr>
          <a:lstStyle/>
          <a:p>
            <a:pPr algn="l">
              <a:lnSpc>
                <a:spcPct val="112000"/>
              </a:lnSpc>
              <a:spcAft>
                <a:spcPts val="0"/>
              </a:spcAft>
            </a:pPr>
            <a:r>
              <a:rPr sz="1150" b="0" i="0">
                <a:solidFill>
                  <a:srgbClr val="102236"/>
                </a:solidFill>
                <a:latin typeface="Arial"/>
              </a:rPr>
              <a:t>2022</a:t>
            </a:r>
          </a:p>
        </p:txBody>
      </p:sp>
      <p:sp>
        <p:nvSpPr>
          <p:cNvPr id="22" name="TextBox 21"/>
          <p:cNvSpPr txBox="1"/>
          <p:nvPr/>
        </p:nvSpPr>
        <p:spPr>
          <a:xfrm>
            <a:off x="7424927" y="3081528"/>
            <a:ext cx="3834079" cy="182880"/>
          </a:xfrm>
          <a:prstGeom prst="rect">
            <a:avLst/>
          </a:prstGeom>
          <a:noFill/>
        </p:spPr>
        <p:txBody>
          <a:bodyPr wrap="square" lIns="0" tIns="0" rIns="0" bIns="0" anchor="t">
            <a:spAutoFit/>
          </a:bodyPr>
          <a:lstStyle/>
          <a:p>
            <a:pPr algn="l">
              <a:lnSpc>
                <a:spcPct val="112000"/>
              </a:lnSpc>
              <a:spcAft>
                <a:spcPts val="0"/>
              </a:spcAft>
            </a:pPr>
            <a:r>
              <a:rPr sz="850" b="1" i="0" spc="90">
                <a:solidFill>
                  <a:srgbClr val="5B6E82"/>
                </a:solidFill>
                <a:latin typeface="Arial"/>
              </a:rPr>
              <a:t>PRODUCT STAGE</a:t>
            </a:r>
          </a:p>
        </p:txBody>
      </p:sp>
      <p:sp>
        <p:nvSpPr>
          <p:cNvPr id="23" name="TextBox 22"/>
          <p:cNvSpPr txBox="1"/>
          <p:nvPr/>
        </p:nvSpPr>
        <p:spPr>
          <a:xfrm>
            <a:off x="7424927" y="3264408"/>
            <a:ext cx="3834079" cy="274320"/>
          </a:xfrm>
          <a:prstGeom prst="rect">
            <a:avLst/>
          </a:prstGeom>
          <a:noFill/>
        </p:spPr>
        <p:txBody>
          <a:bodyPr wrap="square" lIns="0" tIns="0" rIns="0" bIns="0" anchor="t">
            <a:spAutoFit/>
          </a:bodyPr>
          <a:lstStyle/>
          <a:p>
            <a:pPr algn="l">
              <a:lnSpc>
                <a:spcPct val="112000"/>
              </a:lnSpc>
              <a:spcAft>
                <a:spcPts val="0"/>
              </a:spcAft>
            </a:pPr>
            <a:r>
              <a:rPr sz="1150" b="0" i="0">
                <a:solidFill>
                  <a:srgbClr val="102236"/>
                </a:solidFill>
                <a:latin typeface="Arial"/>
              </a:rPr>
              <a:t>Pre-launch, design-partner stage</a:t>
            </a:r>
          </a:p>
        </p:txBody>
      </p:sp>
      <p:sp>
        <p:nvSpPr>
          <p:cNvPr id="24" name="TextBox 23"/>
          <p:cNvSpPr txBox="1"/>
          <p:nvPr/>
        </p:nvSpPr>
        <p:spPr>
          <a:xfrm>
            <a:off x="7424927" y="3584448"/>
            <a:ext cx="3834079" cy="182880"/>
          </a:xfrm>
          <a:prstGeom prst="rect">
            <a:avLst/>
          </a:prstGeom>
          <a:noFill/>
        </p:spPr>
        <p:txBody>
          <a:bodyPr wrap="square" lIns="0" tIns="0" rIns="0" bIns="0" anchor="t">
            <a:spAutoFit/>
          </a:bodyPr>
          <a:lstStyle/>
          <a:p>
            <a:pPr algn="l">
              <a:lnSpc>
                <a:spcPct val="112000"/>
              </a:lnSpc>
              <a:spcAft>
                <a:spcPts val="0"/>
              </a:spcAft>
            </a:pPr>
            <a:r>
              <a:rPr sz="850" b="1" i="0" spc="90">
                <a:solidFill>
                  <a:srgbClr val="5B6E82"/>
                </a:solidFill>
                <a:latin typeface="Arial"/>
              </a:rPr>
              <a:t>MONTHLY VOLUME</a:t>
            </a:r>
          </a:p>
        </p:txBody>
      </p:sp>
      <p:sp>
        <p:nvSpPr>
          <p:cNvPr id="25" name="TextBox 24"/>
          <p:cNvSpPr txBox="1"/>
          <p:nvPr/>
        </p:nvSpPr>
        <p:spPr>
          <a:xfrm>
            <a:off x="7424927" y="3767328"/>
            <a:ext cx="3834079" cy="274320"/>
          </a:xfrm>
          <a:prstGeom prst="rect">
            <a:avLst/>
          </a:prstGeom>
          <a:noFill/>
        </p:spPr>
        <p:txBody>
          <a:bodyPr wrap="square" lIns="0" tIns="0" rIns="0" bIns="0" anchor="t">
            <a:spAutoFit/>
          </a:bodyPr>
          <a:lstStyle/>
          <a:p>
            <a:pPr algn="l">
              <a:lnSpc>
                <a:spcPct val="112000"/>
              </a:lnSpc>
              <a:spcAft>
                <a:spcPts val="0"/>
              </a:spcAft>
            </a:pPr>
            <a:r>
              <a:rPr sz="1150" b="0" i="0">
                <a:solidFill>
                  <a:srgbClr val="102236"/>
                </a:solidFill>
                <a:latin typeface="Arial"/>
              </a:rPr>
              <a:t>≈ $800,000</a:t>
            </a:r>
          </a:p>
        </p:txBody>
      </p:sp>
      <p:sp>
        <p:nvSpPr>
          <p:cNvPr id="26" name="TextBox 25"/>
          <p:cNvSpPr txBox="1"/>
          <p:nvPr/>
        </p:nvSpPr>
        <p:spPr>
          <a:xfrm>
            <a:off x="7424927" y="4087368"/>
            <a:ext cx="3834079" cy="182880"/>
          </a:xfrm>
          <a:prstGeom prst="rect">
            <a:avLst/>
          </a:prstGeom>
          <a:noFill/>
        </p:spPr>
        <p:txBody>
          <a:bodyPr wrap="square" lIns="0" tIns="0" rIns="0" bIns="0" anchor="t">
            <a:spAutoFit/>
          </a:bodyPr>
          <a:lstStyle/>
          <a:p>
            <a:pPr algn="l">
              <a:lnSpc>
                <a:spcPct val="112000"/>
              </a:lnSpc>
              <a:spcAft>
                <a:spcPts val="0"/>
              </a:spcAft>
            </a:pPr>
            <a:r>
              <a:rPr sz="850" b="1" i="0" spc="90">
                <a:solidFill>
                  <a:srgbClr val="5B6E82"/>
                </a:solidFill>
                <a:latin typeface="Arial"/>
              </a:rPr>
              <a:t>CHARGEBACK RATIO</a:t>
            </a:r>
          </a:p>
        </p:txBody>
      </p:sp>
      <p:sp>
        <p:nvSpPr>
          <p:cNvPr id="27" name="TextBox 26"/>
          <p:cNvSpPr txBox="1"/>
          <p:nvPr/>
        </p:nvSpPr>
        <p:spPr>
          <a:xfrm>
            <a:off x="7424927" y="4270248"/>
            <a:ext cx="3834079" cy="274320"/>
          </a:xfrm>
          <a:prstGeom prst="rect">
            <a:avLst/>
          </a:prstGeom>
          <a:noFill/>
        </p:spPr>
        <p:txBody>
          <a:bodyPr wrap="square" lIns="0" tIns="0" rIns="0" bIns="0" anchor="t">
            <a:spAutoFit/>
          </a:bodyPr>
          <a:lstStyle/>
          <a:p>
            <a:pPr algn="l">
              <a:lnSpc>
                <a:spcPct val="112000"/>
              </a:lnSpc>
              <a:spcAft>
                <a:spcPts val="0"/>
              </a:spcAft>
            </a:pPr>
            <a:r>
              <a:rPr sz="1150" b="0" i="0">
                <a:solidFill>
                  <a:srgbClr val="102236"/>
                </a:solidFill>
                <a:latin typeface="Arial"/>
              </a:rPr>
              <a:t>0.01%</a:t>
            </a:r>
          </a:p>
        </p:txBody>
      </p:sp>
      <p:sp>
        <p:nvSpPr>
          <p:cNvPr id="28" name="TextBox 27"/>
          <p:cNvSpPr txBox="1"/>
          <p:nvPr/>
        </p:nvSpPr>
        <p:spPr>
          <a:xfrm>
            <a:off x="7424927" y="4590288"/>
            <a:ext cx="3834079" cy="182880"/>
          </a:xfrm>
          <a:prstGeom prst="rect">
            <a:avLst/>
          </a:prstGeom>
          <a:noFill/>
        </p:spPr>
        <p:txBody>
          <a:bodyPr wrap="square" lIns="0" tIns="0" rIns="0" bIns="0" anchor="t">
            <a:spAutoFit/>
          </a:bodyPr>
          <a:lstStyle/>
          <a:p>
            <a:pPr algn="l">
              <a:lnSpc>
                <a:spcPct val="112000"/>
              </a:lnSpc>
              <a:spcAft>
                <a:spcPts val="0"/>
              </a:spcAft>
            </a:pPr>
            <a:r>
              <a:rPr sz="850" b="1" i="0" spc="90">
                <a:solidFill>
                  <a:srgbClr val="5B6E82"/>
                </a:solidFill>
                <a:latin typeface="Arial"/>
              </a:rPr>
              <a:t>MIX</a:t>
            </a:r>
          </a:p>
        </p:txBody>
      </p:sp>
      <p:sp>
        <p:nvSpPr>
          <p:cNvPr id="29" name="TextBox 28"/>
          <p:cNvSpPr txBox="1"/>
          <p:nvPr/>
        </p:nvSpPr>
        <p:spPr>
          <a:xfrm>
            <a:off x="7424927" y="4773168"/>
            <a:ext cx="3834079" cy="274320"/>
          </a:xfrm>
          <a:prstGeom prst="rect">
            <a:avLst/>
          </a:prstGeom>
          <a:noFill/>
        </p:spPr>
        <p:txBody>
          <a:bodyPr wrap="square" lIns="0" tIns="0" rIns="0" bIns="0" anchor="t">
            <a:spAutoFit/>
          </a:bodyPr>
          <a:lstStyle/>
          <a:p>
            <a:pPr algn="l">
              <a:lnSpc>
                <a:spcPct val="112000"/>
              </a:lnSpc>
              <a:spcAft>
                <a:spcPts val="0"/>
              </a:spcAft>
            </a:pPr>
            <a:r>
              <a:rPr sz="1150" b="0" i="0">
                <a:solidFill>
                  <a:srgbClr val="102236"/>
                </a:solidFill>
                <a:latin typeface="Arial"/>
              </a:rPr>
              <a:t>B2B and B2C, card-not-present</a:t>
            </a:r>
          </a:p>
        </p:txBody>
      </p:sp>
      <p:sp>
        <p:nvSpPr>
          <p:cNvPr id="30" name="TextBox 29"/>
          <p:cNvSpPr txBox="1"/>
          <p:nvPr/>
        </p:nvSpPr>
        <p:spPr>
          <a:xfrm>
            <a:off x="7424927" y="5093207"/>
            <a:ext cx="3834079" cy="182880"/>
          </a:xfrm>
          <a:prstGeom prst="rect">
            <a:avLst/>
          </a:prstGeom>
          <a:noFill/>
        </p:spPr>
        <p:txBody>
          <a:bodyPr wrap="square" lIns="0" tIns="0" rIns="0" bIns="0" anchor="t">
            <a:spAutoFit/>
          </a:bodyPr>
          <a:lstStyle/>
          <a:p>
            <a:pPr algn="l">
              <a:lnSpc>
                <a:spcPct val="112000"/>
              </a:lnSpc>
              <a:spcAft>
                <a:spcPts val="0"/>
              </a:spcAft>
            </a:pPr>
            <a:r>
              <a:rPr sz="850" b="1" i="0" spc="90">
                <a:solidFill>
                  <a:srgbClr val="5B6E82"/>
                </a:solidFill>
                <a:latin typeface="Arial"/>
              </a:rPr>
              <a:t>REGIONS SERVED</a:t>
            </a:r>
          </a:p>
        </p:txBody>
      </p:sp>
      <p:sp>
        <p:nvSpPr>
          <p:cNvPr id="31" name="TextBox 30"/>
          <p:cNvSpPr txBox="1"/>
          <p:nvPr/>
        </p:nvSpPr>
        <p:spPr>
          <a:xfrm>
            <a:off x="7424927" y="5276088"/>
            <a:ext cx="3834079" cy="274320"/>
          </a:xfrm>
          <a:prstGeom prst="rect">
            <a:avLst/>
          </a:prstGeom>
          <a:noFill/>
        </p:spPr>
        <p:txBody>
          <a:bodyPr wrap="square" lIns="0" tIns="0" rIns="0" bIns="0" anchor="t">
            <a:spAutoFit/>
          </a:bodyPr>
          <a:lstStyle/>
          <a:p>
            <a:pPr algn="l">
              <a:lnSpc>
                <a:spcPct val="112000"/>
              </a:lnSpc>
              <a:spcAft>
                <a:spcPts val="0"/>
              </a:spcAft>
            </a:pPr>
            <a:r>
              <a:rPr sz="1150" b="0" i="0">
                <a:solidFill>
                  <a:srgbClr val="102236"/>
                </a:solidFill>
                <a:latin typeface="Arial"/>
              </a:rPr>
              <a:t>Asia, EU/UK, US, LatAm</a:t>
            </a:r>
          </a:p>
        </p:txBody>
      </p:sp>
      <p:cxnSp>
        <p:nvCxnSpPr>
          <p:cNvPr id="32" name="Connector 31"/>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Airwallex partnership proposal  ·  Confidential</a:t>
            </a:r>
          </a:p>
        </p:txBody>
      </p:sp>
      <p:sp>
        <p:nvSpPr>
          <p:cNvPr id="34" name="TextBox 33"/>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BUSINESS TODAY</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A small book with clean risk</a:t>
            </a:r>
          </a:p>
        </p:txBody>
      </p:sp>
      <p:sp>
        <p:nvSpPr>
          <p:cNvPr id="4" name="TextBox 3"/>
          <p:cNvSpPr txBox="1"/>
          <p:nvPr/>
        </p:nvSpPr>
        <p:spPr>
          <a:xfrm>
            <a:off x="658368" y="1307592"/>
            <a:ext cx="9326880" cy="564642"/>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Quality over count: verified business buyers, invoice-led volume, and a dispute rate two orders of magnitude below network thresholds.</a:t>
            </a:r>
          </a:p>
        </p:txBody>
      </p:sp>
      <p:sp>
        <p:nvSpPr>
          <p:cNvPr id="5" name="TextBox 4"/>
          <p:cNvSpPr txBox="1"/>
          <p:nvPr/>
        </p:nvSpPr>
        <p:spPr>
          <a:xfrm>
            <a:off x="658368" y="2100834"/>
            <a:ext cx="2444419" cy="566928"/>
          </a:xfrm>
          <a:prstGeom prst="rect">
            <a:avLst/>
          </a:prstGeom>
          <a:noFill/>
        </p:spPr>
        <p:txBody>
          <a:bodyPr wrap="square" lIns="0" tIns="0" rIns="0" bIns="0" anchor="t">
            <a:spAutoFit/>
          </a:bodyPr>
          <a:lstStyle/>
          <a:p>
            <a:pPr algn="l">
              <a:lnSpc>
                <a:spcPct val="100000"/>
              </a:lnSpc>
              <a:spcAft>
                <a:spcPts val="0"/>
              </a:spcAft>
            </a:pPr>
            <a:r>
              <a:rPr sz="2600" b="1" i="0">
                <a:solidFill>
                  <a:srgbClr val="102236"/>
                </a:solidFill>
                <a:latin typeface="Arial"/>
              </a:rPr>
              <a:t>$800K</a:t>
            </a:r>
          </a:p>
        </p:txBody>
      </p:sp>
      <p:sp>
        <p:nvSpPr>
          <p:cNvPr id="6" name="TextBox 5"/>
          <p:cNvSpPr txBox="1"/>
          <p:nvPr/>
        </p:nvSpPr>
        <p:spPr>
          <a:xfrm>
            <a:off x="658368" y="2649474"/>
            <a:ext cx="2444419" cy="274320"/>
          </a:xfrm>
          <a:prstGeom prst="rect">
            <a:avLst/>
          </a:prstGeom>
          <a:noFill/>
        </p:spPr>
        <p:txBody>
          <a:bodyPr wrap="square" lIns="0" tIns="0" rIns="0" bIns="0" anchor="t">
            <a:spAutoFit/>
          </a:bodyPr>
          <a:lstStyle/>
          <a:p>
            <a:pPr algn="l">
              <a:lnSpc>
                <a:spcPct val="112000"/>
              </a:lnSpc>
              <a:spcAft>
                <a:spcPts val="0"/>
              </a:spcAft>
            </a:pPr>
            <a:r>
              <a:rPr sz="1000" b="1" i="0" spc="110">
                <a:solidFill>
                  <a:srgbClr val="5B6E82"/>
                </a:solidFill>
                <a:latin typeface="Arial"/>
              </a:rPr>
              <a:t>MONTHLY VOLUME</a:t>
            </a:r>
          </a:p>
        </p:txBody>
      </p:sp>
      <p:sp>
        <p:nvSpPr>
          <p:cNvPr id="7" name="TextBox 6"/>
          <p:cNvSpPr txBox="1"/>
          <p:nvPr/>
        </p:nvSpPr>
        <p:spPr>
          <a:xfrm>
            <a:off x="658368" y="2887218"/>
            <a:ext cx="2444419" cy="365760"/>
          </a:xfrm>
          <a:prstGeom prst="rect">
            <a:avLst/>
          </a:prstGeom>
          <a:noFill/>
        </p:spPr>
        <p:txBody>
          <a:bodyPr wrap="square" lIns="0" tIns="0" rIns="0" bIns="0" anchor="t">
            <a:spAutoFit/>
          </a:bodyPr>
          <a:lstStyle/>
          <a:p>
            <a:pPr algn="l">
              <a:lnSpc>
                <a:spcPct val="115000"/>
              </a:lnSpc>
              <a:spcAft>
                <a:spcPts val="0"/>
              </a:spcAft>
            </a:pPr>
            <a:r>
              <a:rPr sz="950" b="0" i="0">
                <a:solidFill>
                  <a:srgbClr val="5B6E82"/>
                </a:solidFill>
                <a:latin typeface="Arial"/>
              </a:rPr>
              <a:t>≈ $9.6M annualised</a:t>
            </a:r>
          </a:p>
        </p:txBody>
      </p:sp>
      <p:sp>
        <p:nvSpPr>
          <p:cNvPr id="8" name="TextBox 7"/>
          <p:cNvSpPr txBox="1"/>
          <p:nvPr/>
        </p:nvSpPr>
        <p:spPr>
          <a:xfrm>
            <a:off x="3377107" y="2100834"/>
            <a:ext cx="2444419" cy="566928"/>
          </a:xfrm>
          <a:prstGeom prst="rect">
            <a:avLst/>
          </a:prstGeom>
          <a:noFill/>
        </p:spPr>
        <p:txBody>
          <a:bodyPr wrap="square" lIns="0" tIns="0" rIns="0" bIns="0" anchor="t">
            <a:spAutoFit/>
          </a:bodyPr>
          <a:lstStyle/>
          <a:p>
            <a:pPr algn="l">
              <a:lnSpc>
                <a:spcPct val="100000"/>
              </a:lnSpc>
              <a:spcAft>
                <a:spcPts val="0"/>
              </a:spcAft>
            </a:pPr>
            <a:r>
              <a:rPr sz="2600" b="1" i="0">
                <a:solidFill>
                  <a:srgbClr val="008A69"/>
                </a:solidFill>
                <a:latin typeface="Arial"/>
              </a:rPr>
              <a:t>0.01%</a:t>
            </a:r>
          </a:p>
        </p:txBody>
      </p:sp>
      <p:sp>
        <p:nvSpPr>
          <p:cNvPr id="9" name="TextBox 8"/>
          <p:cNvSpPr txBox="1"/>
          <p:nvPr/>
        </p:nvSpPr>
        <p:spPr>
          <a:xfrm>
            <a:off x="3377107" y="2649474"/>
            <a:ext cx="2444419" cy="274320"/>
          </a:xfrm>
          <a:prstGeom prst="rect">
            <a:avLst/>
          </a:prstGeom>
          <a:noFill/>
        </p:spPr>
        <p:txBody>
          <a:bodyPr wrap="square" lIns="0" tIns="0" rIns="0" bIns="0" anchor="t">
            <a:spAutoFit/>
          </a:bodyPr>
          <a:lstStyle/>
          <a:p>
            <a:pPr algn="l">
              <a:lnSpc>
                <a:spcPct val="112000"/>
              </a:lnSpc>
              <a:spcAft>
                <a:spcPts val="0"/>
              </a:spcAft>
            </a:pPr>
            <a:r>
              <a:rPr sz="1000" b="1" i="0" spc="110">
                <a:solidFill>
                  <a:srgbClr val="5B6E82"/>
                </a:solidFill>
                <a:latin typeface="Arial"/>
              </a:rPr>
              <a:t>CHARGEBACK RATIO</a:t>
            </a:r>
          </a:p>
        </p:txBody>
      </p:sp>
      <p:sp>
        <p:nvSpPr>
          <p:cNvPr id="10" name="TextBox 9"/>
          <p:cNvSpPr txBox="1"/>
          <p:nvPr/>
        </p:nvSpPr>
        <p:spPr>
          <a:xfrm>
            <a:off x="3377107" y="2887218"/>
            <a:ext cx="2444419" cy="365760"/>
          </a:xfrm>
          <a:prstGeom prst="rect">
            <a:avLst/>
          </a:prstGeom>
          <a:noFill/>
        </p:spPr>
        <p:txBody>
          <a:bodyPr wrap="square" lIns="0" tIns="0" rIns="0" bIns="0" anchor="t">
            <a:spAutoFit/>
          </a:bodyPr>
          <a:lstStyle/>
          <a:p>
            <a:pPr algn="l">
              <a:lnSpc>
                <a:spcPct val="115000"/>
              </a:lnSpc>
              <a:spcAft>
                <a:spcPts val="0"/>
              </a:spcAft>
            </a:pPr>
            <a:r>
              <a:rPr sz="950" b="0" i="0">
                <a:solidFill>
                  <a:srgbClr val="5B6E82"/>
                </a:solidFill>
                <a:latin typeface="Arial"/>
              </a:rPr>
              <a:t>network watchlist starts at 0.9%</a:t>
            </a:r>
          </a:p>
        </p:txBody>
      </p:sp>
      <p:cxnSp>
        <p:nvCxnSpPr>
          <p:cNvPr id="11" name="Connector 10"/>
          <p:cNvCxnSpPr/>
          <p:nvPr/>
        </p:nvCxnSpPr>
        <p:spPr>
          <a:xfrm>
            <a:off x="3212515" y="2128266"/>
            <a:ext cx="0" cy="1143000"/>
          </a:xfrm>
          <a:prstGeom prst="line">
            <a:avLst/>
          </a:prstGeom>
          <a:ln w="9525">
            <a:solidFill>
              <a:srgbClr val="DFE6E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095847" y="2100834"/>
            <a:ext cx="2444419" cy="566928"/>
          </a:xfrm>
          <a:prstGeom prst="rect">
            <a:avLst/>
          </a:prstGeom>
          <a:noFill/>
        </p:spPr>
        <p:txBody>
          <a:bodyPr wrap="square" lIns="0" tIns="0" rIns="0" bIns="0" anchor="t">
            <a:spAutoFit/>
          </a:bodyPr>
          <a:lstStyle/>
          <a:p>
            <a:pPr algn="l">
              <a:lnSpc>
                <a:spcPct val="100000"/>
              </a:lnSpc>
              <a:spcAft>
                <a:spcPts val="0"/>
              </a:spcAft>
            </a:pPr>
            <a:r>
              <a:rPr sz="2600" b="1" i="0">
                <a:solidFill>
                  <a:srgbClr val="102236"/>
                </a:solidFill>
                <a:latin typeface="Arial"/>
              </a:rPr>
              <a:t>B2B + B2C</a:t>
            </a:r>
          </a:p>
        </p:txBody>
      </p:sp>
      <p:sp>
        <p:nvSpPr>
          <p:cNvPr id="13" name="TextBox 12"/>
          <p:cNvSpPr txBox="1"/>
          <p:nvPr/>
        </p:nvSpPr>
        <p:spPr>
          <a:xfrm>
            <a:off x="6095847" y="2649474"/>
            <a:ext cx="2444419" cy="274320"/>
          </a:xfrm>
          <a:prstGeom prst="rect">
            <a:avLst/>
          </a:prstGeom>
          <a:noFill/>
        </p:spPr>
        <p:txBody>
          <a:bodyPr wrap="square" lIns="0" tIns="0" rIns="0" bIns="0" anchor="t">
            <a:spAutoFit/>
          </a:bodyPr>
          <a:lstStyle/>
          <a:p>
            <a:pPr algn="l">
              <a:lnSpc>
                <a:spcPct val="112000"/>
              </a:lnSpc>
              <a:spcAft>
                <a:spcPts val="0"/>
              </a:spcAft>
            </a:pPr>
            <a:r>
              <a:rPr sz="1000" b="1" i="0" spc="110">
                <a:solidFill>
                  <a:srgbClr val="5B6E82"/>
                </a:solidFill>
                <a:latin typeface="Arial"/>
              </a:rPr>
              <a:t>MERCHANT MIX</a:t>
            </a:r>
          </a:p>
        </p:txBody>
      </p:sp>
      <p:sp>
        <p:nvSpPr>
          <p:cNvPr id="14" name="TextBox 13"/>
          <p:cNvSpPr txBox="1"/>
          <p:nvPr/>
        </p:nvSpPr>
        <p:spPr>
          <a:xfrm>
            <a:off x="6095847" y="2887218"/>
            <a:ext cx="2444419" cy="365760"/>
          </a:xfrm>
          <a:prstGeom prst="rect">
            <a:avLst/>
          </a:prstGeom>
          <a:noFill/>
        </p:spPr>
        <p:txBody>
          <a:bodyPr wrap="square" lIns="0" tIns="0" rIns="0" bIns="0" anchor="t">
            <a:spAutoFit/>
          </a:bodyPr>
          <a:lstStyle/>
          <a:p>
            <a:pPr algn="l">
              <a:lnSpc>
                <a:spcPct val="115000"/>
              </a:lnSpc>
              <a:spcAft>
                <a:spcPts val="0"/>
              </a:spcAft>
            </a:pPr>
            <a:r>
              <a:rPr sz="950" b="0" i="0">
                <a:solidFill>
                  <a:srgbClr val="5B6E82"/>
                </a:solidFill>
                <a:latin typeface="Arial"/>
              </a:rPr>
              <a:t>card-not-present, invoiced</a:t>
            </a:r>
          </a:p>
        </p:txBody>
      </p:sp>
      <p:cxnSp>
        <p:nvCxnSpPr>
          <p:cNvPr id="15" name="Connector 14"/>
          <p:cNvCxnSpPr/>
          <p:nvPr/>
        </p:nvCxnSpPr>
        <p:spPr>
          <a:xfrm>
            <a:off x="5931255" y="2128266"/>
            <a:ext cx="0" cy="1143000"/>
          </a:xfrm>
          <a:prstGeom prst="line">
            <a:avLst/>
          </a:prstGeom>
          <a:ln w="9525">
            <a:solidFill>
              <a:srgbClr val="DFE6E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814587" y="2100834"/>
            <a:ext cx="2444419" cy="566928"/>
          </a:xfrm>
          <a:prstGeom prst="rect">
            <a:avLst/>
          </a:prstGeom>
          <a:noFill/>
        </p:spPr>
        <p:txBody>
          <a:bodyPr wrap="square" lIns="0" tIns="0" rIns="0" bIns="0" anchor="t">
            <a:spAutoFit/>
          </a:bodyPr>
          <a:lstStyle/>
          <a:p>
            <a:pPr algn="l">
              <a:lnSpc>
                <a:spcPct val="100000"/>
              </a:lnSpc>
              <a:spcAft>
                <a:spcPts val="0"/>
              </a:spcAft>
            </a:pPr>
            <a:r>
              <a:rPr sz="2600" b="1" i="0">
                <a:solidFill>
                  <a:srgbClr val="102236"/>
                </a:solidFill>
                <a:latin typeface="Arial"/>
              </a:rPr>
              <a:t>Oct 2026</a:t>
            </a:r>
          </a:p>
        </p:txBody>
      </p:sp>
      <p:sp>
        <p:nvSpPr>
          <p:cNvPr id="17" name="TextBox 16"/>
          <p:cNvSpPr txBox="1"/>
          <p:nvPr/>
        </p:nvSpPr>
        <p:spPr>
          <a:xfrm>
            <a:off x="8814587" y="2649474"/>
            <a:ext cx="2444419" cy="274320"/>
          </a:xfrm>
          <a:prstGeom prst="rect">
            <a:avLst/>
          </a:prstGeom>
          <a:noFill/>
        </p:spPr>
        <p:txBody>
          <a:bodyPr wrap="square" lIns="0" tIns="0" rIns="0" bIns="0" anchor="t">
            <a:spAutoFit/>
          </a:bodyPr>
          <a:lstStyle/>
          <a:p>
            <a:pPr algn="l">
              <a:lnSpc>
                <a:spcPct val="112000"/>
              </a:lnSpc>
              <a:spcAft>
                <a:spcPts val="0"/>
              </a:spcAft>
            </a:pPr>
            <a:r>
              <a:rPr sz="1000" b="1" i="0" spc="110">
                <a:solidFill>
                  <a:srgbClr val="5B6E82"/>
                </a:solidFill>
                <a:latin typeface="Arial"/>
              </a:rPr>
              <a:t>NEW ENTITY</a:t>
            </a:r>
          </a:p>
        </p:txBody>
      </p:sp>
      <p:sp>
        <p:nvSpPr>
          <p:cNvPr id="18" name="TextBox 17"/>
          <p:cNvSpPr txBox="1"/>
          <p:nvPr/>
        </p:nvSpPr>
        <p:spPr>
          <a:xfrm>
            <a:off x="8814587" y="2887218"/>
            <a:ext cx="2444419" cy="365760"/>
          </a:xfrm>
          <a:prstGeom prst="rect">
            <a:avLst/>
          </a:prstGeom>
          <a:noFill/>
        </p:spPr>
        <p:txBody>
          <a:bodyPr wrap="square" lIns="0" tIns="0" rIns="0" bIns="0" anchor="t">
            <a:spAutoFit/>
          </a:bodyPr>
          <a:lstStyle/>
          <a:p>
            <a:pPr algn="l">
              <a:lnSpc>
                <a:spcPct val="115000"/>
              </a:lnSpc>
              <a:spcAft>
                <a:spcPts val="0"/>
              </a:spcAft>
            </a:pPr>
            <a:r>
              <a:rPr sz="950" b="0" i="0">
                <a:solidFill>
                  <a:srgbClr val="5B6E82"/>
                </a:solidFill>
                <a:latin typeface="Arial"/>
              </a:rPr>
              <a:t>operating team since 2022</a:t>
            </a:r>
          </a:p>
        </p:txBody>
      </p:sp>
      <p:cxnSp>
        <p:nvCxnSpPr>
          <p:cNvPr id="19" name="Connector 18"/>
          <p:cNvCxnSpPr/>
          <p:nvPr/>
        </p:nvCxnSpPr>
        <p:spPr>
          <a:xfrm>
            <a:off x="8649995" y="2128266"/>
            <a:ext cx="0" cy="1143000"/>
          </a:xfrm>
          <a:prstGeom prst="line">
            <a:avLst/>
          </a:prstGeom>
          <a:ln w="9525">
            <a:solidFill>
              <a:srgbClr val="DFE6E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8368" y="3536442"/>
            <a:ext cx="2282763" cy="310896"/>
          </a:xfrm>
          <a:prstGeom prst="rect">
            <a:avLst/>
          </a:prstGeom>
          <a:noFill/>
        </p:spPr>
        <p:txBody>
          <a:bodyPr wrap="square" lIns="0" tIns="0" rIns="0" bIns="0" anchor="t">
            <a:spAutoFit/>
          </a:bodyPr>
          <a:lstStyle/>
          <a:p>
            <a:pPr algn="l">
              <a:lnSpc>
                <a:spcPct val="112000"/>
              </a:lnSpc>
              <a:spcAft>
                <a:spcPts val="0"/>
              </a:spcAft>
            </a:pPr>
            <a:r>
              <a:rPr sz="950" b="1" i="0" spc="90">
                <a:solidFill>
                  <a:srgbClr val="5B6E82"/>
                </a:solidFill>
                <a:latin typeface="Arial"/>
              </a:rPr>
              <a:t>TODAY</a:t>
            </a:r>
          </a:p>
        </p:txBody>
      </p:sp>
      <p:sp>
        <p:nvSpPr>
          <p:cNvPr id="21" name="TextBox 20"/>
          <p:cNvSpPr txBox="1"/>
          <p:nvPr/>
        </p:nvSpPr>
        <p:spPr>
          <a:xfrm>
            <a:off x="3050859" y="3536442"/>
            <a:ext cx="2717761" cy="310896"/>
          </a:xfrm>
          <a:prstGeom prst="rect">
            <a:avLst/>
          </a:prstGeom>
          <a:noFill/>
        </p:spPr>
        <p:txBody>
          <a:bodyPr wrap="square" lIns="0" tIns="0" rIns="0" bIns="0" anchor="t">
            <a:spAutoFit/>
          </a:bodyPr>
          <a:lstStyle/>
          <a:p>
            <a:pPr algn="l">
              <a:lnSpc>
                <a:spcPct val="112000"/>
              </a:lnSpc>
              <a:spcAft>
                <a:spcPts val="0"/>
              </a:spcAft>
            </a:pPr>
            <a:r>
              <a:rPr sz="950" b="1" i="0" spc="90">
                <a:solidFill>
                  <a:srgbClr val="5B6E82"/>
                </a:solidFill>
                <a:latin typeface="Arial"/>
              </a:rPr>
              <a:t>CURRENT SETUP</a:t>
            </a:r>
          </a:p>
        </p:txBody>
      </p:sp>
      <p:sp>
        <p:nvSpPr>
          <p:cNvPr id="22" name="TextBox 21"/>
          <p:cNvSpPr txBox="1"/>
          <p:nvPr/>
        </p:nvSpPr>
        <p:spPr>
          <a:xfrm>
            <a:off x="5878348" y="3536442"/>
            <a:ext cx="2717761" cy="310896"/>
          </a:xfrm>
          <a:prstGeom prst="rect">
            <a:avLst/>
          </a:prstGeom>
          <a:noFill/>
        </p:spPr>
        <p:txBody>
          <a:bodyPr wrap="square" lIns="0" tIns="0" rIns="0" bIns="0" anchor="t">
            <a:spAutoFit/>
          </a:bodyPr>
          <a:lstStyle/>
          <a:p>
            <a:pPr algn="l">
              <a:lnSpc>
                <a:spcPct val="112000"/>
              </a:lnSpc>
              <a:spcAft>
                <a:spcPts val="0"/>
              </a:spcAft>
            </a:pPr>
            <a:r>
              <a:rPr sz="950" b="1" i="0" spc="90">
                <a:solidFill>
                  <a:srgbClr val="5B6E82"/>
                </a:solidFill>
                <a:latin typeface="Arial"/>
              </a:rPr>
              <a:t>WHY WE ARE SWITCHING</a:t>
            </a:r>
          </a:p>
        </p:txBody>
      </p:sp>
      <p:sp>
        <p:nvSpPr>
          <p:cNvPr id="23" name="TextBox 22"/>
          <p:cNvSpPr txBox="1"/>
          <p:nvPr/>
        </p:nvSpPr>
        <p:spPr>
          <a:xfrm>
            <a:off x="8705837" y="3536442"/>
            <a:ext cx="2717761" cy="310896"/>
          </a:xfrm>
          <a:prstGeom prst="rect">
            <a:avLst/>
          </a:prstGeom>
          <a:noFill/>
        </p:spPr>
        <p:txBody>
          <a:bodyPr wrap="square" lIns="0" tIns="0" rIns="0" bIns="0" anchor="t">
            <a:spAutoFit/>
          </a:bodyPr>
          <a:lstStyle/>
          <a:p>
            <a:pPr algn="l">
              <a:lnSpc>
                <a:spcPct val="112000"/>
              </a:lnSpc>
              <a:spcAft>
                <a:spcPts val="0"/>
              </a:spcAft>
            </a:pPr>
            <a:r>
              <a:rPr sz="950" b="1" i="0" spc="90">
                <a:solidFill>
                  <a:srgbClr val="5B6E82"/>
                </a:solidFill>
                <a:latin typeface="Arial"/>
              </a:rPr>
              <a:t>WITH AIRWALLEX</a:t>
            </a:r>
          </a:p>
        </p:txBody>
      </p:sp>
      <p:cxnSp>
        <p:nvCxnSpPr>
          <p:cNvPr id="24" name="Connector 23"/>
          <p:cNvCxnSpPr/>
          <p:nvPr/>
        </p:nvCxnSpPr>
        <p:spPr>
          <a:xfrm>
            <a:off x="658368" y="3829050"/>
            <a:ext cx="10874959" cy="0"/>
          </a:xfrm>
          <a:prstGeom prst="line">
            <a:avLst/>
          </a:prstGeom>
          <a:ln w="11430">
            <a:solidFill>
              <a:srgbClr val="DFE6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58368" y="3975354"/>
            <a:ext cx="2246187" cy="420623"/>
          </a:xfrm>
          <a:prstGeom prst="rect">
            <a:avLst/>
          </a:prstGeom>
          <a:noFill/>
        </p:spPr>
        <p:txBody>
          <a:bodyPr wrap="square" lIns="0" tIns="0" rIns="0" bIns="0" anchor="t">
            <a:spAutoFit/>
          </a:bodyPr>
          <a:lstStyle/>
          <a:p>
            <a:pPr algn="l">
              <a:lnSpc>
                <a:spcPct val="112000"/>
              </a:lnSpc>
              <a:spcAft>
                <a:spcPts val="0"/>
              </a:spcAft>
            </a:pPr>
            <a:r>
              <a:rPr sz="1050" b="1" i="0">
                <a:solidFill>
                  <a:srgbClr val="102236"/>
                </a:solidFill>
                <a:latin typeface="Arial"/>
              </a:rPr>
              <a:t>Processing</a:t>
            </a:r>
          </a:p>
        </p:txBody>
      </p:sp>
      <p:sp>
        <p:nvSpPr>
          <p:cNvPr id="26" name="TextBox 25"/>
          <p:cNvSpPr txBox="1"/>
          <p:nvPr/>
        </p:nvSpPr>
        <p:spPr>
          <a:xfrm>
            <a:off x="3050859" y="3975354"/>
            <a:ext cx="2681185" cy="420623"/>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Private merchant accounts, several providers</a:t>
            </a:r>
          </a:p>
        </p:txBody>
      </p:sp>
      <p:sp>
        <p:nvSpPr>
          <p:cNvPr id="27" name="TextBox 26"/>
          <p:cNvSpPr txBox="1"/>
          <p:nvPr/>
        </p:nvSpPr>
        <p:spPr>
          <a:xfrm>
            <a:off x="5878348" y="3975354"/>
            <a:ext cx="2681185" cy="420623"/>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No single view of risk, revenue or reserves</a:t>
            </a:r>
          </a:p>
        </p:txBody>
      </p:sp>
      <p:sp>
        <p:nvSpPr>
          <p:cNvPr id="28" name="TextBox 27"/>
          <p:cNvSpPr txBox="1"/>
          <p:nvPr/>
        </p:nvSpPr>
        <p:spPr>
          <a:xfrm>
            <a:off x="8705837" y="3975354"/>
            <a:ext cx="2681185" cy="420623"/>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One platform, one ledger, one reconciliation</a:t>
            </a:r>
          </a:p>
        </p:txBody>
      </p:sp>
      <p:sp>
        <p:nvSpPr>
          <p:cNvPr id="29" name="Rounded Rectangle 28"/>
          <p:cNvSpPr/>
          <p:nvPr/>
        </p:nvSpPr>
        <p:spPr>
          <a:xfrm>
            <a:off x="585216" y="4395978"/>
            <a:ext cx="11021263" cy="566928"/>
          </a:xfrm>
          <a:prstGeom prst="roundRect">
            <a:avLst>
              <a:gd name="adj" fmla="val 3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8368" y="4542282"/>
            <a:ext cx="2246187" cy="420623"/>
          </a:xfrm>
          <a:prstGeom prst="rect">
            <a:avLst/>
          </a:prstGeom>
          <a:noFill/>
        </p:spPr>
        <p:txBody>
          <a:bodyPr wrap="square" lIns="0" tIns="0" rIns="0" bIns="0" anchor="t">
            <a:spAutoFit/>
          </a:bodyPr>
          <a:lstStyle/>
          <a:p>
            <a:pPr algn="l">
              <a:lnSpc>
                <a:spcPct val="112000"/>
              </a:lnSpc>
              <a:spcAft>
                <a:spcPts val="0"/>
              </a:spcAft>
            </a:pPr>
            <a:r>
              <a:rPr sz="1050" b="1" i="0">
                <a:solidFill>
                  <a:srgbClr val="102236"/>
                </a:solidFill>
                <a:latin typeface="Arial"/>
              </a:rPr>
              <a:t>Coverage</a:t>
            </a:r>
          </a:p>
        </p:txBody>
      </p:sp>
      <p:sp>
        <p:nvSpPr>
          <p:cNvPr id="31" name="TextBox 30"/>
          <p:cNvSpPr txBox="1"/>
          <p:nvPr/>
        </p:nvSpPr>
        <p:spPr>
          <a:xfrm>
            <a:off x="3050859" y="4542282"/>
            <a:ext cx="2681185" cy="420623"/>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US and EU acquiring only</a:t>
            </a:r>
          </a:p>
        </p:txBody>
      </p:sp>
      <p:sp>
        <p:nvSpPr>
          <p:cNvPr id="32" name="TextBox 31"/>
          <p:cNvSpPr txBox="1"/>
          <p:nvPr/>
        </p:nvSpPr>
        <p:spPr>
          <a:xfrm>
            <a:off x="5878348" y="4542282"/>
            <a:ext cx="2681185" cy="420623"/>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Asian buyers decline or pay in the wrong currency</a:t>
            </a:r>
          </a:p>
        </p:txBody>
      </p:sp>
      <p:sp>
        <p:nvSpPr>
          <p:cNvPr id="33" name="TextBox 32"/>
          <p:cNvSpPr txBox="1"/>
          <p:nvPr/>
        </p:nvSpPr>
        <p:spPr>
          <a:xfrm>
            <a:off x="8705837" y="4542282"/>
            <a:ext cx="2681185" cy="420623"/>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Asia-first acquiring plus local methods</a:t>
            </a:r>
          </a:p>
        </p:txBody>
      </p:sp>
      <p:sp>
        <p:nvSpPr>
          <p:cNvPr id="34" name="TextBox 33"/>
          <p:cNvSpPr txBox="1"/>
          <p:nvPr/>
        </p:nvSpPr>
        <p:spPr>
          <a:xfrm>
            <a:off x="658368" y="5109210"/>
            <a:ext cx="2246187" cy="420623"/>
          </a:xfrm>
          <a:prstGeom prst="rect">
            <a:avLst/>
          </a:prstGeom>
          <a:noFill/>
        </p:spPr>
        <p:txBody>
          <a:bodyPr wrap="square" lIns="0" tIns="0" rIns="0" bIns="0" anchor="t">
            <a:spAutoFit/>
          </a:bodyPr>
          <a:lstStyle/>
          <a:p>
            <a:pPr algn="l">
              <a:lnSpc>
                <a:spcPct val="112000"/>
              </a:lnSpc>
              <a:spcAft>
                <a:spcPts val="0"/>
              </a:spcAft>
            </a:pPr>
            <a:r>
              <a:rPr sz="1050" b="1" i="0">
                <a:solidFill>
                  <a:srgbClr val="102236"/>
                </a:solidFill>
                <a:latin typeface="Arial"/>
              </a:rPr>
              <a:t>Merchants</a:t>
            </a:r>
          </a:p>
        </p:txBody>
      </p:sp>
      <p:sp>
        <p:nvSpPr>
          <p:cNvPr id="35" name="TextBox 34"/>
          <p:cNvSpPr txBox="1"/>
          <p:nvPr/>
        </p:nvSpPr>
        <p:spPr>
          <a:xfrm>
            <a:off x="3050859" y="5109210"/>
            <a:ext cx="2681185" cy="420623"/>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Onboarded case by case</a:t>
            </a:r>
          </a:p>
        </p:txBody>
      </p:sp>
      <p:sp>
        <p:nvSpPr>
          <p:cNvPr id="36" name="TextBox 35"/>
          <p:cNvSpPr txBox="1"/>
          <p:nvPr/>
        </p:nvSpPr>
        <p:spPr>
          <a:xfrm>
            <a:off x="5878348" y="5109210"/>
            <a:ext cx="2681185" cy="420623"/>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Each provider runs its own KYB, months of underwriting</a:t>
            </a:r>
          </a:p>
        </p:txBody>
      </p:sp>
      <p:sp>
        <p:nvSpPr>
          <p:cNvPr id="37" name="TextBox 36"/>
          <p:cNvSpPr txBox="1"/>
          <p:nvPr/>
        </p:nvSpPr>
        <p:spPr>
          <a:xfrm>
            <a:off x="8705837" y="5109210"/>
            <a:ext cx="2681185" cy="420623"/>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Our KYB pipeline runs once, in days</a:t>
            </a:r>
          </a:p>
        </p:txBody>
      </p:sp>
      <p:sp>
        <p:nvSpPr>
          <p:cNvPr id="38" name="Rounded Rectangle 37"/>
          <p:cNvSpPr/>
          <p:nvPr/>
        </p:nvSpPr>
        <p:spPr>
          <a:xfrm>
            <a:off x="585216" y="5529834"/>
            <a:ext cx="11021263" cy="566928"/>
          </a:xfrm>
          <a:prstGeom prst="roundRect">
            <a:avLst>
              <a:gd name="adj" fmla="val 3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58368" y="5676138"/>
            <a:ext cx="2246187" cy="420623"/>
          </a:xfrm>
          <a:prstGeom prst="rect">
            <a:avLst/>
          </a:prstGeom>
          <a:noFill/>
        </p:spPr>
        <p:txBody>
          <a:bodyPr wrap="square" lIns="0" tIns="0" rIns="0" bIns="0" anchor="t">
            <a:spAutoFit/>
          </a:bodyPr>
          <a:lstStyle/>
          <a:p>
            <a:pPr algn="l">
              <a:lnSpc>
                <a:spcPct val="112000"/>
              </a:lnSpc>
              <a:spcAft>
                <a:spcPts val="0"/>
              </a:spcAft>
            </a:pPr>
            <a:r>
              <a:rPr sz="1050" b="1" i="0">
                <a:solidFill>
                  <a:srgbClr val="102236"/>
                </a:solidFill>
                <a:latin typeface="Arial"/>
              </a:rPr>
              <a:t>Economics</a:t>
            </a:r>
          </a:p>
        </p:txBody>
      </p:sp>
      <p:sp>
        <p:nvSpPr>
          <p:cNvPr id="40" name="TextBox 39"/>
          <p:cNvSpPr txBox="1"/>
          <p:nvPr/>
        </p:nvSpPr>
        <p:spPr>
          <a:xfrm>
            <a:off x="3050859" y="5676138"/>
            <a:ext cx="2681185" cy="420623"/>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Opaque per-account pricing</a:t>
            </a:r>
          </a:p>
        </p:txBody>
      </p:sp>
      <p:sp>
        <p:nvSpPr>
          <p:cNvPr id="41" name="TextBox 40"/>
          <p:cNvSpPr txBox="1"/>
          <p:nvPr/>
        </p:nvSpPr>
        <p:spPr>
          <a:xfrm>
            <a:off x="5878348" y="5676138"/>
            <a:ext cx="2681185" cy="420623"/>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No volume leverage, no corridor pricing</a:t>
            </a:r>
          </a:p>
        </p:txBody>
      </p:sp>
      <p:sp>
        <p:nvSpPr>
          <p:cNvPr id="42" name="TextBox 41"/>
          <p:cNvSpPr txBox="1"/>
          <p:nvPr/>
        </p:nvSpPr>
        <p:spPr>
          <a:xfrm>
            <a:off x="8705837" y="5676138"/>
            <a:ext cx="2681185" cy="420623"/>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Transparent platform pricing that scales</a:t>
            </a:r>
          </a:p>
        </p:txBody>
      </p:sp>
      <p:cxnSp>
        <p:nvCxnSpPr>
          <p:cNvPr id="43" name="Connector 42"/>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Airwallex partnership proposal  ·  Confidential</a:t>
            </a:r>
          </a:p>
        </p:txBody>
      </p:sp>
      <p:sp>
        <p:nvSpPr>
          <p:cNvPr id="45" name="TextBox 44"/>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THE PROBLEM</a:t>
            </a:r>
          </a:p>
        </p:txBody>
      </p:sp>
      <p:sp>
        <p:nvSpPr>
          <p:cNvPr id="3" name="TextBox 2"/>
          <p:cNvSpPr txBox="1"/>
          <p:nvPr/>
        </p:nvSpPr>
        <p:spPr>
          <a:xfrm>
            <a:off x="658368" y="749808"/>
            <a:ext cx="10874959" cy="850392"/>
          </a:xfrm>
          <a:prstGeom prst="rect">
            <a:avLst/>
          </a:prstGeom>
          <a:noFill/>
        </p:spPr>
        <p:txBody>
          <a:bodyPr wrap="square" lIns="0" tIns="0" rIns="0" bIns="0" anchor="t">
            <a:spAutoFit/>
          </a:bodyPr>
          <a:lstStyle/>
          <a:p>
            <a:pPr algn="l">
              <a:lnSpc>
                <a:spcPct val="102000"/>
              </a:lnSpc>
              <a:spcAft>
                <a:spcPts val="0"/>
              </a:spcAft>
            </a:pPr>
            <a:r>
              <a:rPr sz="2700" b="1" i="0">
                <a:solidFill>
                  <a:srgbClr val="102236"/>
                </a:solidFill>
                <a:latin typeface="Arial"/>
              </a:rPr>
              <a:t>Asian merchants can sell globally. They cannot get paid globally.</a:t>
            </a:r>
          </a:p>
        </p:txBody>
      </p:sp>
      <p:sp>
        <p:nvSpPr>
          <p:cNvPr id="4" name="TextBox 3"/>
          <p:cNvSpPr txBox="1"/>
          <p:nvPr/>
        </p:nvSpPr>
        <p:spPr>
          <a:xfrm>
            <a:off x="658368" y="1680667"/>
            <a:ext cx="9326880" cy="564642"/>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The constraint is not demand. It is acceptance infrastructure — and it is why merchants leave their current providers.</a:t>
            </a:r>
          </a:p>
        </p:txBody>
      </p:sp>
      <p:sp>
        <p:nvSpPr>
          <p:cNvPr id="5" name="Rounded Rectangle 4"/>
          <p:cNvSpPr/>
          <p:nvPr/>
        </p:nvSpPr>
        <p:spPr>
          <a:xfrm>
            <a:off x="658368" y="2537917"/>
            <a:ext cx="2547289" cy="2395728"/>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58368" y="2537917"/>
            <a:ext cx="2547289" cy="45720"/>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59536" y="2720797"/>
            <a:ext cx="2144953" cy="457200"/>
          </a:xfrm>
          <a:prstGeom prst="rect">
            <a:avLst/>
          </a:prstGeom>
          <a:noFill/>
        </p:spPr>
        <p:txBody>
          <a:bodyPr wrap="square" lIns="0" tIns="0" rIns="0" bIns="0" anchor="t">
            <a:spAutoFit/>
          </a:bodyPr>
          <a:lstStyle/>
          <a:p>
            <a:pPr algn="l">
              <a:lnSpc>
                <a:spcPct val="105000"/>
              </a:lnSpc>
              <a:spcAft>
                <a:spcPts val="0"/>
              </a:spcAft>
            </a:pPr>
            <a:r>
              <a:rPr sz="1250" b="1" i="0">
                <a:solidFill>
                  <a:srgbClr val="102236"/>
                </a:solidFill>
                <a:latin typeface="Arial"/>
              </a:rPr>
              <a:t>No local entity</a:t>
            </a:r>
          </a:p>
        </p:txBody>
      </p:sp>
      <p:sp>
        <p:nvSpPr>
          <p:cNvPr id="8" name="TextBox 7"/>
          <p:cNvSpPr txBox="1"/>
          <p:nvPr/>
        </p:nvSpPr>
        <p:spPr>
          <a:xfrm>
            <a:off x="859536" y="3177997"/>
            <a:ext cx="2144953" cy="1005840"/>
          </a:xfrm>
          <a:prstGeom prst="rect">
            <a:avLst/>
          </a:prstGeom>
          <a:noFill/>
        </p:spPr>
        <p:txBody>
          <a:bodyPr wrap="square" lIns="0" tIns="0" rIns="0" bIns="0" anchor="t">
            <a:spAutoFit/>
          </a:bodyPr>
          <a:lstStyle/>
          <a:p>
            <a:pPr algn="l">
              <a:lnSpc>
                <a:spcPct val="128000"/>
              </a:lnSpc>
              <a:spcAft>
                <a:spcPts val="0"/>
              </a:spcAft>
            </a:pPr>
            <a:r>
              <a:rPr sz="1000" b="0" i="0">
                <a:solidFill>
                  <a:srgbClr val="5B6E82"/>
                </a:solidFill>
                <a:latin typeface="Arial"/>
              </a:rPr>
              <a:t>A merchant in Dhaka cannot open a local acquiring relationship. Offshore accounts mean materially higher declines.</a:t>
            </a:r>
          </a:p>
        </p:txBody>
      </p:sp>
      <p:cxnSp>
        <p:nvCxnSpPr>
          <p:cNvPr id="9" name="Connector 8"/>
          <p:cNvCxnSpPr/>
          <p:nvPr/>
        </p:nvCxnSpPr>
        <p:spPr>
          <a:xfrm>
            <a:off x="859536" y="4256989"/>
            <a:ext cx="2144953" cy="0"/>
          </a:xfrm>
          <a:prstGeom prst="line">
            <a:avLst/>
          </a:prstGeom>
          <a:ln w="8890">
            <a:solidFill>
              <a:srgbClr val="DFE6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9536" y="4366717"/>
            <a:ext cx="2144953" cy="384048"/>
          </a:xfrm>
          <a:prstGeom prst="rect">
            <a:avLst/>
          </a:prstGeom>
          <a:noFill/>
        </p:spPr>
        <p:txBody>
          <a:bodyPr wrap="square" lIns="0" tIns="0" rIns="0" bIns="0" anchor="t">
            <a:spAutoFit/>
          </a:bodyPr>
          <a:lstStyle/>
          <a:p>
            <a:pPr algn="l">
              <a:lnSpc>
                <a:spcPct val="115000"/>
              </a:lnSpc>
              <a:spcAft>
                <a:spcPts val="0"/>
              </a:spcAft>
            </a:pPr>
            <a:r>
              <a:rPr sz="880" b="1" i="0">
                <a:solidFill>
                  <a:srgbClr val="008A69"/>
                </a:solidFill>
                <a:latin typeface="Arial"/>
              </a:rPr>
              <a:t>Declines on the cross-border attempt</a:t>
            </a:r>
          </a:p>
        </p:txBody>
      </p:sp>
      <p:sp>
        <p:nvSpPr>
          <p:cNvPr id="11" name="Rounded Rectangle 10"/>
          <p:cNvSpPr/>
          <p:nvPr/>
        </p:nvSpPr>
        <p:spPr>
          <a:xfrm>
            <a:off x="3434257" y="2537917"/>
            <a:ext cx="2547289" cy="2395728"/>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434257" y="2537917"/>
            <a:ext cx="2547289" cy="45720"/>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35425" y="2720797"/>
            <a:ext cx="2144953" cy="457200"/>
          </a:xfrm>
          <a:prstGeom prst="rect">
            <a:avLst/>
          </a:prstGeom>
          <a:noFill/>
        </p:spPr>
        <p:txBody>
          <a:bodyPr wrap="square" lIns="0" tIns="0" rIns="0" bIns="0" anchor="t">
            <a:spAutoFit/>
          </a:bodyPr>
          <a:lstStyle/>
          <a:p>
            <a:pPr algn="l">
              <a:lnSpc>
                <a:spcPct val="105000"/>
              </a:lnSpc>
              <a:spcAft>
                <a:spcPts val="0"/>
              </a:spcAft>
            </a:pPr>
            <a:r>
              <a:rPr sz="1250" b="1" i="0">
                <a:solidFill>
                  <a:srgbClr val="102236"/>
                </a:solidFill>
                <a:latin typeface="Arial"/>
              </a:rPr>
              <a:t>Currency and settlement</a:t>
            </a:r>
          </a:p>
        </p:txBody>
      </p:sp>
      <p:sp>
        <p:nvSpPr>
          <p:cNvPr id="14" name="TextBox 13"/>
          <p:cNvSpPr txBox="1"/>
          <p:nvPr/>
        </p:nvSpPr>
        <p:spPr>
          <a:xfrm>
            <a:off x="3635425" y="3177997"/>
            <a:ext cx="2144953" cy="1005840"/>
          </a:xfrm>
          <a:prstGeom prst="rect">
            <a:avLst/>
          </a:prstGeom>
          <a:noFill/>
        </p:spPr>
        <p:txBody>
          <a:bodyPr wrap="square" lIns="0" tIns="0" rIns="0" bIns="0" anchor="t">
            <a:spAutoFit/>
          </a:bodyPr>
          <a:lstStyle/>
          <a:p>
            <a:pPr algn="l">
              <a:lnSpc>
                <a:spcPct val="128000"/>
              </a:lnSpc>
              <a:spcAft>
                <a:spcPts val="0"/>
              </a:spcAft>
            </a:pPr>
            <a:r>
              <a:rPr sz="1000" b="0" i="0">
                <a:solidFill>
                  <a:srgbClr val="5B6E82"/>
                </a:solidFill>
                <a:latin typeface="Arial"/>
              </a:rPr>
              <a:t>Paid in USD, converted twice, settled in 5–10 days. The FX margin is invisible until someone reconciles.</a:t>
            </a:r>
          </a:p>
        </p:txBody>
      </p:sp>
      <p:cxnSp>
        <p:nvCxnSpPr>
          <p:cNvPr id="15" name="Connector 14"/>
          <p:cNvCxnSpPr/>
          <p:nvPr/>
        </p:nvCxnSpPr>
        <p:spPr>
          <a:xfrm>
            <a:off x="3635425" y="4256989"/>
            <a:ext cx="2144954" cy="0"/>
          </a:xfrm>
          <a:prstGeom prst="line">
            <a:avLst/>
          </a:prstGeom>
          <a:ln w="8890">
            <a:solidFill>
              <a:srgbClr val="DFE6E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635425" y="4366717"/>
            <a:ext cx="2144953" cy="384048"/>
          </a:xfrm>
          <a:prstGeom prst="rect">
            <a:avLst/>
          </a:prstGeom>
          <a:noFill/>
        </p:spPr>
        <p:txBody>
          <a:bodyPr wrap="square" lIns="0" tIns="0" rIns="0" bIns="0" anchor="t">
            <a:spAutoFit/>
          </a:bodyPr>
          <a:lstStyle/>
          <a:p>
            <a:pPr algn="l">
              <a:lnSpc>
                <a:spcPct val="115000"/>
              </a:lnSpc>
              <a:spcAft>
                <a:spcPts val="0"/>
              </a:spcAft>
            </a:pPr>
            <a:r>
              <a:rPr sz="880" b="1" i="0">
                <a:solidFill>
                  <a:srgbClr val="008A69"/>
                </a:solidFill>
                <a:latin typeface="Arial"/>
              </a:rPr>
              <a:t>Double conversion, invisible margin</a:t>
            </a:r>
          </a:p>
        </p:txBody>
      </p:sp>
      <p:sp>
        <p:nvSpPr>
          <p:cNvPr id="17" name="Rounded Rectangle 16"/>
          <p:cNvSpPr/>
          <p:nvPr/>
        </p:nvSpPr>
        <p:spPr>
          <a:xfrm>
            <a:off x="6210147" y="2537917"/>
            <a:ext cx="2547289" cy="2395728"/>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10147" y="2537917"/>
            <a:ext cx="2547289" cy="45720"/>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11315" y="2720797"/>
            <a:ext cx="2144953" cy="457200"/>
          </a:xfrm>
          <a:prstGeom prst="rect">
            <a:avLst/>
          </a:prstGeom>
          <a:noFill/>
        </p:spPr>
        <p:txBody>
          <a:bodyPr wrap="square" lIns="0" tIns="0" rIns="0" bIns="0" anchor="t">
            <a:spAutoFit/>
          </a:bodyPr>
          <a:lstStyle/>
          <a:p>
            <a:pPr algn="l">
              <a:lnSpc>
                <a:spcPct val="105000"/>
              </a:lnSpc>
              <a:spcAft>
                <a:spcPts val="0"/>
              </a:spcAft>
            </a:pPr>
            <a:r>
              <a:rPr sz="1250" b="1" i="0">
                <a:solidFill>
                  <a:srgbClr val="102236"/>
                </a:solidFill>
                <a:latin typeface="Arial"/>
              </a:rPr>
              <a:t>Local methods missing</a:t>
            </a:r>
          </a:p>
        </p:txBody>
      </p:sp>
      <p:sp>
        <p:nvSpPr>
          <p:cNvPr id="20" name="TextBox 19"/>
          <p:cNvSpPr txBox="1"/>
          <p:nvPr/>
        </p:nvSpPr>
        <p:spPr>
          <a:xfrm>
            <a:off x="6411315" y="3177997"/>
            <a:ext cx="2144953" cy="1005840"/>
          </a:xfrm>
          <a:prstGeom prst="rect">
            <a:avLst/>
          </a:prstGeom>
          <a:noFill/>
        </p:spPr>
        <p:txBody>
          <a:bodyPr wrap="square" lIns="0" tIns="0" rIns="0" bIns="0" anchor="t">
            <a:spAutoFit/>
          </a:bodyPr>
          <a:lstStyle/>
          <a:p>
            <a:pPr algn="l">
              <a:lnSpc>
                <a:spcPct val="128000"/>
              </a:lnSpc>
              <a:spcAft>
                <a:spcPts val="0"/>
              </a:spcAft>
            </a:pPr>
            <a:r>
              <a:rPr sz="1000" b="0" i="0">
                <a:solidFill>
                  <a:srgbClr val="5B6E82"/>
                </a:solidFill>
                <a:latin typeface="Arial"/>
              </a:rPr>
              <a:t>Bank transfer, wallets and local schemes are how Asia pays. No single gateway covers three markets well.</a:t>
            </a:r>
          </a:p>
        </p:txBody>
      </p:sp>
      <p:cxnSp>
        <p:nvCxnSpPr>
          <p:cNvPr id="21" name="Connector 20"/>
          <p:cNvCxnSpPr/>
          <p:nvPr/>
        </p:nvCxnSpPr>
        <p:spPr>
          <a:xfrm>
            <a:off x="6411315" y="4256989"/>
            <a:ext cx="2144954" cy="0"/>
          </a:xfrm>
          <a:prstGeom prst="line">
            <a:avLst/>
          </a:prstGeom>
          <a:ln w="8890">
            <a:solidFill>
              <a:srgbClr val="DFE6E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11315" y="4366717"/>
            <a:ext cx="2144953" cy="384048"/>
          </a:xfrm>
          <a:prstGeom prst="rect">
            <a:avLst/>
          </a:prstGeom>
          <a:noFill/>
        </p:spPr>
        <p:txBody>
          <a:bodyPr wrap="square" lIns="0" tIns="0" rIns="0" bIns="0" anchor="t">
            <a:spAutoFit/>
          </a:bodyPr>
          <a:lstStyle/>
          <a:p>
            <a:pPr algn="l">
              <a:lnSpc>
                <a:spcPct val="115000"/>
              </a:lnSpc>
              <a:spcAft>
                <a:spcPts val="0"/>
              </a:spcAft>
            </a:pPr>
            <a:r>
              <a:rPr sz="880" b="1" i="0">
                <a:solidFill>
                  <a:srgbClr val="008A69"/>
                </a:solidFill>
                <a:latin typeface="Arial"/>
              </a:rPr>
              <a:t>Abandonment at the payment step</a:t>
            </a:r>
          </a:p>
        </p:txBody>
      </p:sp>
      <p:sp>
        <p:nvSpPr>
          <p:cNvPr id="23" name="Rounded Rectangle 22"/>
          <p:cNvSpPr/>
          <p:nvPr/>
        </p:nvSpPr>
        <p:spPr>
          <a:xfrm>
            <a:off x="8986037" y="2537917"/>
            <a:ext cx="2547289" cy="2395728"/>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986037" y="2537917"/>
            <a:ext cx="2547289" cy="45720"/>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187205" y="2720797"/>
            <a:ext cx="2144953" cy="457200"/>
          </a:xfrm>
          <a:prstGeom prst="rect">
            <a:avLst/>
          </a:prstGeom>
          <a:noFill/>
        </p:spPr>
        <p:txBody>
          <a:bodyPr wrap="square" lIns="0" tIns="0" rIns="0" bIns="0" anchor="t">
            <a:spAutoFit/>
          </a:bodyPr>
          <a:lstStyle/>
          <a:p>
            <a:pPr algn="l">
              <a:lnSpc>
                <a:spcPct val="105000"/>
              </a:lnSpc>
              <a:spcAft>
                <a:spcPts val="0"/>
              </a:spcAft>
            </a:pPr>
            <a:r>
              <a:rPr sz="1250" b="1" i="0">
                <a:solidFill>
                  <a:srgbClr val="102236"/>
                </a:solidFill>
                <a:latin typeface="Arial"/>
              </a:rPr>
              <a:t>Onboarding friction</a:t>
            </a:r>
          </a:p>
        </p:txBody>
      </p:sp>
      <p:sp>
        <p:nvSpPr>
          <p:cNvPr id="26" name="TextBox 25"/>
          <p:cNvSpPr txBox="1"/>
          <p:nvPr/>
        </p:nvSpPr>
        <p:spPr>
          <a:xfrm>
            <a:off x="9187205" y="3177997"/>
            <a:ext cx="2144953" cy="1005840"/>
          </a:xfrm>
          <a:prstGeom prst="rect">
            <a:avLst/>
          </a:prstGeom>
          <a:noFill/>
        </p:spPr>
        <p:txBody>
          <a:bodyPr wrap="square" lIns="0" tIns="0" rIns="0" bIns="0" anchor="t">
            <a:spAutoFit/>
          </a:bodyPr>
          <a:lstStyle/>
          <a:p>
            <a:pPr algn="l">
              <a:lnSpc>
                <a:spcPct val="128000"/>
              </a:lnSpc>
              <a:spcAft>
                <a:spcPts val="0"/>
              </a:spcAft>
            </a:pPr>
            <a:r>
              <a:rPr sz="1000" b="0" i="0">
                <a:solidFill>
                  <a:srgbClr val="5B6E82"/>
                </a:solidFill>
                <a:latin typeface="Arial"/>
              </a:rPr>
              <a:t>Every provider repeats KYB, demands reserves, takes weeks. Merchants give up or route volume elsewhere.</a:t>
            </a:r>
          </a:p>
        </p:txBody>
      </p:sp>
      <p:cxnSp>
        <p:nvCxnSpPr>
          <p:cNvPr id="27" name="Connector 26"/>
          <p:cNvCxnSpPr/>
          <p:nvPr/>
        </p:nvCxnSpPr>
        <p:spPr>
          <a:xfrm>
            <a:off x="9187205" y="4256989"/>
            <a:ext cx="2144954" cy="0"/>
          </a:xfrm>
          <a:prstGeom prst="line">
            <a:avLst/>
          </a:prstGeom>
          <a:ln w="8890">
            <a:solidFill>
              <a:srgbClr val="DFE6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187205" y="4366717"/>
            <a:ext cx="2144953" cy="384048"/>
          </a:xfrm>
          <a:prstGeom prst="rect">
            <a:avLst/>
          </a:prstGeom>
          <a:noFill/>
        </p:spPr>
        <p:txBody>
          <a:bodyPr wrap="square" lIns="0" tIns="0" rIns="0" bIns="0" anchor="t">
            <a:spAutoFit/>
          </a:bodyPr>
          <a:lstStyle/>
          <a:p>
            <a:pPr algn="l">
              <a:lnSpc>
                <a:spcPct val="115000"/>
              </a:lnSpc>
              <a:spcAft>
                <a:spcPts val="0"/>
              </a:spcAft>
            </a:pPr>
            <a:r>
              <a:rPr sz="880" b="1" i="0">
                <a:solidFill>
                  <a:srgbClr val="008A69"/>
                </a:solidFill>
                <a:latin typeface="Arial"/>
              </a:rPr>
              <a:t>Weeks of underwriting, repeated</a:t>
            </a:r>
          </a:p>
        </p:txBody>
      </p:sp>
      <p:sp>
        <p:nvSpPr>
          <p:cNvPr id="29" name="Rounded Rectangle 28"/>
          <p:cNvSpPr/>
          <p:nvPr/>
        </p:nvSpPr>
        <p:spPr>
          <a:xfrm>
            <a:off x="658368" y="5079949"/>
            <a:ext cx="10874959" cy="777240"/>
          </a:xfrm>
          <a:prstGeom prst="roundRect">
            <a:avLst>
              <a:gd name="adj" fmla="val 5000"/>
            </a:avLst>
          </a:prstGeom>
          <a:solidFill>
            <a:srgbClr val="0A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78407" y="5235397"/>
            <a:ext cx="10234879" cy="530352"/>
          </a:xfrm>
          <a:prstGeom prst="rect">
            <a:avLst/>
          </a:prstGeom>
          <a:noFill/>
        </p:spPr>
        <p:txBody>
          <a:bodyPr wrap="square" lIns="0" tIns="0" rIns="0" bIns="0" anchor="t">
            <a:spAutoFit/>
          </a:bodyPr>
          <a:lstStyle/>
          <a:p>
            <a:pPr algn="l">
              <a:lnSpc>
                <a:spcPct val="120000"/>
              </a:lnSpc>
              <a:spcAft>
                <a:spcPts val="0"/>
              </a:spcAft>
            </a:pPr>
            <a:r>
              <a:rPr sz="1300" b="0" i="0">
                <a:solidFill>
                  <a:srgbClr val="FFFFFF"/>
                </a:solidFill>
                <a:latin typeface="Arial"/>
              </a:rPr>
              <a:t>Merchants do not need another dashboard. They need one relationship that accepts money where their buyers are, and pays them where they bank.</a:t>
            </a:r>
          </a:p>
        </p:txBody>
      </p:sp>
      <p:cxnSp>
        <p:nvCxnSpPr>
          <p:cNvPr id="31" name="Connector 30"/>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Airwallex partnership proposal  ·  Confidential</a:t>
            </a:r>
          </a:p>
        </p:txBody>
      </p:sp>
      <p:sp>
        <p:nvSpPr>
          <p:cNvPr id="33" name="TextBox 32"/>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GO-TO-MARKET</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Asia first, then the world</a:t>
            </a:r>
          </a:p>
        </p:txBody>
      </p:sp>
      <p:sp>
        <p:nvSpPr>
          <p:cNvPr id="4" name="TextBox 3"/>
          <p:cNvSpPr txBox="1"/>
          <p:nvPr/>
        </p:nvSpPr>
        <p:spPr>
          <a:xfrm>
            <a:off x="658368" y="1307592"/>
            <a:ext cx="9326880" cy="564642"/>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Sequence matters: density in a few corridors beats thin coverage everywhere. Each corridor goes live only when Airwallex confirms coverage.</a:t>
            </a:r>
          </a:p>
        </p:txBody>
      </p:sp>
      <p:sp>
        <p:nvSpPr>
          <p:cNvPr id="5" name="Rounded Rectangle 4"/>
          <p:cNvSpPr/>
          <p:nvPr/>
        </p:nvSpPr>
        <p:spPr>
          <a:xfrm>
            <a:off x="658368" y="2073402"/>
            <a:ext cx="4663440" cy="941832"/>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86968" y="2173986"/>
            <a:ext cx="4206240" cy="201168"/>
          </a:xfrm>
          <a:prstGeom prst="rect">
            <a:avLst/>
          </a:prstGeom>
          <a:noFill/>
        </p:spPr>
        <p:txBody>
          <a:bodyPr wrap="square" lIns="0" tIns="0" rIns="0" bIns="0" anchor="t">
            <a:spAutoFit/>
          </a:bodyPr>
          <a:lstStyle/>
          <a:p>
            <a:pPr algn="l">
              <a:lnSpc>
                <a:spcPct val="112000"/>
              </a:lnSpc>
              <a:spcAft>
                <a:spcPts val="0"/>
              </a:spcAft>
            </a:pPr>
            <a:r>
              <a:rPr sz="919" b="1" i="0" spc="120">
                <a:solidFill>
                  <a:srgbClr val="008A69"/>
                </a:solidFill>
                <a:latin typeface="Arial"/>
              </a:rPr>
              <a:t>SOUTH ASIA</a:t>
            </a:r>
          </a:p>
        </p:txBody>
      </p:sp>
      <p:sp>
        <p:nvSpPr>
          <p:cNvPr id="7" name="TextBox 6"/>
          <p:cNvSpPr txBox="1"/>
          <p:nvPr/>
        </p:nvSpPr>
        <p:spPr>
          <a:xfrm>
            <a:off x="886968" y="2393442"/>
            <a:ext cx="4206240" cy="237744"/>
          </a:xfrm>
          <a:prstGeom prst="rect">
            <a:avLst/>
          </a:prstGeom>
          <a:noFill/>
        </p:spPr>
        <p:txBody>
          <a:bodyPr wrap="square" lIns="0" tIns="0" rIns="0" bIns="0" anchor="t">
            <a:spAutoFit/>
          </a:bodyPr>
          <a:lstStyle/>
          <a:p>
            <a:pPr algn="l">
              <a:lnSpc>
                <a:spcPct val="112000"/>
              </a:lnSpc>
              <a:spcAft>
                <a:spcPts val="0"/>
              </a:spcAft>
            </a:pPr>
            <a:r>
              <a:rPr sz="1030" b="1" i="0">
                <a:solidFill>
                  <a:srgbClr val="102236"/>
                </a:solidFill>
                <a:latin typeface="Arial"/>
              </a:rPr>
              <a:t>Bangladesh · India · Pakistan · Sri Lanka</a:t>
            </a:r>
          </a:p>
        </p:txBody>
      </p:sp>
      <p:sp>
        <p:nvSpPr>
          <p:cNvPr id="8" name="TextBox 7"/>
          <p:cNvSpPr txBox="1"/>
          <p:nvPr/>
        </p:nvSpPr>
        <p:spPr>
          <a:xfrm>
            <a:off x="886968" y="2667762"/>
            <a:ext cx="4206240" cy="256032"/>
          </a:xfrm>
          <a:prstGeom prst="rect">
            <a:avLst/>
          </a:prstGeom>
          <a:noFill/>
        </p:spPr>
        <p:txBody>
          <a:bodyPr wrap="square" lIns="0" tIns="0" rIns="0" bIns="0" anchor="t">
            <a:spAutoFit/>
          </a:bodyPr>
          <a:lstStyle/>
          <a:p>
            <a:pPr algn="l">
              <a:lnSpc>
                <a:spcPct val="112000"/>
              </a:lnSpc>
              <a:spcAft>
                <a:spcPts val="0"/>
              </a:spcAft>
            </a:pPr>
            <a:r>
              <a:rPr sz="880" b="0" i="0">
                <a:solidFill>
                  <a:srgbClr val="5B6E82"/>
                </a:solidFill>
                <a:latin typeface="Arial"/>
              </a:rPr>
              <a:t>Cards, local bank transfer, wallets — the largest underserved merchant base</a:t>
            </a:r>
          </a:p>
        </p:txBody>
      </p:sp>
      <p:sp>
        <p:nvSpPr>
          <p:cNvPr id="9" name="Rounded Rectangle 8"/>
          <p:cNvSpPr/>
          <p:nvPr/>
        </p:nvSpPr>
        <p:spPr>
          <a:xfrm>
            <a:off x="658368" y="3106674"/>
            <a:ext cx="4663440" cy="941832"/>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86968" y="3207258"/>
            <a:ext cx="4206240" cy="201168"/>
          </a:xfrm>
          <a:prstGeom prst="rect">
            <a:avLst/>
          </a:prstGeom>
          <a:noFill/>
        </p:spPr>
        <p:txBody>
          <a:bodyPr wrap="square" lIns="0" tIns="0" rIns="0" bIns="0" anchor="t">
            <a:spAutoFit/>
          </a:bodyPr>
          <a:lstStyle/>
          <a:p>
            <a:pPr algn="l">
              <a:lnSpc>
                <a:spcPct val="112000"/>
              </a:lnSpc>
              <a:spcAft>
                <a:spcPts val="0"/>
              </a:spcAft>
            </a:pPr>
            <a:r>
              <a:rPr sz="919" b="1" i="0" spc="120">
                <a:solidFill>
                  <a:srgbClr val="008A69"/>
                </a:solidFill>
                <a:latin typeface="Arial"/>
              </a:rPr>
              <a:t>SOUTH-EAST ASIA</a:t>
            </a:r>
          </a:p>
        </p:txBody>
      </p:sp>
      <p:sp>
        <p:nvSpPr>
          <p:cNvPr id="11" name="TextBox 10"/>
          <p:cNvSpPr txBox="1"/>
          <p:nvPr/>
        </p:nvSpPr>
        <p:spPr>
          <a:xfrm>
            <a:off x="886968" y="3426714"/>
            <a:ext cx="4206240" cy="237744"/>
          </a:xfrm>
          <a:prstGeom prst="rect">
            <a:avLst/>
          </a:prstGeom>
          <a:noFill/>
        </p:spPr>
        <p:txBody>
          <a:bodyPr wrap="square" lIns="0" tIns="0" rIns="0" bIns="0" anchor="t">
            <a:spAutoFit/>
          </a:bodyPr>
          <a:lstStyle/>
          <a:p>
            <a:pPr algn="l">
              <a:lnSpc>
                <a:spcPct val="112000"/>
              </a:lnSpc>
              <a:spcAft>
                <a:spcPts val="0"/>
              </a:spcAft>
            </a:pPr>
            <a:r>
              <a:rPr sz="1030" b="1" i="0">
                <a:solidFill>
                  <a:srgbClr val="102236"/>
                </a:solidFill>
                <a:latin typeface="Arial"/>
              </a:rPr>
              <a:t>Singapore · Malaysia · Indonesia · Philippines</a:t>
            </a:r>
          </a:p>
        </p:txBody>
      </p:sp>
      <p:sp>
        <p:nvSpPr>
          <p:cNvPr id="12" name="TextBox 11"/>
          <p:cNvSpPr txBox="1"/>
          <p:nvPr/>
        </p:nvSpPr>
        <p:spPr>
          <a:xfrm>
            <a:off x="886968" y="3701034"/>
            <a:ext cx="4206240" cy="256032"/>
          </a:xfrm>
          <a:prstGeom prst="rect">
            <a:avLst/>
          </a:prstGeom>
          <a:noFill/>
        </p:spPr>
        <p:txBody>
          <a:bodyPr wrap="square" lIns="0" tIns="0" rIns="0" bIns="0" anchor="t">
            <a:spAutoFit/>
          </a:bodyPr>
          <a:lstStyle/>
          <a:p>
            <a:pPr algn="l">
              <a:lnSpc>
                <a:spcPct val="112000"/>
              </a:lnSpc>
              <a:spcAft>
                <a:spcPts val="0"/>
              </a:spcAft>
            </a:pPr>
            <a:r>
              <a:rPr sz="880" b="0" i="0">
                <a:solidFill>
                  <a:srgbClr val="5B6E82"/>
                </a:solidFill>
                <a:latin typeface="Arial"/>
              </a:rPr>
              <a:t>Cards plus FPX, DuitNow, QRIS, GCash, GrabPay-class wallets</a:t>
            </a:r>
          </a:p>
        </p:txBody>
      </p:sp>
      <p:sp>
        <p:nvSpPr>
          <p:cNvPr id="13" name="Rounded Rectangle 12"/>
          <p:cNvSpPr/>
          <p:nvPr/>
        </p:nvSpPr>
        <p:spPr>
          <a:xfrm>
            <a:off x="658368" y="4139946"/>
            <a:ext cx="4663440" cy="941832"/>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86968" y="4240530"/>
            <a:ext cx="4206240" cy="201168"/>
          </a:xfrm>
          <a:prstGeom prst="rect">
            <a:avLst/>
          </a:prstGeom>
          <a:noFill/>
        </p:spPr>
        <p:txBody>
          <a:bodyPr wrap="square" lIns="0" tIns="0" rIns="0" bIns="0" anchor="t">
            <a:spAutoFit/>
          </a:bodyPr>
          <a:lstStyle/>
          <a:p>
            <a:pPr algn="l">
              <a:lnSpc>
                <a:spcPct val="112000"/>
              </a:lnSpc>
              <a:spcAft>
                <a:spcPts val="0"/>
              </a:spcAft>
            </a:pPr>
            <a:r>
              <a:rPr sz="919" b="1" i="0" spc="120">
                <a:solidFill>
                  <a:srgbClr val="008A69"/>
                </a:solidFill>
                <a:latin typeface="Arial"/>
              </a:rPr>
              <a:t>EAST ASIA</a:t>
            </a:r>
          </a:p>
        </p:txBody>
      </p:sp>
      <p:sp>
        <p:nvSpPr>
          <p:cNvPr id="15" name="TextBox 14"/>
          <p:cNvSpPr txBox="1"/>
          <p:nvPr/>
        </p:nvSpPr>
        <p:spPr>
          <a:xfrm>
            <a:off x="886968" y="4459986"/>
            <a:ext cx="4206240" cy="237744"/>
          </a:xfrm>
          <a:prstGeom prst="rect">
            <a:avLst/>
          </a:prstGeom>
          <a:noFill/>
        </p:spPr>
        <p:txBody>
          <a:bodyPr wrap="square" lIns="0" tIns="0" rIns="0" bIns="0" anchor="t">
            <a:spAutoFit/>
          </a:bodyPr>
          <a:lstStyle/>
          <a:p>
            <a:pPr algn="l">
              <a:lnSpc>
                <a:spcPct val="112000"/>
              </a:lnSpc>
              <a:spcAft>
                <a:spcPts val="0"/>
              </a:spcAft>
            </a:pPr>
            <a:r>
              <a:rPr sz="1030" b="1" i="0">
                <a:solidFill>
                  <a:srgbClr val="102236"/>
                </a:solidFill>
                <a:latin typeface="Arial"/>
              </a:rPr>
              <a:t>Hong Kong · Japan</a:t>
            </a:r>
          </a:p>
        </p:txBody>
      </p:sp>
      <p:sp>
        <p:nvSpPr>
          <p:cNvPr id="16" name="TextBox 15"/>
          <p:cNvSpPr txBox="1"/>
          <p:nvPr/>
        </p:nvSpPr>
        <p:spPr>
          <a:xfrm>
            <a:off x="886968" y="4734306"/>
            <a:ext cx="4206240" cy="256032"/>
          </a:xfrm>
          <a:prstGeom prst="rect">
            <a:avLst/>
          </a:prstGeom>
          <a:noFill/>
        </p:spPr>
        <p:txBody>
          <a:bodyPr wrap="square" lIns="0" tIns="0" rIns="0" bIns="0" anchor="t">
            <a:spAutoFit/>
          </a:bodyPr>
          <a:lstStyle/>
          <a:p>
            <a:pPr algn="l">
              <a:lnSpc>
                <a:spcPct val="112000"/>
              </a:lnSpc>
              <a:spcAft>
                <a:spcPts val="0"/>
              </a:spcAft>
            </a:pPr>
            <a:r>
              <a:rPr sz="880" b="0" i="0">
                <a:solidFill>
                  <a:srgbClr val="5B6E82"/>
                </a:solidFill>
                <a:latin typeface="Arial"/>
              </a:rPr>
              <a:t>Cards and wallets; strongest buyer-side card acceptance</a:t>
            </a:r>
          </a:p>
        </p:txBody>
      </p:sp>
      <p:sp>
        <p:nvSpPr>
          <p:cNvPr id="17" name="Rounded Rectangle 16"/>
          <p:cNvSpPr/>
          <p:nvPr/>
        </p:nvSpPr>
        <p:spPr>
          <a:xfrm>
            <a:off x="658368" y="5173218"/>
            <a:ext cx="4663440" cy="941832"/>
          </a:xfrm>
          <a:prstGeom prst="roundRect">
            <a:avLst>
              <a:gd name="adj" fmla="val 5000"/>
            </a:avLst>
          </a:prstGeom>
          <a:solidFill>
            <a:srgbClr val="0A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86968" y="5273802"/>
            <a:ext cx="4206240" cy="201168"/>
          </a:xfrm>
          <a:prstGeom prst="rect">
            <a:avLst/>
          </a:prstGeom>
          <a:noFill/>
        </p:spPr>
        <p:txBody>
          <a:bodyPr wrap="square" lIns="0" tIns="0" rIns="0" bIns="0" anchor="t">
            <a:spAutoFit/>
          </a:bodyPr>
          <a:lstStyle/>
          <a:p>
            <a:pPr algn="l">
              <a:lnSpc>
                <a:spcPct val="112000"/>
              </a:lnSpc>
              <a:spcAft>
                <a:spcPts val="0"/>
              </a:spcAft>
            </a:pPr>
            <a:r>
              <a:rPr sz="919" b="1" i="0" spc="120">
                <a:solidFill>
                  <a:srgbClr val="00B589"/>
                </a:solidFill>
                <a:latin typeface="Arial"/>
              </a:rPr>
              <a:t>PHASE 3</a:t>
            </a:r>
          </a:p>
        </p:txBody>
      </p:sp>
      <p:sp>
        <p:nvSpPr>
          <p:cNvPr id="19" name="TextBox 18"/>
          <p:cNvSpPr txBox="1"/>
          <p:nvPr/>
        </p:nvSpPr>
        <p:spPr>
          <a:xfrm>
            <a:off x="886968" y="5493257"/>
            <a:ext cx="4206240" cy="237744"/>
          </a:xfrm>
          <a:prstGeom prst="rect">
            <a:avLst/>
          </a:prstGeom>
          <a:noFill/>
        </p:spPr>
        <p:txBody>
          <a:bodyPr wrap="square" lIns="0" tIns="0" rIns="0" bIns="0" anchor="t">
            <a:spAutoFit/>
          </a:bodyPr>
          <a:lstStyle/>
          <a:p>
            <a:pPr algn="l">
              <a:lnSpc>
                <a:spcPct val="112000"/>
              </a:lnSpc>
              <a:spcAft>
                <a:spcPts val="0"/>
              </a:spcAft>
            </a:pPr>
            <a:r>
              <a:rPr sz="1030" b="1" i="0">
                <a:solidFill>
                  <a:srgbClr val="FFFFFF"/>
                </a:solidFill>
                <a:latin typeface="Arial"/>
              </a:rPr>
              <a:t>EU / UK · US / Canada · Brazil / Mexico</a:t>
            </a:r>
          </a:p>
        </p:txBody>
      </p:sp>
      <p:sp>
        <p:nvSpPr>
          <p:cNvPr id="20" name="TextBox 19"/>
          <p:cNvSpPr txBox="1"/>
          <p:nvPr/>
        </p:nvSpPr>
        <p:spPr>
          <a:xfrm>
            <a:off x="886968" y="5767578"/>
            <a:ext cx="4206240" cy="256032"/>
          </a:xfrm>
          <a:prstGeom prst="rect">
            <a:avLst/>
          </a:prstGeom>
          <a:noFill/>
        </p:spPr>
        <p:txBody>
          <a:bodyPr wrap="square" lIns="0" tIns="0" rIns="0" bIns="0" anchor="t">
            <a:spAutoFit/>
          </a:bodyPr>
          <a:lstStyle/>
          <a:p>
            <a:pPr algn="l">
              <a:lnSpc>
                <a:spcPct val="112000"/>
              </a:lnSpc>
              <a:spcAft>
                <a:spcPts val="0"/>
              </a:spcAft>
            </a:pPr>
            <a:r>
              <a:rPr sz="880" b="0" i="0">
                <a:solidFill>
                  <a:srgbClr val="9FB3C6"/>
                </a:solidFill>
                <a:latin typeface="Arial"/>
              </a:rPr>
              <a:t>SCA-ready 3DS2 for EEA; local rails where available</a:t>
            </a:r>
          </a:p>
        </p:txBody>
      </p:sp>
      <p:sp>
        <p:nvSpPr>
          <p:cNvPr id="21" name="TextBox 20"/>
          <p:cNvSpPr txBox="1"/>
          <p:nvPr/>
        </p:nvSpPr>
        <p:spPr>
          <a:xfrm>
            <a:off x="5733288" y="2164842"/>
            <a:ext cx="5800039" cy="274320"/>
          </a:xfrm>
          <a:prstGeom prst="rect">
            <a:avLst/>
          </a:prstGeom>
          <a:noFill/>
        </p:spPr>
        <p:txBody>
          <a:bodyPr wrap="square" lIns="0" tIns="0" rIns="0" bIns="0" anchor="t">
            <a:spAutoFit/>
          </a:bodyPr>
          <a:lstStyle/>
          <a:p>
            <a:pPr algn="l">
              <a:lnSpc>
                <a:spcPct val="112000"/>
              </a:lnSpc>
              <a:spcAft>
                <a:spcPts val="0"/>
              </a:spcAft>
            </a:pPr>
            <a:r>
              <a:rPr sz="950" b="1" i="0" spc="140">
                <a:solidFill>
                  <a:srgbClr val="5B6E82"/>
                </a:solidFill>
                <a:latin typeface="Arial"/>
              </a:rPr>
              <a:t>WHY THIS ORDER</a:t>
            </a:r>
          </a:p>
        </p:txBody>
      </p:sp>
      <p:sp>
        <p:nvSpPr>
          <p:cNvPr id="22" name="TextBox 21"/>
          <p:cNvSpPr txBox="1"/>
          <p:nvPr/>
        </p:nvSpPr>
        <p:spPr>
          <a:xfrm>
            <a:off x="5733288" y="2512314"/>
            <a:ext cx="5800039" cy="2377440"/>
          </a:xfrm>
          <a:prstGeom prst="rect">
            <a:avLst/>
          </a:prstGeom>
          <a:noFill/>
        </p:spPr>
        <p:txBody>
          <a:bodyPr wrap="square" lIns="0" rIns="0" tIns="0" bIns="0">
            <a:spAutoFit/>
          </a:bodyPr>
          <a:lstStyle/>
          <a:p>
            <a:pPr marL="219456" indent="-219456">
              <a:lnSpc>
                <a:spcPct val="116000"/>
              </a:lnSpc>
              <a:spcAft>
                <a:spcPts val="1000"/>
              </a:spcAft>
              <a:buClr>
                <a:srgbClr val="00B589"/>
              </a:buClr>
              <a:buFont typeface="Arial"/>
              <a:buChar char="—"/>
            </a:pPr>
            <a:r>
              <a:rPr sz="1100" b="1" i="0">
                <a:solidFill>
                  <a:srgbClr val="102236"/>
                </a:solidFill>
                <a:latin typeface="Arial"/>
              </a:rPr>
              <a:t>Wedge: </a:t>
            </a:r>
            <a:r>
              <a:rPr sz="1100" b="0" i="0">
                <a:solidFill>
                  <a:srgbClr val="102236"/>
                </a:solidFill>
                <a:latin typeface="Arial"/>
              </a:rPr>
              <a:t>Asian merchants invoicing Western buyers in USD. The buyer's card is the rail; the merchant's bank account is the problem we solve.</a:t>
            </a:r>
          </a:p>
          <a:p>
            <a:pPr marL="219456" indent="-219456">
              <a:lnSpc>
                <a:spcPct val="116000"/>
              </a:lnSpc>
              <a:spcAft>
                <a:spcPts val="1000"/>
              </a:spcAft>
              <a:buClr>
                <a:srgbClr val="00B589"/>
              </a:buClr>
              <a:buFont typeface="Arial"/>
              <a:buChar char="—"/>
            </a:pPr>
            <a:r>
              <a:rPr sz="1100" b="1" i="0">
                <a:solidFill>
                  <a:srgbClr val="102236"/>
                </a:solidFill>
                <a:latin typeface="Arial"/>
              </a:rPr>
              <a:t>Density: </a:t>
            </a:r>
            <a:r>
              <a:rPr sz="1100" b="0" i="0">
                <a:solidFill>
                  <a:srgbClr val="102236"/>
                </a:solidFill>
                <a:latin typeface="Arial"/>
              </a:rPr>
              <a:t>A corridor is only worth opening when we can support the methods buyers actually use, not just cards.</a:t>
            </a:r>
          </a:p>
          <a:p>
            <a:pPr marL="219456" indent="-219456">
              <a:lnSpc>
                <a:spcPct val="116000"/>
              </a:lnSpc>
              <a:spcAft>
                <a:spcPts val="1000"/>
              </a:spcAft>
              <a:buClr>
                <a:srgbClr val="00B589"/>
              </a:buClr>
              <a:buFont typeface="Arial"/>
              <a:buChar char="—"/>
            </a:pPr>
            <a:r>
              <a:rPr sz="1100" b="1" i="0">
                <a:solidFill>
                  <a:srgbClr val="102236"/>
                </a:solidFill>
                <a:latin typeface="Arial"/>
              </a:rPr>
              <a:t>Dependency: </a:t>
            </a:r>
            <a:r>
              <a:rPr sz="1100" b="0" i="0">
                <a:solidFill>
                  <a:srgbClr val="102236"/>
                </a:solidFill>
                <a:latin typeface="Arial"/>
              </a:rPr>
              <a:t>Each corridor depends on your licensing and local acquiring. We plan around your coverage map, not our wish list.</a:t>
            </a:r>
          </a:p>
          <a:p>
            <a:pPr marL="219456" indent="-219456">
              <a:lnSpc>
                <a:spcPct val="116000"/>
              </a:lnSpc>
              <a:spcAft>
                <a:spcPts val="1000"/>
              </a:spcAft>
              <a:buClr>
                <a:srgbClr val="00B589"/>
              </a:buClr>
              <a:buFont typeface="Arial"/>
              <a:buChar char="—"/>
            </a:pPr>
            <a:r>
              <a:rPr sz="1100" b="1" i="0">
                <a:solidFill>
                  <a:srgbClr val="102236"/>
                </a:solidFill>
                <a:latin typeface="Arial"/>
              </a:rPr>
              <a:t>Expansion: </a:t>
            </a:r>
            <a:r>
              <a:rPr sz="1100" b="0" i="0">
                <a:solidFill>
                  <a:srgbClr val="102236"/>
                </a:solidFill>
                <a:latin typeface="Arial"/>
              </a:rPr>
              <a:t>EU/UK and US come once SCA and 3DS2 flows are certified — not before.</a:t>
            </a:r>
          </a:p>
        </p:txBody>
      </p:sp>
      <p:cxnSp>
        <p:nvCxnSpPr>
          <p:cNvPr id="23" name="Connector 22"/>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Airwallex partnership proposal  ·  Confidential</a:t>
            </a:r>
          </a:p>
        </p:txBody>
      </p:sp>
      <p:sp>
        <p:nvSpPr>
          <p:cNvPr id="25" name="TextBox 24"/>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PRODUCT — PHASE 1</a:t>
            </a:r>
          </a:p>
        </p:txBody>
      </p:sp>
      <p:sp>
        <p:nvSpPr>
          <p:cNvPr id="3" name="TextBox 2"/>
          <p:cNvSpPr txBox="1"/>
          <p:nvPr/>
        </p:nvSpPr>
        <p:spPr>
          <a:xfrm>
            <a:off x="658368" y="749808"/>
            <a:ext cx="10874959" cy="480060"/>
          </a:xfrm>
          <a:prstGeom prst="rect">
            <a:avLst/>
          </a:prstGeom>
          <a:noFill/>
        </p:spPr>
        <p:txBody>
          <a:bodyPr wrap="square" lIns="0" tIns="0" rIns="0" bIns="0" anchor="t">
            <a:spAutoFit/>
          </a:bodyPr>
          <a:lstStyle/>
          <a:p>
            <a:pPr algn="l">
              <a:lnSpc>
                <a:spcPct val="102000"/>
              </a:lnSpc>
              <a:spcAft>
                <a:spcPts val="0"/>
              </a:spcAft>
            </a:pPr>
            <a:r>
              <a:rPr sz="2700" b="1" i="0">
                <a:solidFill>
                  <a:srgbClr val="102236"/>
                </a:solidFill>
                <a:latin typeface="Arial"/>
              </a:rPr>
              <a:t>One integration, three ways for a merchant to plug in</a:t>
            </a:r>
          </a:p>
        </p:txBody>
      </p:sp>
      <p:sp>
        <p:nvSpPr>
          <p:cNvPr id="4" name="TextBox 3"/>
          <p:cNvSpPr txBox="1"/>
          <p:nvPr/>
        </p:nvSpPr>
        <p:spPr>
          <a:xfrm>
            <a:off x="658368" y="1260957"/>
            <a:ext cx="9326880" cy="328041"/>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The smallest product that is genuinely useful: a merchant can take a card payment this week.</a:t>
            </a:r>
          </a:p>
        </p:txBody>
      </p:sp>
      <p:sp>
        <p:nvSpPr>
          <p:cNvPr id="5" name="Rounded Rectangle 4"/>
          <p:cNvSpPr/>
          <p:nvPr/>
        </p:nvSpPr>
        <p:spPr>
          <a:xfrm>
            <a:off x="658368" y="1863318"/>
            <a:ext cx="3472586" cy="1755648"/>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96112" y="2064486"/>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01</a:t>
            </a:r>
          </a:p>
        </p:txBody>
      </p:sp>
      <p:sp>
        <p:nvSpPr>
          <p:cNvPr id="7" name="TextBox 6"/>
          <p:cNvSpPr txBox="1"/>
          <p:nvPr/>
        </p:nvSpPr>
        <p:spPr>
          <a:xfrm>
            <a:off x="896112" y="2302230"/>
            <a:ext cx="2997098"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Hosted checkout</a:t>
            </a:r>
          </a:p>
        </p:txBody>
      </p:sp>
      <p:sp>
        <p:nvSpPr>
          <p:cNvPr id="8" name="TextBox 7"/>
          <p:cNvSpPr txBox="1"/>
          <p:nvPr/>
        </p:nvSpPr>
        <p:spPr>
          <a:xfrm>
            <a:off x="896112" y="2682849"/>
            <a:ext cx="2997098" cy="771524"/>
          </a:xfrm>
          <a:prstGeom prst="rect">
            <a:avLst/>
          </a:prstGeom>
          <a:noFill/>
        </p:spPr>
        <p:txBody>
          <a:bodyPr wrap="square" lIns="0" tIns="0" rIns="0" bIns="0" anchor="t">
            <a:spAutoFit/>
          </a:bodyPr>
          <a:lstStyle/>
          <a:p>
            <a:pPr algn="l">
              <a:lnSpc>
                <a:spcPct val="122000"/>
              </a:lnSpc>
              <a:spcAft>
                <a:spcPts val="0"/>
              </a:spcAft>
            </a:pPr>
            <a:r>
              <a:rPr sz="1050" b="0" i="0">
                <a:solidFill>
                  <a:srgbClr val="5B6E82"/>
                </a:solidFill>
                <a:latin typeface="Arial"/>
              </a:rPr>
              <a:t>A payment link or invoice page. No code, no plugin, works on any site, mobile-first, English and Bangla, no third-party trackers.</a:t>
            </a:r>
          </a:p>
        </p:txBody>
      </p:sp>
      <p:sp>
        <p:nvSpPr>
          <p:cNvPr id="9" name="Rounded Rectangle 8"/>
          <p:cNvSpPr/>
          <p:nvPr/>
        </p:nvSpPr>
        <p:spPr>
          <a:xfrm>
            <a:off x="4359554" y="1863318"/>
            <a:ext cx="3472586" cy="1755648"/>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97298" y="2064486"/>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02</a:t>
            </a:r>
          </a:p>
        </p:txBody>
      </p:sp>
      <p:sp>
        <p:nvSpPr>
          <p:cNvPr id="11" name="TextBox 10"/>
          <p:cNvSpPr txBox="1"/>
          <p:nvPr/>
        </p:nvSpPr>
        <p:spPr>
          <a:xfrm>
            <a:off x="4597298" y="2302230"/>
            <a:ext cx="2997098"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Shopify &amp; WooCommerce plugins</a:t>
            </a:r>
          </a:p>
        </p:txBody>
      </p:sp>
      <p:sp>
        <p:nvSpPr>
          <p:cNvPr id="12" name="TextBox 11"/>
          <p:cNvSpPr txBox="1"/>
          <p:nvPr/>
        </p:nvSpPr>
        <p:spPr>
          <a:xfrm>
            <a:off x="4597298" y="2682849"/>
            <a:ext cx="2997098" cy="771524"/>
          </a:xfrm>
          <a:prstGeom prst="rect">
            <a:avLst/>
          </a:prstGeom>
          <a:noFill/>
        </p:spPr>
        <p:txBody>
          <a:bodyPr wrap="square" lIns="0" tIns="0" rIns="0" bIns="0" anchor="t">
            <a:spAutoFit/>
          </a:bodyPr>
          <a:lstStyle/>
          <a:p>
            <a:pPr algn="l">
              <a:lnSpc>
                <a:spcPct val="122000"/>
              </a:lnSpc>
              <a:spcAft>
                <a:spcPts val="0"/>
              </a:spcAft>
            </a:pPr>
            <a:r>
              <a:rPr sz="1050" b="0" i="0">
                <a:solidFill>
                  <a:srgbClr val="5B6E82"/>
                </a:solidFill>
                <a:latin typeface="Arial"/>
              </a:rPr>
              <a:t>Install, paste the API key, take payments. Webhooks keep orders and refunds in sync. This is how most Asian SMBs will onboard.</a:t>
            </a:r>
          </a:p>
        </p:txBody>
      </p:sp>
      <p:sp>
        <p:nvSpPr>
          <p:cNvPr id="13" name="Rounded Rectangle 12"/>
          <p:cNvSpPr/>
          <p:nvPr/>
        </p:nvSpPr>
        <p:spPr>
          <a:xfrm>
            <a:off x="8060740" y="1863318"/>
            <a:ext cx="3472586" cy="1755648"/>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298484" y="2064486"/>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03</a:t>
            </a:r>
          </a:p>
        </p:txBody>
      </p:sp>
      <p:sp>
        <p:nvSpPr>
          <p:cNvPr id="15" name="TextBox 14"/>
          <p:cNvSpPr txBox="1"/>
          <p:nvPr/>
        </p:nvSpPr>
        <p:spPr>
          <a:xfrm>
            <a:off x="8298484" y="2302230"/>
            <a:ext cx="2997098"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REST API + webhooks</a:t>
            </a:r>
          </a:p>
        </p:txBody>
      </p:sp>
      <p:sp>
        <p:nvSpPr>
          <p:cNvPr id="16" name="TextBox 15"/>
          <p:cNvSpPr txBox="1"/>
          <p:nvPr/>
        </p:nvSpPr>
        <p:spPr>
          <a:xfrm>
            <a:off x="8298484" y="2682849"/>
            <a:ext cx="2997098" cy="771524"/>
          </a:xfrm>
          <a:prstGeom prst="rect">
            <a:avLst/>
          </a:prstGeom>
          <a:noFill/>
        </p:spPr>
        <p:txBody>
          <a:bodyPr wrap="square" lIns="0" tIns="0" rIns="0" bIns="0" anchor="t">
            <a:spAutoFit/>
          </a:bodyPr>
          <a:lstStyle/>
          <a:p>
            <a:pPr algn="l">
              <a:lnSpc>
                <a:spcPct val="122000"/>
              </a:lnSpc>
              <a:spcAft>
                <a:spcPts val="0"/>
              </a:spcAft>
            </a:pPr>
            <a:r>
              <a:rPr sz="1050" b="0" i="0">
                <a:solidFill>
                  <a:srgbClr val="5B6E82"/>
                </a:solidFill>
                <a:latin typeface="Arial"/>
              </a:rPr>
              <a:t>Versioned endpoints, scoped keys, idempotency on every mutation, signed webhooks with retries. For custom storefronts and platforms.</a:t>
            </a:r>
          </a:p>
        </p:txBody>
      </p:sp>
      <p:sp>
        <p:nvSpPr>
          <p:cNvPr id="17" name="Rounded Rectangle 16"/>
          <p:cNvSpPr/>
          <p:nvPr/>
        </p:nvSpPr>
        <p:spPr>
          <a:xfrm>
            <a:off x="658368" y="3856710"/>
            <a:ext cx="10874959" cy="1207008"/>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32688" y="4021302"/>
            <a:ext cx="10326319" cy="219456"/>
          </a:xfrm>
          <a:prstGeom prst="rect">
            <a:avLst/>
          </a:prstGeom>
          <a:noFill/>
        </p:spPr>
        <p:txBody>
          <a:bodyPr wrap="square" lIns="0" tIns="0" rIns="0" bIns="0" anchor="t">
            <a:spAutoFit/>
          </a:bodyPr>
          <a:lstStyle/>
          <a:p>
            <a:pPr algn="l">
              <a:lnSpc>
                <a:spcPct val="112000"/>
              </a:lnSpc>
              <a:spcAft>
                <a:spcPts val="0"/>
              </a:spcAft>
            </a:pPr>
            <a:r>
              <a:rPr sz="950" b="1" i="0" spc="130">
                <a:solidFill>
                  <a:srgbClr val="5B6E82"/>
                </a:solidFill>
                <a:latin typeface="Arial"/>
              </a:rPr>
              <a:t>BEHIND EVERY CHANNEL — THE SAME PLATFORM</a:t>
            </a:r>
          </a:p>
        </p:txBody>
      </p:sp>
      <p:sp>
        <p:nvSpPr>
          <p:cNvPr id="19" name="Rectangle 18"/>
          <p:cNvSpPr/>
          <p:nvPr/>
        </p:nvSpPr>
        <p:spPr>
          <a:xfrm>
            <a:off x="932688" y="4368774"/>
            <a:ext cx="64008" cy="64008"/>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097280" y="4295622"/>
            <a:ext cx="2307259" cy="219456"/>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Merchant dashboard</a:t>
            </a:r>
          </a:p>
        </p:txBody>
      </p:sp>
      <p:sp>
        <p:nvSpPr>
          <p:cNvPr id="21" name="Rectangle 20"/>
          <p:cNvSpPr/>
          <p:nvPr/>
        </p:nvSpPr>
        <p:spPr>
          <a:xfrm>
            <a:off x="3514267" y="4368774"/>
            <a:ext cx="64008" cy="64008"/>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678859" y="4295622"/>
            <a:ext cx="2307259" cy="219456"/>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Invoicing &amp; receipts</a:t>
            </a:r>
          </a:p>
        </p:txBody>
      </p:sp>
      <p:sp>
        <p:nvSpPr>
          <p:cNvPr id="23" name="Rectangle 22"/>
          <p:cNvSpPr/>
          <p:nvPr/>
        </p:nvSpPr>
        <p:spPr>
          <a:xfrm>
            <a:off x="6095847" y="4368774"/>
            <a:ext cx="64008" cy="64008"/>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60439" y="4295622"/>
            <a:ext cx="2307259" cy="219456"/>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Payouts</a:t>
            </a:r>
          </a:p>
        </p:txBody>
      </p:sp>
      <p:sp>
        <p:nvSpPr>
          <p:cNvPr id="25" name="Rectangle 24"/>
          <p:cNvSpPr/>
          <p:nvPr/>
        </p:nvSpPr>
        <p:spPr>
          <a:xfrm>
            <a:off x="8677427" y="4368774"/>
            <a:ext cx="64008" cy="64008"/>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842019" y="4295622"/>
            <a:ext cx="2307259" cy="219456"/>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Disputes</a:t>
            </a:r>
          </a:p>
        </p:txBody>
      </p:sp>
      <p:sp>
        <p:nvSpPr>
          <p:cNvPr id="27" name="Rectangle 26"/>
          <p:cNvSpPr/>
          <p:nvPr/>
        </p:nvSpPr>
        <p:spPr>
          <a:xfrm>
            <a:off x="932688" y="4734534"/>
            <a:ext cx="64008" cy="64008"/>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097280" y="4661382"/>
            <a:ext cx="2307259" cy="219456"/>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Reconciliation</a:t>
            </a:r>
          </a:p>
        </p:txBody>
      </p:sp>
      <p:sp>
        <p:nvSpPr>
          <p:cNvPr id="29" name="Rectangle 28"/>
          <p:cNvSpPr/>
          <p:nvPr/>
        </p:nvSpPr>
        <p:spPr>
          <a:xfrm>
            <a:off x="3514267" y="4734534"/>
            <a:ext cx="64008" cy="64008"/>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678859" y="4661382"/>
            <a:ext cx="2307259" cy="219456"/>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API keys &amp; logs</a:t>
            </a:r>
          </a:p>
        </p:txBody>
      </p:sp>
      <p:sp>
        <p:nvSpPr>
          <p:cNvPr id="31" name="Rectangle 30"/>
          <p:cNvSpPr/>
          <p:nvPr/>
        </p:nvSpPr>
        <p:spPr>
          <a:xfrm>
            <a:off x="6095847" y="4734534"/>
            <a:ext cx="64008" cy="64008"/>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260439" y="4661382"/>
            <a:ext cx="2307259" cy="219456"/>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Team roles</a:t>
            </a:r>
          </a:p>
        </p:txBody>
      </p:sp>
      <p:sp>
        <p:nvSpPr>
          <p:cNvPr id="33" name="Rectangle 32"/>
          <p:cNvSpPr/>
          <p:nvPr/>
        </p:nvSpPr>
        <p:spPr>
          <a:xfrm>
            <a:off x="8677427" y="4734534"/>
            <a:ext cx="64008" cy="64008"/>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842019" y="4661382"/>
            <a:ext cx="2307259" cy="219456"/>
          </a:xfrm>
          <a:prstGeom prst="rect">
            <a:avLst/>
          </a:prstGeom>
          <a:noFill/>
        </p:spPr>
        <p:txBody>
          <a:bodyPr wrap="square" lIns="0" tIns="0" rIns="0" bIns="0" anchor="t">
            <a:spAutoFit/>
          </a:bodyPr>
          <a:lstStyle/>
          <a:p>
            <a:pPr algn="l">
              <a:lnSpc>
                <a:spcPct val="112000"/>
              </a:lnSpc>
              <a:spcAft>
                <a:spcPts val="0"/>
              </a:spcAft>
            </a:pPr>
            <a:r>
              <a:rPr sz="1050" b="0" i="0">
                <a:solidFill>
                  <a:srgbClr val="102236"/>
                </a:solidFill>
                <a:latin typeface="Arial"/>
              </a:rPr>
              <a:t>Audit trail</a:t>
            </a:r>
          </a:p>
        </p:txBody>
      </p:sp>
      <p:sp>
        <p:nvSpPr>
          <p:cNvPr id="35" name="TextBox 34"/>
          <p:cNvSpPr txBox="1"/>
          <p:nvPr/>
        </p:nvSpPr>
        <p:spPr>
          <a:xfrm>
            <a:off x="658368" y="5338038"/>
            <a:ext cx="10874959"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5B6E82"/>
                </a:solidFill>
                <a:latin typeface="Arial"/>
              </a:rPr>
              <a:t>DELIBERATELY NOT IN PHASE 1</a:t>
            </a:r>
          </a:p>
        </p:txBody>
      </p:sp>
      <p:sp>
        <p:nvSpPr>
          <p:cNvPr id="36" name="TextBox 35"/>
          <p:cNvSpPr txBox="1"/>
          <p:nvPr/>
        </p:nvSpPr>
        <p:spPr>
          <a:xfrm>
            <a:off x="658368" y="5630646"/>
            <a:ext cx="3259226" cy="256032"/>
          </a:xfrm>
          <a:prstGeom prst="rect">
            <a:avLst/>
          </a:prstGeom>
          <a:noFill/>
        </p:spPr>
        <p:txBody>
          <a:bodyPr wrap="square" lIns="0" tIns="0" rIns="0" bIns="0" anchor="t">
            <a:spAutoFit/>
          </a:bodyPr>
          <a:lstStyle/>
          <a:p>
            <a:pPr algn="l">
              <a:lnSpc>
                <a:spcPct val="112000"/>
              </a:lnSpc>
              <a:spcAft>
                <a:spcPts val="0"/>
              </a:spcAft>
            </a:pPr>
            <a:r>
              <a:rPr sz="1050" b="1" i="0">
                <a:solidFill>
                  <a:srgbClr val="102236"/>
                </a:solidFill>
                <a:latin typeface="Arial"/>
              </a:rPr>
              <a:t>Multi-currency wallets</a:t>
            </a:r>
          </a:p>
        </p:txBody>
      </p:sp>
      <p:sp>
        <p:nvSpPr>
          <p:cNvPr id="37" name="TextBox 36"/>
          <p:cNvSpPr txBox="1"/>
          <p:nvPr/>
        </p:nvSpPr>
        <p:spPr>
          <a:xfrm>
            <a:off x="658368" y="5904966"/>
            <a:ext cx="3259226" cy="365760"/>
          </a:xfrm>
          <a:prstGeom prst="rect">
            <a:avLst/>
          </a:prstGeom>
          <a:noFill/>
        </p:spPr>
        <p:txBody>
          <a:bodyPr wrap="square" lIns="0" tIns="0" rIns="0" bIns="0" anchor="t">
            <a:spAutoFit/>
          </a:bodyPr>
          <a:lstStyle/>
          <a:p>
            <a:pPr algn="l">
              <a:lnSpc>
                <a:spcPct val="115000"/>
              </a:lnSpc>
              <a:spcAft>
                <a:spcPts val="0"/>
              </a:spcAft>
            </a:pPr>
            <a:r>
              <a:rPr sz="930" b="0" i="0">
                <a:solidFill>
                  <a:srgbClr val="5B6E82"/>
                </a:solidFill>
                <a:latin typeface="Arial"/>
              </a:rPr>
              <a:t>Phase 2 — priced once we know your FX spread.</a:t>
            </a:r>
          </a:p>
        </p:txBody>
      </p:sp>
      <p:sp>
        <p:nvSpPr>
          <p:cNvPr id="38" name="TextBox 37"/>
          <p:cNvSpPr txBox="1"/>
          <p:nvPr/>
        </p:nvSpPr>
        <p:spPr>
          <a:xfrm>
            <a:off x="4283354" y="5630646"/>
            <a:ext cx="3259226" cy="256032"/>
          </a:xfrm>
          <a:prstGeom prst="rect">
            <a:avLst/>
          </a:prstGeom>
          <a:noFill/>
        </p:spPr>
        <p:txBody>
          <a:bodyPr wrap="square" lIns="0" tIns="0" rIns="0" bIns="0" anchor="t">
            <a:spAutoFit/>
          </a:bodyPr>
          <a:lstStyle/>
          <a:p>
            <a:pPr algn="l">
              <a:lnSpc>
                <a:spcPct val="112000"/>
              </a:lnSpc>
              <a:spcAft>
                <a:spcPts val="0"/>
              </a:spcAft>
            </a:pPr>
            <a:r>
              <a:rPr sz="1050" b="1" i="0">
                <a:solidFill>
                  <a:srgbClr val="102236"/>
                </a:solidFill>
                <a:latin typeface="Arial"/>
              </a:rPr>
              <a:t>Merchant of record</a:t>
            </a:r>
          </a:p>
        </p:txBody>
      </p:sp>
      <p:sp>
        <p:nvSpPr>
          <p:cNvPr id="39" name="TextBox 38"/>
          <p:cNvSpPr txBox="1"/>
          <p:nvPr/>
        </p:nvSpPr>
        <p:spPr>
          <a:xfrm>
            <a:off x="4283354" y="5904966"/>
            <a:ext cx="3259226" cy="365760"/>
          </a:xfrm>
          <a:prstGeom prst="rect">
            <a:avLst/>
          </a:prstGeom>
          <a:noFill/>
        </p:spPr>
        <p:txBody>
          <a:bodyPr wrap="square" lIns="0" tIns="0" rIns="0" bIns="0" anchor="t">
            <a:spAutoFit/>
          </a:bodyPr>
          <a:lstStyle/>
          <a:p>
            <a:pPr algn="l">
              <a:lnSpc>
                <a:spcPct val="115000"/>
              </a:lnSpc>
              <a:spcAft>
                <a:spcPts val="0"/>
              </a:spcAft>
            </a:pPr>
            <a:r>
              <a:rPr sz="930" b="0" i="0">
                <a:solidFill>
                  <a:srgbClr val="5B6E82"/>
                </a:solidFill>
                <a:latin typeface="Arial"/>
              </a:rPr>
              <a:t>Only on a signed programme, never implied.</a:t>
            </a:r>
          </a:p>
        </p:txBody>
      </p:sp>
      <p:sp>
        <p:nvSpPr>
          <p:cNvPr id="40" name="TextBox 39"/>
          <p:cNvSpPr txBox="1"/>
          <p:nvPr/>
        </p:nvSpPr>
        <p:spPr>
          <a:xfrm>
            <a:off x="7908340" y="5630646"/>
            <a:ext cx="3259226" cy="256032"/>
          </a:xfrm>
          <a:prstGeom prst="rect">
            <a:avLst/>
          </a:prstGeom>
          <a:noFill/>
        </p:spPr>
        <p:txBody>
          <a:bodyPr wrap="square" lIns="0" tIns="0" rIns="0" bIns="0" anchor="t">
            <a:spAutoFit/>
          </a:bodyPr>
          <a:lstStyle/>
          <a:p>
            <a:pPr algn="l">
              <a:lnSpc>
                <a:spcPct val="112000"/>
              </a:lnSpc>
              <a:spcAft>
                <a:spcPts val="0"/>
              </a:spcAft>
            </a:pPr>
            <a:r>
              <a:rPr sz="1050" b="1" i="0">
                <a:solidFill>
                  <a:srgbClr val="102236"/>
                </a:solidFill>
                <a:latin typeface="Arial"/>
              </a:rPr>
              <a:t>Full white-label</a:t>
            </a:r>
          </a:p>
        </p:txBody>
      </p:sp>
      <p:sp>
        <p:nvSpPr>
          <p:cNvPr id="41" name="TextBox 40"/>
          <p:cNvSpPr txBox="1"/>
          <p:nvPr/>
        </p:nvSpPr>
        <p:spPr>
          <a:xfrm>
            <a:off x="7908340" y="5904966"/>
            <a:ext cx="3259226" cy="365760"/>
          </a:xfrm>
          <a:prstGeom prst="rect">
            <a:avLst/>
          </a:prstGeom>
          <a:noFill/>
        </p:spPr>
        <p:txBody>
          <a:bodyPr wrap="square" lIns="0" tIns="0" rIns="0" bIns="0" anchor="t">
            <a:spAutoFit/>
          </a:bodyPr>
          <a:lstStyle/>
          <a:p>
            <a:pPr algn="l">
              <a:lnSpc>
                <a:spcPct val="115000"/>
              </a:lnSpc>
              <a:spcAft>
                <a:spcPts val="0"/>
              </a:spcAft>
            </a:pPr>
            <a:r>
              <a:rPr sz="930" b="0" i="0">
                <a:solidFill>
                  <a:srgbClr val="5B6E82"/>
                </a:solidFill>
                <a:latin typeface="Arial"/>
              </a:rPr>
              <a:t>Phase 2 — brand, domain and email, end to end.</a:t>
            </a:r>
          </a:p>
        </p:txBody>
      </p:sp>
      <p:cxnSp>
        <p:nvCxnSpPr>
          <p:cNvPr id="42" name="Connector 41"/>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Airwallex partnership proposal  ·  Confidential</a:t>
            </a:r>
          </a:p>
        </p:txBody>
      </p:sp>
      <p:sp>
        <p:nvSpPr>
          <p:cNvPr id="44" name="TextBox 43"/>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ARCHITECTURE</a:t>
            </a:r>
          </a:p>
        </p:txBody>
      </p:sp>
      <p:sp>
        <p:nvSpPr>
          <p:cNvPr id="3" name="TextBox 2"/>
          <p:cNvSpPr txBox="1"/>
          <p:nvPr/>
        </p:nvSpPr>
        <p:spPr>
          <a:xfrm>
            <a:off x="658368" y="749808"/>
            <a:ext cx="10874959" cy="480060"/>
          </a:xfrm>
          <a:prstGeom prst="rect">
            <a:avLst/>
          </a:prstGeom>
          <a:noFill/>
        </p:spPr>
        <p:txBody>
          <a:bodyPr wrap="square" lIns="0" tIns="0" rIns="0" bIns="0" anchor="t">
            <a:spAutoFit/>
          </a:bodyPr>
          <a:lstStyle/>
          <a:p>
            <a:pPr algn="l">
              <a:lnSpc>
                <a:spcPct val="102000"/>
              </a:lnSpc>
              <a:spcAft>
                <a:spcPts val="0"/>
              </a:spcAft>
            </a:pPr>
            <a:r>
              <a:rPr sz="2700" b="1" i="0">
                <a:solidFill>
                  <a:srgbClr val="102236"/>
                </a:solidFill>
                <a:latin typeface="Arial"/>
              </a:rPr>
              <a:t>Where the card data goes — and where it never goes</a:t>
            </a:r>
          </a:p>
        </p:txBody>
      </p:sp>
      <p:sp>
        <p:nvSpPr>
          <p:cNvPr id="4" name="TextBox 3"/>
          <p:cNvSpPr txBox="1"/>
          <p:nvPr/>
        </p:nvSpPr>
        <p:spPr>
          <a:xfrm>
            <a:off x="658368" y="1260957"/>
            <a:ext cx="9326880" cy="564642"/>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KD PAY is a SAQ-A scope: the card fields are yours, hosted in your components. We never see, log or store a card number.</a:t>
            </a:r>
          </a:p>
        </p:txBody>
      </p:sp>
      <p:sp>
        <p:nvSpPr>
          <p:cNvPr id="5" name="Rounded Rectangle 4"/>
          <p:cNvSpPr/>
          <p:nvPr/>
        </p:nvSpPr>
        <p:spPr>
          <a:xfrm>
            <a:off x="658368" y="2099919"/>
            <a:ext cx="2212848" cy="1170432"/>
          </a:xfrm>
          <a:prstGeom prst="roundRect">
            <a:avLst>
              <a:gd name="adj" fmla="val 6000"/>
            </a:avLst>
          </a:prstGeom>
          <a:solidFill>
            <a:srgbClr val="F4F7FA"/>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68096" y="2301087"/>
            <a:ext cx="1993391" cy="475488"/>
          </a:xfrm>
          <a:prstGeom prst="rect">
            <a:avLst/>
          </a:prstGeom>
          <a:noFill/>
        </p:spPr>
        <p:txBody>
          <a:bodyPr wrap="square" lIns="0" tIns="0" rIns="0" bIns="0" anchor="t">
            <a:spAutoFit/>
          </a:bodyPr>
          <a:lstStyle/>
          <a:p>
            <a:pPr algn="ctr">
              <a:lnSpc>
                <a:spcPct val="102000"/>
              </a:lnSpc>
              <a:spcAft>
                <a:spcPts val="0"/>
              </a:spcAft>
            </a:pPr>
            <a:r>
              <a:rPr sz="1150" b="1" i="0">
                <a:solidFill>
                  <a:srgbClr val="102236"/>
                </a:solidFill>
                <a:latin typeface="Arial"/>
              </a:rPr>
              <a:t>Buyer</a:t>
            </a:r>
          </a:p>
        </p:txBody>
      </p:sp>
      <p:sp>
        <p:nvSpPr>
          <p:cNvPr id="7" name="TextBox 6"/>
          <p:cNvSpPr txBox="1"/>
          <p:nvPr/>
        </p:nvSpPr>
        <p:spPr>
          <a:xfrm>
            <a:off x="768096" y="2941167"/>
            <a:ext cx="1993391" cy="219456"/>
          </a:xfrm>
          <a:prstGeom prst="rect">
            <a:avLst/>
          </a:prstGeom>
          <a:noFill/>
        </p:spPr>
        <p:txBody>
          <a:bodyPr wrap="square" lIns="0" tIns="0" rIns="0" bIns="0" anchor="t">
            <a:spAutoFit/>
          </a:bodyPr>
          <a:lstStyle/>
          <a:p>
            <a:pPr algn="ctr">
              <a:lnSpc>
                <a:spcPct val="112000"/>
              </a:lnSpc>
              <a:spcAft>
                <a:spcPts val="0"/>
              </a:spcAft>
            </a:pPr>
            <a:r>
              <a:rPr sz="850" b="0" i="0">
                <a:solidFill>
                  <a:srgbClr val="5B6E82"/>
                </a:solidFill>
                <a:latin typeface="Arial"/>
              </a:rPr>
              <a:t>browser</a:t>
            </a:r>
          </a:p>
        </p:txBody>
      </p:sp>
      <p:cxnSp>
        <p:nvCxnSpPr>
          <p:cNvPr id="8" name="Connector 7"/>
          <p:cNvCxnSpPr/>
          <p:nvPr/>
        </p:nvCxnSpPr>
        <p:spPr>
          <a:xfrm>
            <a:off x="2962656" y="2685135"/>
            <a:ext cx="320040" cy="0"/>
          </a:xfrm>
          <a:prstGeom prst="line">
            <a:avLst/>
          </a:prstGeom>
          <a:ln w="19050" cap="rnd">
            <a:solidFill>
              <a:srgbClr val="00B589"/>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374135" y="2099919"/>
            <a:ext cx="2212848" cy="1170432"/>
          </a:xfrm>
          <a:prstGeom prst="roundRect">
            <a:avLst>
              <a:gd name="adj" fmla="val 6000"/>
            </a:avLst>
          </a:prstGeom>
          <a:solidFill>
            <a:srgbClr val="F4F7FA"/>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483863" y="2301087"/>
            <a:ext cx="1993391" cy="475488"/>
          </a:xfrm>
          <a:prstGeom prst="rect">
            <a:avLst/>
          </a:prstGeom>
          <a:noFill/>
        </p:spPr>
        <p:txBody>
          <a:bodyPr wrap="square" lIns="0" tIns="0" rIns="0" bIns="0" anchor="t">
            <a:spAutoFit/>
          </a:bodyPr>
          <a:lstStyle/>
          <a:p>
            <a:pPr algn="ctr">
              <a:lnSpc>
                <a:spcPct val="102000"/>
              </a:lnSpc>
              <a:spcAft>
                <a:spcPts val="0"/>
              </a:spcAft>
            </a:pPr>
            <a:r>
              <a:rPr sz="1150" b="1" i="0">
                <a:solidFill>
                  <a:srgbClr val="102236"/>
                </a:solidFill>
                <a:latin typeface="Arial"/>
              </a:rPr>
              <a:t>KD PAY</a:t>
            </a:r>
          </a:p>
          <a:p>
            <a:pPr algn="ctr">
              <a:lnSpc>
                <a:spcPct val="102000"/>
              </a:lnSpc>
              <a:spcAft>
                <a:spcPts val="0"/>
              </a:spcAft>
            </a:pPr>
            <a:r>
              <a:rPr sz="1150" b="1" i="0">
                <a:solidFill>
                  <a:srgbClr val="102236"/>
                </a:solidFill>
                <a:latin typeface="Arial"/>
              </a:rPr>
              <a:t>checkout</a:t>
            </a:r>
          </a:p>
        </p:txBody>
      </p:sp>
      <p:sp>
        <p:nvSpPr>
          <p:cNvPr id="11" name="TextBox 10"/>
          <p:cNvSpPr txBox="1"/>
          <p:nvPr/>
        </p:nvSpPr>
        <p:spPr>
          <a:xfrm>
            <a:off x="3483863" y="2941167"/>
            <a:ext cx="1993391" cy="219456"/>
          </a:xfrm>
          <a:prstGeom prst="rect">
            <a:avLst/>
          </a:prstGeom>
          <a:noFill/>
        </p:spPr>
        <p:txBody>
          <a:bodyPr wrap="square" lIns="0" tIns="0" rIns="0" bIns="0" anchor="t">
            <a:spAutoFit/>
          </a:bodyPr>
          <a:lstStyle/>
          <a:p>
            <a:pPr algn="ctr">
              <a:lnSpc>
                <a:spcPct val="112000"/>
              </a:lnSpc>
              <a:spcAft>
                <a:spcPts val="0"/>
              </a:spcAft>
            </a:pPr>
            <a:r>
              <a:rPr sz="850" b="0" i="0">
                <a:solidFill>
                  <a:srgbClr val="5B6E82"/>
                </a:solidFill>
                <a:latin typeface="Arial"/>
              </a:rPr>
              <a:t>hosted page</a:t>
            </a:r>
          </a:p>
        </p:txBody>
      </p:sp>
      <p:cxnSp>
        <p:nvCxnSpPr>
          <p:cNvPr id="12" name="Connector 11"/>
          <p:cNvCxnSpPr/>
          <p:nvPr/>
        </p:nvCxnSpPr>
        <p:spPr>
          <a:xfrm>
            <a:off x="5678423" y="2685135"/>
            <a:ext cx="320040" cy="0"/>
          </a:xfrm>
          <a:prstGeom prst="line">
            <a:avLst/>
          </a:prstGeom>
          <a:ln w="19050" cap="rnd">
            <a:solidFill>
              <a:srgbClr val="00B589"/>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089903" y="2099919"/>
            <a:ext cx="2212848" cy="1170432"/>
          </a:xfrm>
          <a:prstGeom prst="roundRect">
            <a:avLst>
              <a:gd name="adj" fmla="val 6000"/>
            </a:avLst>
          </a:prstGeom>
          <a:solidFill>
            <a:srgbClr val="0A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199631" y="2301087"/>
            <a:ext cx="1993391" cy="475488"/>
          </a:xfrm>
          <a:prstGeom prst="rect">
            <a:avLst/>
          </a:prstGeom>
          <a:noFill/>
        </p:spPr>
        <p:txBody>
          <a:bodyPr wrap="square" lIns="0" tIns="0" rIns="0" bIns="0" anchor="t">
            <a:spAutoFit/>
          </a:bodyPr>
          <a:lstStyle/>
          <a:p>
            <a:pPr algn="ctr">
              <a:lnSpc>
                <a:spcPct val="102000"/>
              </a:lnSpc>
              <a:spcAft>
                <a:spcPts val="0"/>
              </a:spcAft>
            </a:pPr>
            <a:r>
              <a:rPr sz="1150" b="1" i="0">
                <a:solidFill>
                  <a:srgbClr val="FFFFFF"/>
                </a:solidFill>
                <a:latin typeface="Arial"/>
              </a:rPr>
              <a:t>Airwallex</a:t>
            </a:r>
          </a:p>
          <a:p>
            <a:pPr algn="ctr">
              <a:lnSpc>
                <a:spcPct val="102000"/>
              </a:lnSpc>
              <a:spcAft>
                <a:spcPts val="0"/>
              </a:spcAft>
            </a:pPr>
            <a:r>
              <a:rPr sz="1150" b="1" i="0">
                <a:solidFill>
                  <a:srgbClr val="FFFFFF"/>
                </a:solidFill>
                <a:latin typeface="Arial"/>
              </a:rPr>
              <a:t>Elements</a:t>
            </a:r>
          </a:p>
        </p:txBody>
      </p:sp>
      <p:sp>
        <p:nvSpPr>
          <p:cNvPr id="15" name="TextBox 14"/>
          <p:cNvSpPr txBox="1"/>
          <p:nvPr/>
        </p:nvSpPr>
        <p:spPr>
          <a:xfrm>
            <a:off x="6199631" y="2941167"/>
            <a:ext cx="1993391" cy="219456"/>
          </a:xfrm>
          <a:prstGeom prst="rect">
            <a:avLst/>
          </a:prstGeom>
          <a:noFill/>
        </p:spPr>
        <p:txBody>
          <a:bodyPr wrap="square" lIns="0" tIns="0" rIns="0" bIns="0" anchor="t">
            <a:spAutoFit/>
          </a:bodyPr>
          <a:lstStyle/>
          <a:p>
            <a:pPr algn="ctr">
              <a:lnSpc>
                <a:spcPct val="112000"/>
              </a:lnSpc>
              <a:spcAft>
                <a:spcPts val="0"/>
              </a:spcAft>
            </a:pPr>
            <a:r>
              <a:rPr sz="850" b="0" i="0">
                <a:solidFill>
                  <a:srgbClr val="9FB3C6"/>
                </a:solidFill>
                <a:latin typeface="Arial"/>
              </a:rPr>
              <a:t>card fields</a:t>
            </a:r>
          </a:p>
        </p:txBody>
      </p:sp>
      <p:cxnSp>
        <p:nvCxnSpPr>
          <p:cNvPr id="16" name="Connector 15"/>
          <p:cNvCxnSpPr/>
          <p:nvPr/>
        </p:nvCxnSpPr>
        <p:spPr>
          <a:xfrm>
            <a:off x="8394191" y="2685135"/>
            <a:ext cx="320040" cy="0"/>
          </a:xfrm>
          <a:prstGeom prst="line">
            <a:avLst/>
          </a:prstGeom>
          <a:ln w="19050" cap="rnd">
            <a:solidFill>
              <a:srgbClr val="00B589"/>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805672" y="2099919"/>
            <a:ext cx="2212848" cy="1170432"/>
          </a:xfrm>
          <a:prstGeom prst="roundRect">
            <a:avLst>
              <a:gd name="adj" fmla="val 6000"/>
            </a:avLst>
          </a:prstGeom>
          <a:solidFill>
            <a:srgbClr val="0A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915400" y="2301087"/>
            <a:ext cx="1993391" cy="475488"/>
          </a:xfrm>
          <a:prstGeom prst="rect">
            <a:avLst/>
          </a:prstGeom>
          <a:noFill/>
        </p:spPr>
        <p:txBody>
          <a:bodyPr wrap="square" lIns="0" tIns="0" rIns="0" bIns="0" anchor="t">
            <a:spAutoFit/>
          </a:bodyPr>
          <a:lstStyle/>
          <a:p>
            <a:pPr algn="ctr">
              <a:lnSpc>
                <a:spcPct val="102000"/>
              </a:lnSpc>
              <a:spcAft>
                <a:spcPts val="0"/>
              </a:spcAft>
            </a:pPr>
            <a:r>
              <a:rPr sz="1150" b="1" i="0">
                <a:solidFill>
                  <a:srgbClr val="FFFFFF"/>
                </a:solidFill>
                <a:latin typeface="Arial"/>
              </a:rPr>
              <a:t>Airwallex</a:t>
            </a:r>
          </a:p>
          <a:p>
            <a:pPr algn="ctr">
              <a:lnSpc>
                <a:spcPct val="102000"/>
              </a:lnSpc>
              <a:spcAft>
                <a:spcPts val="0"/>
              </a:spcAft>
            </a:pPr>
            <a:r>
              <a:rPr sz="1150" b="1" i="0">
                <a:solidFill>
                  <a:srgbClr val="FFFFFF"/>
                </a:solidFill>
                <a:latin typeface="Arial"/>
              </a:rPr>
              <a:t>acquiring</a:t>
            </a:r>
          </a:p>
        </p:txBody>
      </p:sp>
      <p:sp>
        <p:nvSpPr>
          <p:cNvPr id="19" name="TextBox 18"/>
          <p:cNvSpPr txBox="1"/>
          <p:nvPr/>
        </p:nvSpPr>
        <p:spPr>
          <a:xfrm>
            <a:off x="8915400" y="2941167"/>
            <a:ext cx="1993391" cy="219456"/>
          </a:xfrm>
          <a:prstGeom prst="rect">
            <a:avLst/>
          </a:prstGeom>
          <a:noFill/>
        </p:spPr>
        <p:txBody>
          <a:bodyPr wrap="square" lIns="0" tIns="0" rIns="0" bIns="0" anchor="t">
            <a:spAutoFit/>
          </a:bodyPr>
          <a:lstStyle/>
          <a:p>
            <a:pPr algn="ctr">
              <a:lnSpc>
                <a:spcPct val="112000"/>
              </a:lnSpc>
              <a:spcAft>
                <a:spcPts val="0"/>
              </a:spcAft>
            </a:pPr>
            <a:r>
              <a:rPr sz="850" b="0" i="0">
                <a:solidFill>
                  <a:srgbClr val="9FB3C6"/>
                </a:solidFill>
                <a:latin typeface="Arial"/>
              </a:rPr>
              <a:t>authorisation</a:t>
            </a:r>
          </a:p>
        </p:txBody>
      </p:sp>
      <p:sp>
        <p:nvSpPr>
          <p:cNvPr id="20" name="TextBox 19"/>
          <p:cNvSpPr txBox="1"/>
          <p:nvPr/>
        </p:nvSpPr>
        <p:spPr>
          <a:xfrm>
            <a:off x="658368" y="3398367"/>
            <a:ext cx="4937760" cy="219456"/>
          </a:xfrm>
          <a:prstGeom prst="rect">
            <a:avLst/>
          </a:prstGeom>
          <a:noFill/>
        </p:spPr>
        <p:txBody>
          <a:bodyPr wrap="square" lIns="0" tIns="0" rIns="0" bIns="0" anchor="t">
            <a:spAutoFit/>
          </a:bodyPr>
          <a:lstStyle/>
          <a:p>
            <a:pPr algn="l">
              <a:lnSpc>
                <a:spcPct val="112000"/>
              </a:lnSpc>
              <a:spcAft>
                <a:spcPts val="0"/>
              </a:spcAft>
            </a:pPr>
            <a:r>
              <a:rPr sz="900" b="1" i="0" spc="120">
                <a:solidFill>
                  <a:srgbClr val="008A69"/>
                </a:solidFill>
                <a:latin typeface="Arial"/>
              </a:rPr>
              <a:t>CARD DATA BOUNDARY</a:t>
            </a:r>
          </a:p>
        </p:txBody>
      </p:sp>
      <p:sp>
        <p:nvSpPr>
          <p:cNvPr id="21" name="TextBox 20"/>
          <p:cNvSpPr txBox="1"/>
          <p:nvPr/>
        </p:nvSpPr>
        <p:spPr>
          <a:xfrm>
            <a:off x="658368" y="3636111"/>
            <a:ext cx="4754880" cy="502920"/>
          </a:xfrm>
          <a:prstGeom prst="rect">
            <a:avLst/>
          </a:prstGeom>
          <a:noFill/>
        </p:spPr>
        <p:txBody>
          <a:bodyPr wrap="square" lIns="0" tIns="0" rIns="0" bIns="0" anchor="t">
            <a:spAutoFit/>
          </a:bodyPr>
          <a:lstStyle/>
          <a:p>
            <a:pPr algn="l">
              <a:lnSpc>
                <a:spcPct val="120000"/>
              </a:lnSpc>
              <a:spcAft>
                <a:spcPts val="0"/>
              </a:spcAft>
            </a:pPr>
            <a:r>
              <a:rPr sz="950" b="0" i="0">
                <a:solidFill>
                  <a:srgbClr val="5B6E82"/>
                </a:solidFill>
                <a:latin typeface="Arial"/>
              </a:rPr>
              <a:t>PAN, expiry and CVV exist only inside Airwallex's iframe. No line on this diagram above touches them.</a:t>
            </a:r>
          </a:p>
        </p:txBody>
      </p:sp>
      <p:sp>
        <p:nvSpPr>
          <p:cNvPr id="22" name="Rounded Rectangle 21"/>
          <p:cNvSpPr/>
          <p:nvPr/>
        </p:nvSpPr>
        <p:spPr>
          <a:xfrm>
            <a:off x="658368" y="4184751"/>
            <a:ext cx="2212848" cy="1170432"/>
          </a:xfrm>
          <a:prstGeom prst="roundRect">
            <a:avLst>
              <a:gd name="adj" fmla="val 6000"/>
            </a:avLst>
          </a:prstGeom>
          <a:solidFill>
            <a:srgbClr val="F4F7FA"/>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68096" y="4385919"/>
            <a:ext cx="1993391" cy="475488"/>
          </a:xfrm>
          <a:prstGeom prst="rect">
            <a:avLst/>
          </a:prstGeom>
          <a:noFill/>
        </p:spPr>
        <p:txBody>
          <a:bodyPr wrap="square" lIns="0" tIns="0" rIns="0" bIns="0" anchor="t">
            <a:spAutoFit/>
          </a:bodyPr>
          <a:lstStyle/>
          <a:p>
            <a:pPr algn="ctr">
              <a:lnSpc>
                <a:spcPct val="102000"/>
              </a:lnSpc>
              <a:spcAft>
                <a:spcPts val="0"/>
              </a:spcAft>
            </a:pPr>
            <a:r>
              <a:rPr sz="1150" b="1" i="0">
                <a:solidFill>
                  <a:srgbClr val="102236"/>
                </a:solidFill>
                <a:latin typeface="Arial"/>
              </a:rPr>
              <a:t>Airwallex</a:t>
            </a:r>
          </a:p>
          <a:p>
            <a:pPr algn="ctr">
              <a:lnSpc>
                <a:spcPct val="102000"/>
              </a:lnSpc>
              <a:spcAft>
                <a:spcPts val="0"/>
              </a:spcAft>
            </a:pPr>
            <a:r>
              <a:rPr sz="1150" b="1" i="0">
                <a:solidFill>
                  <a:srgbClr val="102236"/>
                </a:solidFill>
                <a:latin typeface="Arial"/>
              </a:rPr>
              <a:t>seller ledger</a:t>
            </a:r>
          </a:p>
        </p:txBody>
      </p:sp>
      <p:sp>
        <p:nvSpPr>
          <p:cNvPr id="24" name="TextBox 23"/>
          <p:cNvSpPr txBox="1"/>
          <p:nvPr/>
        </p:nvSpPr>
        <p:spPr>
          <a:xfrm>
            <a:off x="768096" y="5025999"/>
            <a:ext cx="1993391" cy="219456"/>
          </a:xfrm>
          <a:prstGeom prst="rect">
            <a:avLst/>
          </a:prstGeom>
          <a:noFill/>
        </p:spPr>
        <p:txBody>
          <a:bodyPr wrap="square" lIns="0" tIns="0" rIns="0" bIns="0" anchor="t">
            <a:spAutoFit/>
          </a:bodyPr>
          <a:lstStyle/>
          <a:p>
            <a:pPr algn="ctr">
              <a:lnSpc>
                <a:spcPct val="112000"/>
              </a:lnSpc>
              <a:spcAft>
                <a:spcPts val="0"/>
              </a:spcAft>
            </a:pPr>
            <a:r>
              <a:rPr sz="850" b="0" i="0">
                <a:solidFill>
                  <a:srgbClr val="5B6E82"/>
                </a:solidFill>
                <a:latin typeface="Arial"/>
              </a:rPr>
              <a:t>balance held by partner</a:t>
            </a:r>
          </a:p>
        </p:txBody>
      </p:sp>
      <p:cxnSp>
        <p:nvCxnSpPr>
          <p:cNvPr id="25" name="Connector 24"/>
          <p:cNvCxnSpPr/>
          <p:nvPr/>
        </p:nvCxnSpPr>
        <p:spPr>
          <a:xfrm>
            <a:off x="2962656" y="4769967"/>
            <a:ext cx="320040" cy="0"/>
          </a:xfrm>
          <a:prstGeom prst="line">
            <a:avLst/>
          </a:prstGeom>
          <a:ln w="19050" cap="rnd">
            <a:solidFill>
              <a:srgbClr val="2F6FED"/>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374135" y="4184751"/>
            <a:ext cx="2212848" cy="1170432"/>
          </a:xfrm>
          <a:prstGeom prst="roundRect">
            <a:avLst>
              <a:gd name="adj" fmla="val 6000"/>
            </a:avLst>
          </a:prstGeom>
          <a:solidFill>
            <a:srgbClr val="F4F7FA"/>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483863" y="4385919"/>
            <a:ext cx="1993391" cy="475488"/>
          </a:xfrm>
          <a:prstGeom prst="rect">
            <a:avLst/>
          </a:prstGeom>
          <a:noFill/>
        </p:spPr>
        <p:txBody>
          <a:bodyPr wrap="square" lIns="0" tIns="0" rIns="0" bIns="0" anchor="t">
            <a:spAutoFit/>
          </a:bodyPr>
          <a:lstStyle/>
          <a:p>
            <a:pPr algn="ctr">
              <a:lnSpc>
                <a:spcPct val="102000"/>
              </a:lnSpc>
              <a:spcAft>
                <a:spcPts val="0"/>
              </a:spcAft>
            </a:pPr>
            <a:r>
              <a:rPr sz="1150" b="1" i="0">
                <a:solidFill>
                  <a:srgbClr val="102236"/>
                </a:solidFill>
                <a:latin typeface="Arial"/>
              </a:rPr>
              <a:t>KD PAY ledger</a:t>
            </a:r>
          </a:p>
        </p:txBody>
      </p:sp>
      <p:sp>
        <p:nvSpPr>
          <p:cNvPr id="28" name="TextBox 27"/>
          <p:cNvSpPr txBox="1"/>
          <p:nvPr/>
        </p:nvSpPr>
        <p:spPr>
          <a:xfrm>
            <a:off x="3483863" y="5025999"/>
            <a:ext cx="1993391" cy="219456"/>
          </a:xfrm>
          <a:prstGeom prst="rect">
            <a:avLst/>
          </a:prstGeom>
          <a:noFill/>
        </p:spPr>
        <p:txBody>
          <a:bodyPr wrap="square" lIns="0" tIns="0" rIns="0" bIns="0" anchor="t">
            <a:spAutoFit/>
          </a:bodyPr>
          <a:lstStyle/>
          <a:p>
            <a:pPr algn="ctr">
              <a:lnSpc>
                <a:spcPct val="112000"/>
              </a:lnSpc>
              <a:spcAft>
                <a:spcPts val="0"/>
              </a:spcAft>
            </a:pPr>
            <a:r>
              <a:rPr sz="850" b="0" i="0">
                <a:solidFill>
                  <a:srgbClr val="5B6E82"/>
                </a:solidFill>
                <a:latin typeface="Arial"/>
              </a:rPr>
              <a:t>double-entry mirror</a:t>
            </a:r>
          </a:p>
        </p:txBody>
      </p:sp>
      <p:cxnSp>
        <p:nvCxnSpPr>
          <p:cNvPr id="29" name="Connector 28"/>
          <p:cNvCxnSpPr/>
          <p:nvPr/>
        </p:nvCxnSpPr>
        <p:spPr>
          <a:xfrm>
            <a:off x="5678423" y="4769967"/>
            <a:ext cx="320040" cy="0"/>
          </a:xfrm>
          <a:prstGeom prst="line">
            <a:avLst/>
          </a:prstGeom>
          <a:ln w="19050" cap="rnd">
            <a:solidFill>
              <a:srgbClr val="2F6FED"/>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089903" y="4184751"/>
            <a:ext cx="2212848" cy="1170432"/>
          </a:xfrm>
          <a:prstGeom prst="roundRect">
            <a:avLst>
              <a:gd name="adj" fmla="val 6000"/>
            </a:avLst>
          </a:prstGeom>
          <a:solidFill>
            <a:srgbClr val="F4F7FA"/>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199631" y="4385919"/>
            <a:ext cx="1993391" cy="475488"/>
          </a:xfrm>
          <a:prstGeom prst="rect">
            <a:avLst/>
          </a:prstGeom>
          <a:noFill/>
        </p:spPr>
        <p:txBody>
          <a:bodyPr wrap="square" lIns="0" tIns="0" rIns="0" bIns="0" anchor="t">
            <a:spAutoFit/>
          </a:bodyPr>
          <a:lstStyle/>
          <a:p>
            <a:pPr algn="ctr">
              <a:lnSpc>
                <a:spcPct val="102000"/>
              </a:lnSpc>
              <a:spcAft>
                <a:spcPts val="0"/>
              </a:spcAft>
            </a:pPr>
            <a:r>
              <a:rPr sz="1150" b="1" i="0">
                <a:solidFill>
                  <a:srgbClr val="102236"/>
                </a:solidFill>
                <a:latin typeface="Arial"/>
              </a:rPr>
              <a:t>Payout</a:t>
            </a:r>
          </a:p>
        </p:txBody>
      </p:sp>
      <p:sp>
        <p:nvSpPr>
          <p:cNvPr id="32" name="TextBox 31"/>
          <p:cNvSpPr txBox="1"/>
          <p:nvPr/>
        </p:nvSpPr>
        <p:spPr>
          <a:xfrm>
            <a:off x="6199631" y="5025999"/>
            <a:ext cx="1993391" cy="219456"/>
          </a:xfrm>
          <a:prstGeom prst="rect">
            <a:avLst/>
          </a:prstGeom>
          <a:noFill/>
        </p:spPr>
        <p:txBody>
          <a:bodyPr wrap="square" lIns="0" tIns="0" rIns="0" bIns="0" anchor="t">
            <a:spAutoFit/>
          </a:bodyPr>
          <a:lstStyle/>
          <a:p>
            <a:pPr algn="ctr">
              <a:lnSpc>
                <a:spcPct val="112000"/>
              </a:lnSpc>
              <a:spcAft>
                <a:spcPts val="0"/>
              </a:spcAft>
            </a:pPr>
            <a:r>
              <a:rPr sz="850" b="0" i="0">
                <a:solidFill>
                  <a:srgbClr val="5B6E82"/>
                </a:solidFill>
                <a:latin typeface="Arial"/>
              </a:rPr>
              <a:t>to merchant bank</a:t>
            </a:r>
          </a:p>
        </p:txBody>
      </p:sp>
      <p:cxnSp>
        <p:nvCxnSpPr>
          <p:cNvPr id="33" name="Connector 32"/>
          <p:cNvCxnSpPr/>
          <p:nvPr/>
        </p:nvCxnSpPr>
        <p:spPr>
          <a:xfrm>
            <a:off x="8394191" y="4769967"/>
            <a:ext cx="320040" cy="0"/>
          </a:xfrm>
          <a:prstGeom prst="line">
            <a:avLst/>
          </a:prstGeom>
          <a:ln w="19050" cap="rnd">
            <a:solidFill>
              <a:srgbClr val="2F6FED"/>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805672" y="4184751"/>
            <a:ext cx="2212848" cy="1170432"/>
          </a:xfrm>
          <a:prstGeom prst="roundRect">
            <a:avLst>
              <a:gd name="adj" fmla="val 6000"/>
            </a:avLst>
          </a:prstGeom>
          <a:solidFill>
            <a:srgbClr val="F4F7FA"/>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915400" y="4385919"/>
            <a:ext cx="1993391" cy="475488"/>
          </a:xfrm>
          <a:prstGeom prst="rect">
            <a:avLst/>
          </a:prstGeom>
          <a:noFill/>
        </p:spPr>
        <p:txBody>
          <a:bodyPr wrap="square" lIns="0" tIns="0" rIns="0" bIns="0" anchor="t">
            <a:spAutoFit/>
          </a:bodyPr>
          <a:lstStyle/>
          <a:p>
            <a:pPr algn="ctr">
              <a:lnSpc>
                <a:spcPct val="102000"/>
              </a:lnSpc>
              <a:spcAft>
                <a:spcPts val="0"/>
              </a:spcAft>
            </a:pPr>
            <a:r>
              <a:rPr sz="1150" b="1" i="0">
                <a:solidFill>
                  <a:srgbClr val="102236"/>
                </a:solidFill>
                <a:latin typeface="Arial"/>
              </a:rPr>
              <a:t>Receipt &amp; webhook</a:t>
            </a:r>
          </a:p>
        </p:txBody>
      </p:sp>
      <p:sp>
        <p:nvSpPr>
          <p:cNvPr id="36" name="TextBox 35"/>
          <p:cNvSpPr txBox="1"/>
          <p:nvPr/>
        </p:nvSpPr>
        <p:spPr>
          <a:xfrm>
            <a:off x="8915400" y="5025999"/>
            <a:ext cx="1993391" cy="219456"/>
          </a:xfrm>
          <a:prstGeom prst="rect">
            <a:avLst/>
          </a:prstGeom>
          <a:noFill/>
        </p:spPr>
        <p:txBody>
          <a:bodyPr wrap="square" lIns="0" tIns="0" rIns="0" bIns="0" anchor="t">
            <a:spAutoFit/>
          </a:bodyPr>
          <a:lstStyle/>
          <a:p>
            <a:pPr algn="ctr">
              <a:lnSpc>
                <a:spcPct val="112000"/>
              </a:lnSpc>
              <a:spcAft>
                <a:spcPts val="0"/>
              </a:spcAft>
            </a:pPr>
            <a:r>
              <a:rPr sz="850" b="0" i="0">
                <a:solidFill>
                  <a:srgbClr val="5B6E82"/>
                </a:solidFill>
                <a:latin typeface="Arial"/>
              </a:rPr>
              <a:t>signed, idempotent</a:t>
            </a:r>
          </a:p>
        </p:txBody>
      </p:sp>
      <p:sp>
        <p:nvSpPr>
          <p:cNvPr id="37" name="TextBox 36"/>
          <p:cNvSpPr txBox="1"/>
          <p:nvPr/>
        </p:nvSpPr>
        <p:spPr>
          <a:xfrm>
            <a:off x="658368" y="5483199"/>
            <a:ext cx="4937760" cy="219456"/>
          </a:xfrm>
          <a:prstGeom prst="rect">
            <a:avLst/>
          </a:prstGeom>
          <a:noFill/>
        </p:spPr>
        <p:txBody>
          <a:bodyPr wrap="square" lIns="0" tIns="0" rIns="0" bIns="0" anchor="t">
            <a:spAutoFit/>
          </a:bodyPr>
          <a:lstStyle/>
          <a:p>
            <a:pPr algn="l">
              <a:lnSpc>
                <a:spcPct val="112000"/>
              </a:lnSpc>
              <a:spcAft>
                <a:spcPts val="0"/>
              </a:spcAft>
            </a:pPr>
            <a:r>
              <a:rPr sz="900" b="1" i="0" spc="120">
                <a:solidFill>
                  <a:srgbClr val="2F6FED"/>
                </a:solidFill>
                <a:latin typeface="Arial"/>
              </a:rPr>
              <a:t>MONEY FLOW</a:t>
            </a:r>
          </a:p>
        </p:txBody>
      </p:sp>
      <p:sp>
        <p:nvSpPr>
          <p:cNvPr id="38" name="TextBox 37"/>
          <p:cNvSpPr txBox="1"/>
          <p:nvPr/>
        </p:nvSpPr>
        <p:spPr>
          <a:xfrm>
            <a:off x="658368" y="5720943"/>
            <a:ext cx="5852160" cy="502920"/>
          </a:xfrm>
          <a:prstGeom prst="rect">
            <a:avLst/>
          </a:prstGeom>
          <a:noFill/>
        </p:spPr>
        <p:txBody>
          <a:bodyPr wrap="square" lIns="0" tIns="0" rIns="0" bIns="0" anchor="t">
            <a:spAutoFit/>
          </a:bodyPr>
          <a:lstStyle/>
          <a:p>
            <a:pPr algn="l">
              <a:lnSpc>
                <a:spcPct val="120000"/>
              </a:lnSpc>
              <a:spcAft>
                <a:spcPts val="0"/>
              </a:spcAft>
            </a:pPr>
            <a:r>
              <a:rPr sz="950" b="0" i="0">
                <a:solidFill>
                  <a:srgbClr val="5B6E82"/>
                </a:solidFill>
                <a:latin typeface="Arial"/>
              </a:rPr>
              <a:t>Merchant balances live in your ledger. Our ledger mirrors it entry by entry, so reconciliation is a query — not a spreadsheet.</a:t>
            </a:r>
          </a:p>
        </p:txBody>
      </p:sp>
      <p:cxnSp>
        <p:nvCxnSpPr>
          <p:cNvPr id="39" name="Connector 38"/>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Airwallex partnership proposal  ·  Confidential</a:t>
            </a:r>
          </a:p>
        </p:txBody>
      </p:sp>
      <p:sp>
        <p:nvSpPr>
          <p:cNvPr id="41" name="TextBox 40"/>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FIT</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Why Airwallex, specifically</a:t>
            </a:r>
          </a:p>
        </p:txBody>
      </p:sp>
      <p:sp>
        <p:nvSpPr>
          <p:cNvPr id="4" name="TextBox 3"/>
          <p:cNvSpPr txBox="1"/>
          <p:nvPr/>
        </p:nvSpPr>
        <p:spPr>
          <a:xfrm>
            <a:off x="658368" y="1307592"/>
            <a:ext cx="9326880" cy="328041"/>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We evaluated Stripe Connect, Adyen for Platforms and Airwallex. This is why you won.</a:t>
            </a:r>
          </a:p>
        </p:txBody>
      </p:sp>
      <p:sp>
        <p:nvSpPr>
          <p:cNvPr id="5" name="Rounded Rectangle 4"/>
          <p:cNvSpPr/>
          <p:nvPr/>
        </p:nvSpPr>
        <p:spPr>
          <a:xfrm>
            <a:off x="658368" y="1928241"/>
            <a:ext cx="5323179" cy="1572768"/>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96112" y="2129409"/>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01</a:t>
            </a:r>
          </a:p>
        </p:txBody>
      </p:sp>
      <p:sp>
        <p:nvSpPr>
          <p:cNvPr id="7" name="TextBox 6"/>
          <p:cNvSpPr txBox="1"/>
          <p:nvPr/>
        </p:nvSpPr>
        <p:spPr>
          <a:xfrm>
            <a:off x="896112" y="2367153"/>
            <a:ext cx="4847691"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Licensed acquiring where our merchants are</a:t>
            </a:r>
          </a:p>
        </p:txBody>
      </p:sp>
      <p:sp>
        <p:nvSpPr>
          <p:cNvPr id="8" name="TextBox 7"/>
          <p:cNvSpPr txBox="1"/>
          <p:nvPr/>
        </p:nvSpPr>
        <p:spPr>
          <a:xfrm>
            <a:off x="896112" y="2747772"/>
            <a:ext cx="4847691" cy="588645"/>
          </a:xfrm>
          <a:prstGeom prst="rect">
            <a:avLst/>
          </a:prstGeom>
          <a:noFill/>
        </p:spPr>
        <p:txBody>
          <a:bodyPr wrap="square" lIns="0" tIns="0" rIns="0" bIns="0" anchor="t">
            <a:spAutoFit/>
          </a:bodyPr>
          <a:lstStyle/>
          <a:p>
            <a:pPr algn="l">
              <a:lnSpc>
                <a:spcPct val="122000"/>
              </a:lnSpc>
              <a:spcAft>
                <a:spcPts val="0"/>
              </a:spcAft>
            </a:pPr>
            <a:r>
              <a:rPr sz="1050" b="0" i="0">
                <a:solidFill>
                  <a:srgbClr val="5B6E82"/>
                </a:solidFill>
                <a:latin typeface="Arial"/>
              </a:rPr>
              <a:t>APAC coverage and local rails are the exact gap we cannot close as a platform. On the public coverage maps, your footprint is deeper in the corridors we care about first.</a:t>
            </a:r>
          </a:p>
        </p:txBody>
      </p:sp>
      <p:sp>
        <p:nvSpPr>
          <p:cNvPr id="9" name="Rounded Rectangle 8"/>
          <p:cNvSpPr/>
          <p:nvPr/>
        </p:nvSpPr>
        <p:spPr>
          <a:xfrm>
            <a:off x="6210147" y="1928241"/>
            <a:ext cx="5323179" cy="1572768"/>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47891" y="2129409"/>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02</a:t>
            </a:r>
          </a:p>
        </p:txBody>
      </p:sp>
      <p:sp>
        <p:nvSpPr>
          <p:cNvPr id="11" name="TextBox 10"/>
          <p:cNvSpPr txBox="1"/>
          <p:nvPr/>
        </p:nvSpPr>
        <p:spPr>
          <a:xfrm>
            <a:off x="6447891" y="2367153"/>
            <a:ext cx="4847691"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Two models, one relationship</a:t>
            </a:r>
          </a:p>
        </p:txBody>
      </p:sp>
      <p:sp>
        <p:nvSpPr>
          <p:cNvPr id="12" name="TextBox 11"/>
          <p:cNvSpPr txBox="1"/>
          <p:nvPr/>
        </p:nvSpPr>
        <p:spPr>
          <a:xfrm>
            <a:off x="6447891" y="2747772"/>
            <a:ext cx="4847691" cy="588645"/>
          </a:xfrm>
          <a:prstGeom prst="rect">
            <a:avLst/>
          </a:prstGeom>
          <a:noFill/>
        </p:spPr>
        <p:txBody>
          <a:bodyPr wrap="square" lIns="0" tIns="0" rIns="0" bIns="0" anchor="t">
            <a:spAutoFit/>
          </a:bodyPr>
          <a:lstStyle/>
          <a:p>
            <a:pPr algn="l">
              <a:lnSpc>
                <a:spcPct val="122000"/>
              </a:lnSpc>
              <a:spcAft>
                <a:spcPts val="0"/>
              </a:spcAft>
            </a:pPr>
            <a:r>
              <a:rPr sz="1050" b="0" i="0">
                <a:solidFill>
                  <a:srgbClr val="5B6E82"/>
                </a:solidFill>
                <a:latin typeface="Arial"/>
              </a:rPr>
              <a:t>Seller ledger at launch, full connected accounts when volume justifies per-merchant KYB. We can grow into your product instead of migrating off a competitor.</a:t>
            </a:r>
          </a:p>
        </p:txBody>
      </p:sp>
      <p:sp>
        <p:nvSpPr>
          <p:cNvPr id="13" name="Rounded Rectangle 12"/>
          <p:cNvSpPr/>
          <p:nvPr/>
        </p:nvSpPr>
        <p:spPr>
          <a:xfrm>
            <a:off x="658368" y="3775329"/>
            <a:ext cx="5323179" cy="1572768"/>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96112" y="3976497"/>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03</a:t>
            </a:r>
          </a:p>
        </p:txBody>
      </p:sp>
      <p:sp>
        <p:nvSpPr>
          <p:cNvPr id="15" name="TextBox 14"/>
          <p:cNvSpPr txBox="1"/>
          <p:nvPr/>
        </p:nvSpPr>
        <p:spPr>
          <a:xfrm>
            <a:off x="896112" y="4214241"/>
            <a:ext cx="4847691"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Multi-currency by design</a:t>
            </a:r>
          </a:p>
        </p:txBody>
      </p:sp>
      <p:sp>
        <p:nvSpPr>
          <p:cNvPr id="16" name="TextBox 15"/>
          <p:cNvSpPr txBox="1"/>
          <p:nvPr/>
        </p:nvSpPr>
        <p:spPr>
          <a:xfrm>
            <a:off x="896112" y="4594859"/>
            <a:ext cx="4847691" cy="588645"/>
          </a:xfrm>
          <a:prstGeom prst="rect">
            <a:avLst/>
          </a:prstGeom>
          <a:noFill/>
        </p:spPr>
        <p:txBody>
          <a:bodyPr wrap="square" lIns="0" tIns="0" rIns="0" bIns="0" anchor="t">
            <a:spAutoFit/>
          </a:bodyPr>
          <a:lstStyle/>
          <a:p>
            <a:pPr algn="l">
              <a:lnSpc>
                <a:spcPct val="122000"/>
              </a:lnSpc>
              <a:spcAft>
                <a:spcPts val="0"/>
              </a:spcAft>
            </a:pPr>
            <a:r>
              <a:rPr sz="1050" b="0" i="0">
                <a:solidFill>
                  <a:srgbClr val="5B6E82"/>
                </a:solidFill>
                <a:latin typeface="Arial"/>
              </a:rPr>
              <a:t>Wallets, FX and payouts to 150+ countries, so a merchant in Dhaka can be paid in USD and settled in the currency their bank actually holds.</a:t>
            </a:r>
          </a:p>
        </p:txBody>
      </p:sp>
      <p:sp>
        <p:nvSpPr>
          <p:cNvPr id="17" name="Rounded Rectangle 16"/>
          <p:cNvSpPr/>
          <p:nvPr/>
        </p:nvSpPr>
        <p:spPr>
          <a:xfrm>
            <a:off x="6210147" y="3775329"/>
            <a:ext cx="5323179" cy="1572768"/>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47891" y="3976497"/>
            <a:ext cx="1097280" cy="201168"/>
          </a:xfrm>
          <a:prstGeom prst="rect">
            <a:avLst/>
          </a:prstGeom>
          <a:noFill/>
        </p:spPr>
        <p:txBody>
          <a:bodyPr wrap="square" lIns="0" tIns="0" rIns="0" bIns="0" anchor="t">
            <a:spAutoFit/>
          </a:bodyPr>
          <a:lstStyle/>
          <a:p>
            <a:pPr algn="l">
              <a:lnSpc>
                <a:spcPct val="112000"/>
              </a:lnSpc>
              <a:spcAft>
                <a:spcPts val="0"/>
              </a:spcAft>
            </a:pPr>
            <a:r>
              <a:rPr sz="900" b="1" i="0" spc="140">
                <a:solidFill>
                  <a:srgbClr val="00B589"/>
                </a:solidFill>
                <a:latin typeface="Arial"/>
              </a:rPr>
              <a:t>04</a:t>
            </a:r>
          </a:p>
        </p:txBody>
      </p:sp>
      <p:sp>
        <p:nvSpPr>
          <p:cNvPr id="19" name="TextBox 18"/>
          <p:cNvSpPr txBox="1"/>
          <p:nvPr/>
        </p:nvSpPr>
        <p:spPr>
          <a:xfrm>
            <a:off x="6447891" y="4214241"/>
            <a:ext cx="4847691" cy="275463"/>
          </a:xfrm>
          <a:prstGeom prst="rect">
            <a:avLst/>
          </a:prstGeom>
          <a:noFill/>
        </p:spPr>
        <p:txBody>
          <a:bodyPr wrap="square" lIns="0" tIns="0" rIns="0" bIns="0" anchor="t">
            <a:spAutoFit/>
          </a:bodyPr>
          <a:lstStyle/>
          <a:p>
            <a:pPr algn="l">
              <a:lnSpc>
                <a:spcPct val="105000"/>
              </a:lnSpc>
              <a:spcAft>
                <a:spcPts val="0"/>
              </a:spcAft>
            </a:pPr>
            <a:r>
              <a:rPr sz="1350" b="1" i="0">
                <a:solidFill>
                  <a:srgbClr val="102236"/>
                </a:solidFill>
                <a:latin typeface="Arial"/>
              </a:rPr>
              <a:t>An API we can build a ledger against</a:t>
            </a:r>
          </a:p>
        </p:txBody>
      </p:sp>
      <p:sp>
        <p:nvSpPr>
          <p:cNvPr id="20" name="TextBox 19"/>
          <p:cNvSpPr txBox="1"/>
          <p:nvPr/>
        </p:nvSpPr>
        <p:spPr>
          <a:xfrm>
            <a:off x="6447891" y="4594859"/>
            <a:ext cx="4847691" cy="588645"/>
          </a:xfrm>
          <a:prstGeom prst="rect">
            <a:avLst/>
          </a:prstGeom>
          <a:noFill/>
        </p:spPr>
        <p:txBody>
          <a:bodyPr wrap="square" lIns="0" tIns="0" rIns="0" bIns="0" anchor="t">
            <a:spAutoFit/>
          </a:bodyPr>
          <a:lstStyle/>
          <a:p>
            <a:pPr algn="l">
              <a:lnSpc>
                <a:spcPct val="122000"/>
              </a:lnSpc>
              <a:spcAft>
                <a:spcPts val="0"/>
              </a:spcAft>
            </a:pPr>
            <a:r>
              <a:rPr sz="1050" b="0" i="0">
                <a:solidFill>
                  <a:srgbClr val="5B6E82"/>
                </a:solidFill>
                <a:latin typeface="Arial"/>
              </a:rPr>
              <a:t>Webhooks for capability and payment state changes, idempotent operations, a real sandbox, and reports we can reconcile against.</a:t>
            </a:r>
          </a:p>
        </p:txBody>
      </p:sp>
      <p:cxnSp>
        <p:nvCxnSpPr>
          <p:cNvPr id="21" name="Connector 20"/>
          <p:cNvCxnSpPr/>
          <p:nvPr/>
        </p:nvCxnSpPr>
        <p:spPr>
          <a:xfrm>
            <a:off x="658368" y="5274945"/>
            <a:ext cx="10874959" cy="0"/>
          </a:xfrm>
          <a:prstGeom prst="line">
            <a:avLst/>
          </a:prstGeom>
          <a:ln w="10160">
            <a:solidFill>
              <a:srgbClr val="DFE6E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58368" y="5457825"/>
            <a:ext cx="10874959"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5B6E82"/>
                </a:solidFill>
                <a:latin typeface="Arial"/>
              </a:rPr>
              <a:t>WHAT HAS TO BE TRUE FOR THIS TO WORK</a:t>
            </a:r>
          </a:p>
        </p:txBody>
      </p:sp>
      <p:sp>
        <p:nvSpPr>
          <p:cNvPr id="23" name="TextBox 22"/>
          <p:cNvSpPr txBox="1"/>
          <p:nvPr/>
        </p:nvSpPr>
        <p:spPr>
          <a:xfrm>
            <a:off x="658368" y="5750433"/>
            <a:ext cx="3213506" cy="548640"/>
          </a:xfrm>
          <a:prstGeom prst="rect">
            <a:avLst/>
          </a:prstGeom>
          <a:noFill/>
        </p:spPr>
        <p:txBody>
          <a:bodyPr wrap="square" lIns="0" rIns="0" tIns="0" bIns="0">
            <a:spAutoFit/>
          </a:bodyPr>
          <a:lstStyle/>
          <a:p>
            <a:pPr algn="l">
              <a:lnSpc>
                <a:spcPct val="125000"/>
              </a:lnSpc>
            </a:pPr>
            <a:r>
              <a:rPr sz="930" b="1" i="0">
                <a:solidFill>
                  <a:srgbClr val="102236"/>
                </a:solidFill>
                <a:latin typeface="Arial"/>
              </a:rPr>
              <a:t>Corridor by corridor. </a:t>
            </a:r>
            <a:r>
              <a:rPr sz="930" b="0" i="0">
                <a:solidFill>
                  <a:srgbClr val="5B6E82"/>
                </a:solidFill>
                <a:latin typeface="Arial"/>
              </a:rPr>
              <a:t>You confirm which markets are live today. We do not assume coverage and then apologise for it.</a:t>
            </a:r>
          </a:p>
        </p:txBody>
      </p:sp>
      <p:sp>
        <p:nvSpPr>
          <p:cNvPr id="24" name="TextBox 23"/>
          <p:cNvSpPr txBox="1"/>
          <p:nvPr/>
        </p:nvSpPr>
        <p:spPr>
          <a:xfrm>
            <a:off x="4283354" y="5750433"/>
            <a:ext cx="3213506" cy="548640"/>
          </a:xfrm>
          <a:prstGeom prst="rect">
            <a:avLst/>
          </a:prstGeom>
          <a:noFill/>
        </p:spPr>
        <p:txBody>
          <a:bodyPr wrap="square" lIns="0" rIns="0" tIns="0" bIns="0">
            <a:spAutoFit/>
          </a:bodyPr>
          <a:lstStyle/>
          <a:p>
            <a:pPr algn="l">
              <a:lnSpc>
                <a:spcPct val="125000"/>
              </a:lnSpc>
            </a:pPr>
            <a:r>
              <a:rPr sz="930" b="1" i="0">
                <a:solidFill>
                  <a:srgbClr val="102236"/>
                </a:solidFill>
                <a:latin typeface="Arial"/>
              </a:rPr>
              <a:t>Underwriting comfort. </a:t>
            </a:r>
            <a:r>
              <a:rPr sz="930" b="0" i="0">
                <a:solidFill>
                  <a:srgbClr val="5B6E82"/>
                </a:solidFill>
                <a:latin typeface="Arial"/>
              </a:rPr>
              <a:t>Your risk team is satisfied with how we hold and report merchant exposure.</a:t>
            </a:r>
          </a:p>
        </p:txBody>
      </p:sp>
      <p:sp>
        <p:nvSpPr>
          <p:cNvPr id="25" name="TextBox 24"/>
          <p:cNvSpPr txBox="1"/>
          <p:nvPr/>
        </p:nvSpPr>
        <p:spPr>
          <a:xfrm>
            <a:off x="7908340" y="5750433"/>
            <a:ext cx="3213506" cy="548640"/>
          </a:xfrm>
          <a:prstGeom prst="rect">
            <a:avLst/>
          </a:prstGeom>
          <a:noFill/>
        </p:spPr>
        <p:txBody>
          <a:bodyPr wrap="square" lIns="0" rIns="0" tIns="0" bIns="0">
            <a:spAutoFit/>
          </a:bodyPr>
          <a:lstStyle/>
          <a:p>
            <a:pPr algn="l">
              <a:lnSpc>
                <a:spcPct val="125000"/>
              </a:lnSpc>
            </a:pPr>
            <a:r>
              <a:rPr sz="930" b="1" i="0">
                <a:solidFill>
                  <a:srgbClr val="102236"/>
                </a:solidFill>
                <a:latin typeface="Arial"/>
              </a:rPr>
              <a:t>Economics that hold at volume. </a:t>
            </a:r>
            <a:r>
              <a:rPr sz="930" b="0" i="0">
                <a:solidFill>
                  <a:srgbClr val="5B6E82"/>
                </a:solidFill>
                <a:latin typeface="Arial"/>
              </a:rPr>
              <a:t>Pricing that works at $800K a month and still works at ten times that.</a:t>
            </a:r>
          </a:p>
        </p:txBody>
      </p:sp>
      <p:cxnSp>
        <p:nvCxnSpPr>
          <p:cNvPr id="26" name="Connector 25"/>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Airwallex partnership proposal  ·  Confidential</a:t>
            </a:r>
          </a:p>
        </p:txBody>
      </p:sp>
      <p:sp>
        <p:nvSpPr>
          <p:cNvPr id="28" name="TextBox 27"/>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A2B"/>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PARTNERSHIP MODEL</a:t>
            </a:r>
          </a:p>
        </p:txBody>
      </p:sp>
      <p:sp>
        <p:nvSpPr>
          <p:cNvPr id="3" name="TextBox 2"/>
          <p:cNvSpPr txBox="1"/>
          <p:nvPr/>
        </p:nvSpPr>
        <p:spPr>
          <a:xfrm>
            <a:off x="658368" y="749808"/>
            <a:ext cx="10874959" cy="480060"/>
          </a:xfrm>
          <a:prstGeom prst="rect">
            <a:avLst/>
          </a:prstGeom>
          <a:noFill/>
        </p:spPr>
        <p:txBody>
          <a:bodyPr wrap="square" lIns="0" tIns="0" rIns="0" bIns="0" anchor="t">
            <a:spAutoFit/>
          </a:bodyPr>
          <a:lstStyle/>
          <a:p>
            <a:pPr algn="l">
              <a:lnSpc>
                <a:spcPct val="102000"/>
              </a:lnSpc>
              <a:spcAft>
                <a:spcPts val="0"/>
              </a:spcAft>
            </a:pPr>
            <a:r>
              <a:rPr sz="2700" b="1" i="0">
                <a:solidFill>
                  <a:srgbClr val="FFFFFF"/>
                </a:solidFill>
                <a:latin typeface="Arial"/>
              </a:rPr>
              <a:t>Who does what — and who is merchant of record</a:t>
            </a:r>
          </a:p>
        </p:txBody>
      </p:sp>
      <p:sp>
        <p:nvSpPr>
          <p:cNvPr id="4" name="TextBox 3"/>
          <p:cNvSpPr txBox="1"/>
          <p:nvPr/>
        </p:nvSpPr>
        <p:spPr>
          <a:xfrm>
            <a:off x="658368" y="1260957"/>
            <a:ext cx="9326880" cy="328041"/>
          </a:xfrm>
          <a:prstGeom prst="rect">
            <a:avLst/>
          </a:prstGeom>
          <a:noFill/>
        </p:spPr>
        <p:txBody>
          <a:bodyPr wrap="square" lIns="0" tIns="0" rIns="0" bIns="0" anchor="t">
            <a:spAutoFit/>
          </a:bodyPr>
          <a:lstStyle/>
          <a:p>
            <a:pPr algn="l">
              <a:lnSpc>
                <a:spcPct val="125000"/>
              </a:lnSpc>
              <a:spcAft>
                <a:spcPts val="0"/>
              </a:spcAft>
            </a:pPr>
            <a:r>
              <a:rPr sz="1350" b="0" i="0">
                <a:solidFill>
                  <a:srgbClr val="9FB3C6"/>
                </a:solidFill>
                <a:latin typeface="Arial"/>
              </a:rPr>
              <a:t>Two of your models fit us at different stages. We propose starting with the lighter one.</a:t>
            </a:r>
          </a:p>
        </p:txBody>
      </p:sp>
      <p:sp>
        <p:nvSpPr>
          <p:cNvPr id="5" name="TextBox 4"/>
          <p:cNvSpPr txBox="1"/>
          <p:nvPr/>
        </p:nvSpPr>
        <p:spPr>
          <a:xfrm>
            <a:off x="658368" y="1826742"/>
            <a:ext cx="5163159" cy="237744"/>
          </a:xfrm>
          <a:prstGeom prst="rect">
            <a:avLst/>
          </a:prstGeom>
          <a:noFill/>
        </p:spPr>
        <p:txBody>
          <a:bodyPr wrap="square" lIns="0" tIns="0" rIns="0" bIns="0" anchor="t">
            <a:spAutoFit/>
          </a:bodyPr>
          <a:lstStyle/>
          <a:p>
            <a:pPr algn="l">
              <a:lnSpc>
                <a:spcPct val="112000"/>
              </a:lnSpc>
              <a:spcAft>
                <a:spcPts val="0"/>
              </a:spcAft>
            </a:pPr>
            <a:r>
              <a:rPr sz="1000" b="1" i="0" spc="130">
                <a:solidFill>
                  <a:srgbClr val="00B589"/>
                </a:solidFill>
                <a:latin typeface="Arial"/>
              </a:rPr>
              <a:t>LAUNCH — SELLER LEDGER</a:t>
            </a:r>
          </a:p>
        </p:txBody>
      </p:sp>
      <p:sp>
        <p:nvSpPr>
          <p:cNvPr id="6" name="TextBox 5"/>
          <p:cNvSpPr txBox="1"/>
          <p:nvPr/>
        </p:nvSpPr>
        <p:spPr>
          <a:xfrm>
            <a:off x="658368" y="2064486"/>
            <a:ext cx="5163159" cy="411480"/>
          </a:xfrm>
          <a:prstGeom prst="rect">
            <a:avLst/>
          </a:prstGeom>
          <a:noFill/>
        </p:spPr>
        <p:txBody>
          <a:bodyPr wrap="square" lIns="0" tIns="0" rIns="0" bIns="0" anchor="t">
            <a:spAutoFit/>
          </a:bodyPr>
          <a:lstStyle/>
          <a:p>
            <a:pPr algn="l">
              <a:lnSpc>
                <a:spcPct val="120000"/>
              </a:lnSpc>
              <a:spcAft>
                <a:spcPts val="0"/>
              </a:spcAft>
            </a:pPr>
            <a:r>
              <a:rPr sz="950" b="0" i="0">
                <a:solidFill>
                  <a:srgbClr val="9FB3C6"/>
                </a:solidFill>
                <a:latin typeface="Arial"/>
              </a:rPr>
              <a:t>KD PAY is the platform; merchants are not your customers</a:t>
            </a:r>
          </a:p>
        </p:txBody>
      </p:sp>
      <p:sp>
        <p:nvSpPr>
          <p:cNvPr id="7" name="TextBox 6"/>
          <p:cNvSpPr txBox="1"/>
          <p:nvPr/>
        </p:nvSpPr>
        <p:spPr>
          <a:xfrm>
            <a:off x="6233007" y="1826742"/>
            <a:ext cx="5163159" cy="237744"/>
          </a:xfrm>
          <a:prstGeom prst="rect">
            <a:avLst/>
          </a:prstGeom>
          <a:noFill/>
        </p:spPr>
        <p:txBody>
          <a:bodyPr wrap="square" lIns="0" tIns="0" rIns="0" bIns="0" anchor="t">
            <a:spAutoFit/>
          </a:bodyPr>
          <a:lstStyle/>
          <a:p>
            <a:pPr algn="l">
              <a:lnSpc>
                <a:spcPct val="112000"/>
              </a:lnSpc>
              <a:spcAft>
                <a:spcPts val="0"/>
              </a:spcAft>
            </a:pPr>
            <a:r>
              <a:rPr sz="1000" b="1" i="0" spc="130">
                <a:solidFill>
                  <a:srgbClr val="2F6FED"/>
                </a:solidFill>
                <a:latin typeface="Arial"/>
              </a:rPr>
              <a:t>SCALE — CONNECTED ACCOUNTS</a:t>
            </a:r>
          </a:p>
        </p:txBody>
      </p:sp>
      <p:sp>
        <p:nvSpPr>
          <p:cNvPr id="8" name="TextBox 7"/>
          <p:cNvSpPr txBox="1"/>
          <p:nvPr/>
        </p:nvSpPr>
        <p:spPr>
          <a:xfrm>
            <a:off x="6233007" y="2064486"/>
            <a:ext cx="5163159" cy="411480"/>
          </a:xfrm>
          <a:prstGeom prst="rect">
            <a:avLst/>
          </a:prstGeom>
          <a:noFill/>
        </p:spPr>
        <p:txBody>
          <a:bodyPr wrap="square" lIns="0" tIns="0" rIns="0" bIns="0" anchor="t">
            <a:spAutoFit/>
          </a:bodyPr>
          <a:lstStyle/>
          <a:p>
            <a:pPr algn="l">
              <a:lnSpc>
                <a:spcPct val="120000"/>
              </a:lnSpc>
              <a:spcAft>
                <a:spcPts val="0"/>
              </a:spcAft>
            </a:pPr>
            <a:r>
              <a:rPr sz="950" b="0" i="0">
                <a:solidFill>
                  <a:srgbClr val="9FB3C6"/>
                </a:solidFill>
                <a:latin typeface="Arial"/>
              </a:rPr>
              <a:t>Each merchant onboarded and KYB'd by Airwallex</a:t>
            </a:r>
          </a:p>
        </p:txBody>
      </p:sp>
      <p:sp>
        <p:nvSpPr>
          <p:cNvPr id="9" name="Rounded Rectangle 8"/>
          <p:cNvSpPr/>
          <p:nvPr/>
        </p:nvSpPr>
        <p:spPr>
          <a:xfrm>
            <a:off x="548640" y="2549118"/>
            <a:ext cx="11094415" cy="493776"/>
          </a:xfrm>
          <a:prstGeom prst="roundRect">
            <a:avLst>
              <a:gd name="adj" fmla="val 4000"/>
            </a:avLst>
          </a:prstGeom>
          <a:solidFill>
            <a:srgbClr val="122C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2640558"/>
            <a:ext cx="2148840" cy="274320"/>
          </a:xfrm>
          <a:prstGeom prst="rect">
            <a:avLst/>
          </a:prstGeom>
          <a:noFill/>
        </p:spPr>
        <p:txBody>
          <a:bodyPr wrap="square" lIns="0" tIns="0" rIns="0" bIns="0" anchor="t">
            <a:spAutoFit/>
          </a:bodyPr>
          <a:lstStyle/>
          <a:p>
            <a:pPr algn="l">
              <a:lnSpc>
                <a:spcPct val="112000"/>
              </a:lnSpc>
              <a:spcAft>
                <a:spcPts val="0"/>
              </a:spcAft>
            </a:pPr>
            <a:r>
              <a:rPr sz="800" b="1" i="0" spc="80">
                <a:solidFill>
                  <a:srgbClr val="9FB3C6"/>
                </a:solidFill>
                <a:latin typeface="Arial"/>
              </a:rPr>
              <a:t>MERCHANT OF RECORD</a:t>
            </a:r>
          </a:p>
        </p:txBody>
      </p:sp>
      <p:sp>
        <p:nvSpPr>
          <p:cNvPr id="11" name="TextBox 10"/>
          <p:cNvSpPr txBox="1"/>
          <p:nvPr/>
        </p:nvSpPr>
        <p:spPr>
          <a:xfrm>
            <a:off x="2898648" y="2613126"/>
            <a:ext cx="4160520" cy="365760"/>
          </a:xfrm>
          <a:prstGeom prst="rect">
            <a:avLst/>
          </a:prstGeom>
          <a:noFill/>
        </p:spPr>
        <p:txBody>
          <a:bodyPr wrap="square" lIns="0" tIns="0" rIns="0" bIns="0" anchor="t">
            <a:spAutoFit/>
          </a:bodyPr>
          <a:lstStyle/>
          <a:p>
            <a:pPr algn="l">
              <a:lnSpc>
                <a:spcPct val="110000"/>
              </a:lnSpc>
              <a:spcAft>
                <a:spcPts val="0"/>
              </a:spcAft>
            </a:pPr>
            <a:r>
              <a:rPr sz="1050" b="0" i="0">
                <a:solidFill>
                  <a:srgbClr val="FFFFFF"/>
                </a:solidFill>
                <a:latin typeface="Arial"/>
              </a:rPr>
              <a:t>KD PAY, under the Airwallex master account</a:t>
            </a:r>
          </a:p>
        </p:txBody>
      </p:sp>
      <p:sp>
        <p:nvSpPr>
          <p:cNvPr id="12" name="TextBox 11"/>
          <p:cNvSpPr txBox="1"/>
          <p:nvPr/>
        </p:nvSpPr>
        <p:spPr>
          <a:xfrm>
            <a:off x="6278727" y="2613126"/>
            <a:ext cx="5117439" cy="365760"/>
          </a:xfrm>
          <a:prstGeom prst="rect">
            <a:avLst/>
          </a:prstGeom>
          <a:noFill/>
        </p:spPr>
        <p:txBody>
          <a:bodyPr wrap="square" lIns="0" tIns="0" rIns="0" bIns="0" anchor="t">
            <a:spAutoFit/>
          </a:bodyPr>
          <a:lstStyle/>
          <a:p>
            <a:pPr algn="l">
              <a:lnSpc>
                <a:spcPct val="110000"/>
              </a:lnSpc>
              <a:spcAft>
                <a:spcPts val="0"/>
              </a:spcAft>
            </a:pPr>
            <a:r>
              <a:rPr sz="1050" b="0" i="0">
                <a:solidFill>
                  <a:srgbClr val="9FB3C6"/>
                </a:solidFill>
                <a:latin typeface="Arial"/>
              </a:rPr>
              <a:t>The merchant, as a full connected account</a:t>
            </a:r>
          </a:p>
        </p:txBody>
      </p:sp>
      <p:sp>
        <p:nvSpPr>
          <p:cNvPr id="13" name="TextBox 12"/>
          <p:cNvSpPr txBox="1"/>
          <p:nvPr/>
        </p:nvSpPr>
        <p:spPr>
          <a:xfrm>
            <a:off x="658368" y="3129762"/>
            <a:ext cx="2148840" cy="274320"/>
          </a:xfrm>
          <a:prstGeom prst="rect">
            <a:avLst/>
          </a:prstGeom>
          <a:noFill/>
        </p:spPr>
        <p:txBody>
          <a:bodyPr wrap="square" lIns="0" tIns="0" rIns="0" bIns="0" anchor="t">
            <a:spAutoFit/>
          </a:bodyPr>
          <a:lstStyle/>
          <a:p>
            <a:pPr algn="l">
              <a:lnSpc>
                <a:spcPct val="112000"/>
              </a:lnSpc>
              <a:spcAft>
                <a:spcPts val="0"/>
              </a:spcAft>
            </a:pPr>
            <a:r>
              <a:rPr sz="800" b="1" i="0" spc="80">
                <a:solidFill>
                  <a:srgbClr val="9FB3C6"/>
                </a:solidFill>
                <a:latin typeface="Arial"/>
              </a:rPr>
              <a:t>KYC / KYB</a:t>
            </a:r>
          </a:p>
        </p:txBody>
      </p:sp>
      <p:sp>
        <p:nvSpPr>
          <p:cNvPr id="14" name="TextBox 13"/>
          <p:cNvSpPr txBox="1"/>
          <p:nvPr/>
        </p:nvSpPr>
        <p:spPr>
          <a:xfrm>
            <a:off x="2898648" y="3102330"/>
            <a:ext cx="4160520" cy="365760"/>
          </a:xfrm>
          <a:prstGeom prst="rect">
            <a:avLst/>
          </a:prstGeom>
          <a:noFill/>
        </p:spPr>
        <p:txBody>
          <a:bodyPr wrap="square" lIns="0" tIns="0" rIns="0" bIns="0" anchor="t">
            <a:spAutoFit/>
          </a:bodyPr>
          <a:lstStyle/>
          <a:p>
            <a:pPr algn="l">
              <a:lnSpc>
                <a:spcPct val="110000"/>
              </a:lnSpc>
              <a:spcAft>
                <a:spcPts val="0"/>
              </a:spcAft>
            </a:pPr>
            <a:r>
              <a:rPr sz="1050" b="0" i="0">
                <a:solidFill>
                  <a:srgbClr val="FFFFFF"/>
                </a:solidFill>
                <a:latin typeface="Arial"/>
              </a:rPr>
              <a:t>Airwallex onboards KD PAY. We onboard merchants.</a:t>
            </a:r>
          </a:p>
        </p:txBody>
      </p:sp>
      <p:sp>
        <p:nvSpPr>
          <p:cNvPr id="15" name="TextBox 14"/>
          <p:cNvSpPr txBox="1"/>
          <p:nvPr/>
        </p:nvSpPr>
        <p:spPr>
          <a:xfrm>
            <a:off x="6278727" y="3102330"/>
            <a:ext cx="5117439" cy="365760"/>
          </a:xfrm>
          <a:prstGeom prst="rect">
            <a:avLst/>
          </a:prstGeom>
          <a:noFill/>
        </p:spPr>
        <p:txBody>
          <a:bodyPr wrap="square" lIns="0" tIns="0" rIns="0" bIns="0" anchor="t">
            <a:spAutoFit/>
          </a:bodyPr>
          <a:lstStyle/>
          <a:p>
            <a:pPr algn="l">
              <a:lnSpc>
                <a:spcPct val="110000"/>
              </a:lnSpc>
              <a:spcAft>
                <a:spcPts val="0"/>
              </a:spcAft>
            </a:pPr>
            <a:r>
              <a:rPr sz="1050" b="0" i="0">
                <a:solidFill>
                  <a:srgbClr val="9FB3C6"/>
                </a:solidFill>
                <a:latin typeface="Arial"/>
              </a:rPr>
              <a:t>Airwallex per merchant, via API</a:t>
            </a:r>
          </a:p>
        </p:txBody>
      </p:sp>
      <p:sp>
        <p:nvSpPr>
          <p:cNvPr id="16" name="Rounded Rectangle 15"/>
          <p:cNvSpPr/>
          <p:nvPr/>
        </p:nvSpPr>
        <p:spPr>
          <a:xfrm>
            <a:off x="548640" y="3527526"/>
            <a:ext cx="11094415" cy="493776"/>
          </a:xfrm>
          <a:prstGeom prst="roundRect">
            <a:avLst>
              <a:gd name="adj" fmla="val 4000"/>
            </a:avLst>
          </a:prstGeom>
          <a:solidFill>
            <a:srgbClr val="122C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8368" y="3618966"/>
            <a:ext cx="2148840" cy="274320"/>
          </a:xfrm>
          <a:prstGeom prst="rect">
            <a:avLst/>
          </a:prstGeom>
          <a:noFill/>
        </p:spPr>
        <p:txBody>
          <a:bodyPr wrap="square" lIns="0" tIns="0" rIns="0" bIns="0" anchor="t">
            <a:spAutoFit/>
          </a:bodyPr>
          <a:lstStyle/>
          <a:p>
            <a:pPr algn="l">
              <a:lnSpc>
                <a:spcPct val="112000"/>
              </a:lnSpc>
              <a:spcAft>
                <a:spcPts val="0"/>
              </a:spcAft>
            </a:pPr>
            <a:r>
              <a:rPr sz="800" b="1" i="0" spc="80">
                <a:solidFill>
                  <a:srgbClr val="9FB3C6"/>
                </a:solidFill>
                <a:latin typeface="Arial"/>
              </a:rPr>
              <a:t>FUNDS HELD</a:t>
            </a:r>
          </a:p>
        </p:txBody>
      </p:sp>
      <p:sp>
        <p:nvSpPr>
          <p:cNvPr id="18" name="TextBox 17"/>
          <p:cNvSpPr txBox="1"/>
          <p:nvPr/>
        </p:nvSpPr>
        <p:spPr>
          <a:xfrm>
            <a:off x="2898648" y="3591534"/>
            <a:ext cx="4160520" cy="365760"/>
          </a:xfrm>
          <a:prstGeom prst="rect">
            <a:avLst/>
          </a:prstGeom>
          <a:noFill/>
        </p:spPr>
        <p:txBody>
          <a:bodyPr wrap="square" lIns="0" tIns="0" rIns="0" bIns="0" anchor="t">
            <a:spAutoFit/>
          </a:bodyPr>
          <a:lstStyle/>
          <a:p>
            <a:pPr algn="l">
              <a:lnSpc>
                <a:spcPct val="110000"/>
              </a:lnSpc>
              <a:spcAft>
                <a:spcPts val="0"/>
              </a:spcAft>
            </a:pPr>
            <a:r>
              <a:rPr sz="1050" b="0" i="0">
                <a:solidFill>
                  <a:srgbClr val="FFFFFF"/>
                </a:solidFill>
                <a:latin typeface="Arial"/>
              </a:rPr>
              <a:t>Inside Airwallex — never in our bank account</a:t>
            </a:r>
          </a:p>
        </p:txBody>
      </p:sp>
      <p:sp>
        <p:nvSpPr>
          <p:cNvPr id="19" name="TextBox 18"/>
          <p:cNvSpPr txBox="1"/>
          <p:nvPr/>
        </p:nvSpPr>
        <p:spPr>
          <a:xfrm>
            <a:off x="6278727" y="3591534"/>
            <a:ext cx="5117439" cy="365760"/>
          </a:xfrm>
          <a:prstGeom prst="rect">
            <a:avLst/>
          </a:prstGeom>
          <a:noFill/>
        </p:spPr>
        <p:txBody>
          <a:bodyPr wrap="square" lIns="0" tIns="0" rIns="0" bIns="0" anchor="t">
            <a:spAutoFit/>
          </a:bodyPr>
          <a:lstStyle/>
          <a:p>
            <a:pPr algn="l">
              <a:lnSpc>
                <a:spcPct val="110000"/>
              </a:lnSpc>
              <a:spcAft>
                <a:spcPts val="0"/>
              </a:spcAft>
            </a:pPr>
            <a:r>
              <a:rPr sz="1050" b="0" i="0">
                <a:solidFill>
                  <a:srgbClr val="9FB3C6"/>
                </a:solidFill>
                <a:latin typeface="Arial"/>
              </a:rPr>
              <a:t>Inside each merchant's wallet</a:t>
            </a:r>
          </a:p>
        </p:txBody>
      </p:sp>
      <p:sp>
        <p:nvSpPr>
          <p:cNvPr id="20" name="TextBox 19"/>
          <p:cNvSpPr txBox="1"/>
          <p:nvPr/>
        </p:nvSpPr>
        <p:spPr>
          <a:xfrm>
            <a:off x="658368" y="4108170"/>
            <a:ext cx="2148840" cy="274320"/>
          </a:xfrm>
          <a:prstGeom prst="rect">
            <a:avLst/>
          </a:prstGeom>
          <a:noFill/>
        </p:spPr>
        <p:txBody>
          <a:bodyPr wrap="square" lIns="0" tIns="0" rIns="0" bIns="0" anchor="t">
            <a:spAutoFit/>
          </a:bodyPr>
          <a:lstStyle/>
          <a:p>
            <a:pPr algn="l">
              <a:lnSpc>
                <a:spcPct val="112000"/>
              </a:lnSpc>
              <a:spcAft>
                <a:spcPts val="0"/>
              </a:spcAft>
            </a:pPr>
            <a:r>
              <a:rPr sz="800" b="1" i="0" spc="80">
                <a:solidFill>
                  <a:srgbClr val="9FB3C6"/>
                </a:solidFill>
                <a:latin typeface="Arial"/>
              </a:rPr>
              <a:t>DISPUTES &amp; RESERVES</a:t>
            </a:r>
          </a:p>
        </p:txBody>
      </p:sp>
      <p:sp>
        <p:nvSpPr>
          <p:cNvPr id="21" name="TextBox 20"/>
          <p:cNvSpPr txBox="1"/>
          <p:nvPr/>
        </p:nvSpPr>
        <p:spPr>
          <a:xfrm>
            <a:off x="2898648" y="4080738"/>
            <a:ext cx="4160520" cy="365760"/>
          </a:xfrm>
          <a:prstGeom prst="rect">
            <a:avLst/>
          </a:prstGeom>
          <a:noFill/>
        </p:spPr>
        <p:txBody>
          <a:bodyPr wrap="square" lIns="0" tIns="0" rIns="0" bIns="0" anchor="t">
            <a:spAutoFit/>
          </a:bodyPr>
          <a:lstStyle/>
          <a:p>
            <a:pPr algn="l">
              <a:lnSpc>
                <a:spcPct val="110000"/>
              </a:lnSpc>
              <a:spcAft>
                <a:spcPts val="0"/>
              </a:spcAft>
            </a:pPr>
            <a:r>
              <a:rPr sz="1050" b="0" i="0">
                <a:solidFill>
                  <a:srgbClr val="FFFFFF"/>
                </a:solidFill>
                <a:latin typeface="Arial"/>
              </a:rPr>
              <a:t>KD PAY handles evidence and reserves</a:t>
            </a:r>
          </a:p>
        </p:txBody>
      </p:sp>
      <p:sp>
        <p:nvSpPr>
          <p:cNvPr id="22" name="TextBox 21"/>
          <p:cNvSpPr txBox="1"/>
          <p:nvPr/>
        </p:nvSpPr>
        <p:spPr>
          <a:xfrm>
            <a:off x="6278727" y="4080738"/>
            <a:ext cx="5117439" cy="365760"/>
          </a:xfrm>
          <a:prstGeom prst="rect">
            <a:avLst/>
          </a:prstGeom>
          <a:noFill/>
        </p:spPr>
        <p:txBody>
          <a:bodyPr wrap="square" lIns="0" tIns="0" rIns="0" bIns="0" anchor="t">
            <a:spAutoFit/>
          </a:bodyPr>
          <a:lstStyle/>
          <a:p>
            <a:pPr algn="l">
              <a:lnSpc>
                <a:spcPct val="110000"/>
              </a:lnSpc>
              <a:spcAft>
                <a:spcPts val="0"/>
              </a:spcAft>
            </a:pPr>
            <a:r>
              <a:rPr sz="1050" b="0" i="0">
                <a:solidFill>
                  <a:srgbClr val="9FB3C6"/>
                </a:solidFill>
                <a:latin typeface="Arial"/>
              </a:rPr>
              <a:t>Merchant-level liability</a:t>
            </a:r>
          </a:p>
        </p:txBody>
      </p:sp>
      <p:sp>
        <p:nvSpPr>
          <p:cNvPr id="23" name="Rounded Rectangle 22"/>
          <p:cNvSpPr/>
          <p:nvPr/>
        </p:nvSpPr>
        <p:spPr>
          <a:xfrm>
            <a:off x="548640" y="4505934"/>
            <a:ext cx="11094415" cy="493776"/>
          </a:xfrm>
          <a:prstGeom prst="roundRect">
            <a:avLst>
              <a:gd name="adj" fmla="val 4000"/>
            </a:avLst>
          </a:prstGeom>
          <a:solidFill>
            <a:srgbClr val="122C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8368" y="4597374"/>
            <a:ext cx="2148840" cy="274320"/>
          </a:xfrm>
          <a:prstGeom prst="rect">
            <a:avLst/>
          </a:prstGeom>
          <a:noFill/>
        </p:spPr>
        <p:txBody>
          <a:bodyPr wrap="square" lIns="0" tIns="0" rIns="0" bIns="0" anchor="t">
            <a:spAutoFit/>
          </a:bodyPr>
          <a:lstStyle/>
          <a:p>
            <a:pPr algn="l">
              <a:lnSpc>
                <a:spcPct val="112000"/>
              </a:lnSpc>
              <a:spcAft>
                <a:spcPts val="0"/>
              </a:spcAft>
            </a:pPr>
            <a:r>
              <a:rPr sz="800" b="1" i="0" spc="80">
                <a:solidFill>
                  <a:srgbClr val="9FB3C6"/>
                </a:solidFill>
                <a:latin typeface="Arial"/>
              </a:rPr>
              <a:t>MERCHANT EXPERIENCE</a:t>
            </a:r>
          </a:p>
        </p:txBody>
      </p:sp>
      <p:sp>
        <p:nvSpPr>
          <p:cNvPr id="25" name="TextBox 24"/>
          <p:cNvSpPr txBox="1"/>
          <p:nvPr/>
        </p:nvSpPr>
        <p:spPr>
          <a:xfrm>
            <a:off x="2898648" y="4569942"/>
            <a:ext cx="4160520" cy="365760"/>
          </a:xfrm>
          <a:prstGeom prst="rect">
            <a:avLst/>
          </a:prstGeom>
          <a:noFill/>
        </p:spPr>
        <p:txBody>
          <a:bodyPr wrap="square" lIns="0" tIns="0" rIns="0" bIns="0" anchor="t">
            <a:spAutoFit/>
          </a:bodyPr>
          <a:lstStyle/>
          <a:p>
            <a:pPr algn="l">
              <a:lnSpc>
                <a:spcPct val="110000"/>
              </a:lnSpc>
              <a:spcAft>
                <a:spcPts val="0"/>
              </a:spcAft>
            </a:pPr>
            <a:r>
              <a:rPr sz="1050" b="0" i="0">
                <a:solidFill>
                  <a:srgbClr val="FFFFFF"/>
                </a:solidFill>
                <a:latin typeface="Arial"/>
              </a:rPr>
              <a:t>Our brand, our support, our dashboard</a:t>
            </a:r>
          </a:p>
        </p:txBody>
      </p:sp>
      <p:sp>
        <p:nvSpPr>
          <p:cNvPr id="26" name="TextBox 25"/>
          <p:cNvSpPr txBox="1"/>
          <p:nvPr/>
        </p:nvSpPr>
        <p:spPr>
          <a:xfrm>
            <a:off x="6278727" y="4569942"/>
            <a:ext cx="5117439" cy="365760"/>
          </a:xfrm>
          <a:prstGeom prst="rect">
            <a:avLst/>
          </a:prstGeom>
          <a:noFill/>
        </p:spPr>
        <p:txBody>
          <a:bodyPr wrap="square" lIns="0" tIns="0" rIns="0" bIns="0" anchor="t">
            <a:spAutoFit/>
          </a:bodyPr>
          <a:lstStyle/>
          <a:p>
            <a:pPr algn="l">
              <a:lnSpc>
                <a:spcPct val="110000"/>
              </a:lnSpc>
              <a:spcAft>
                <a:spcPts val="0"/>
              </a:spcAft>
            </a:pPr>
            <a:r>
              <a:rPr sz="1050" b="0" i="0">
                <a:solidFill>
                  <a:srgbClr val="9FB3C6"/>
                </a:solidFill>
                <a:latin typeface="Arial"/>
              </a:rPr>
              <a:t>Airwallex onboarding inside our UI</a:t>
            </a:r>
          </a:p>
        </p:txBody>
      </p:sp>
      <p:sp>
        <p:nvSpPr>
          <p:cNvPr id="27" name="TextBox 26"/>
          <p:cNvSpPr txBox="1"/>
          <p:nvPr/>
        </p:nvSpPr>
        <p:spPr>
          <a:xfrm>
            <a:off x="658368" y="5086578"/>
            <a:ext cx="2148840" cy="274320"/>
          </a:xfrm>
          <a:prstGeom prst="rect">
            <a:avLst/>
          </a:prstGeom>
          <a:noFill/>
        </p:spPr>
        <p:txBody>
          <a:bodyPr wrap="square" lIns="0" tIns="0" rIns="0" bIns="0" anchor="t">
            <a:spAutoFit/>
          </a:bodyPr>
          <a:lstStyle/>
          <a:p>
            <a:pPr algn="l">
              <a:lnSpc>
                <a:spcPct val="112000"/>
              </a:lnSpc>
              <a:spcAft>
                <a:spcPts val="0"/>
              </a:spcAft>
            </a:pPr>
            <a:r>
              <a:rPr sz="800" b="1" i="0" spc="80">
                <a:solidFill>
                  <a:srgbClr val="9FB3C6"/>
                </a:solidFill>
                <a:latin typeface="Arial"/>
              </a:rPr>
              <a:t>TIME TO FIRST PAYMENT</a:t>
            </a:r>
          </a:p>
        </p:txBody>
      </p:sp>
      <p:sp>
        <p:nvSpPr>
          <p:cNvPr id="28" name="TextBox 27"/>
          <p:cNvSpPr txBox="1"/>
          <p:nvPr/>
        </p:nvSpPr>
        <p:spPr>
          <a:xfrm>
            <a:off x="2898648" y="5059146"/>
            <a:ext cx="4160520" cy="365760"/>
          </a:xfrm>
          <a:prstGeom prst="rect">
            <a:avLst/>
          </a:prstGeom>
          <a:noFill/>
        </p:spPr>
        <p:txBody>
          <a:bodyPr wrap="square" lIns="0" tIns="0" rIns="0" bIns="0" anchor="t">
            <a:spAutoFit/>
          </a:bodyPr>
          <a:lstStyle/>
          <a:p>
            <a:pPr algn="l">
              <a:lnSpc>
                <a:spcPct val="110000"/>
              </a:lnSpc>
              <a:spcAft>
                <a:spcPts val="0"/>
              </a:spcAft>
            </a:pPr>
            <a:r>
              <a:rPr sz="1050" b="0" i="0">
                <a:solidFill>
                  <a:srgbClr val="FFFFFF"/>
                </a:solidFill>
                <a:latin typeface="Arial"/>
              </a:rPr>
              <a:t>Weeks</a:t>
            </a:r>
          </a:p>
        </p:txBody>
      </p:sp>
      <p:sp>
        <p:nvSpPr>
          <p:cNvPr id="29" name="TextBox 28"/>
          <p:cNvSpPr txBox="1"/>
          <p:nvPr/>
        </p:nvSpPr>
        <p:spPr>
          <a:xfrm>
            <a:off x="6278727" y="5059146"/>
            <a:ext cx="5117439" cy="365760"/>
          </a:xfrm>
          <a:prstGeom prst="rect">
            <a:avLst/>
          </a:prstGeom>
          <a:noFill/>
        </p:spPr>
        <p:txBody>
          <a:bodyPr wrap="square" lIns="0" tIns="0" rIns="0" bIns="0" anchor="t">
            <a:spAutoFit/>
          </a:bodyPr>
          <a:lstStyle/>
          <a:p>
            <a:pPr algn="l">
              <a:lnSpc>
                <a:spcPct val="110000"/>
              </a:lnSpc>
              <a:spcAft>
                <a:spcPts val="0"/>
              </a:spcAft>
            </a:pPr>
            <a:r>
              <a:rPr sz="1050" b="0" i="0">
                <a:solidFill>
                  <a:srgbClr val="9FB3C6"/>
                </a:solidFill>
                <a:latin typeface="Arial"/>
              </a:rPr>
              <a:t>Per-merchant, days to weeks</a:t>
            </a:r>
          </a:p>
        </p:txBody>
      </p:sp>
      <p:sp>
        <p:nvSpPr>
          <p:cNvPr id="30" name="TextBox 29"/>
          <p:cNvSpPr txBox="1"/>
          <p:nvPr/>
        </p:nvSpPr>
        <p:spPr>
          <a:xfrm>
            <a:off x="658368" y="5776950"/>
            <a:ext cx="10874959" cy="274320"/>
          </a:xfrm>
          <a:prstGeom prst="rect">
            <a:avLst/>
          </a:prstGeom>
          <a:noFill/>
        </p:spPr>
        <p:txBody>
          <a:bodyPr wrap="square" lIns="0" tIns="0" rIns="0" bIns="0" anchor="t">
            <a:spAutoFit/>
          </a:bodyPr>
          <a:lstStyle/>
          <a:p>
            <a:pPr algn="l">
              <a:lnSpc>
                <a:spcPct val="112000"/>
              </a:lnSpc>
              <a:spcAft>
                <a:spcPts val="0"/>
              </a:spcAft>
            </a:pPr>
            <a:r>
              <a:rPr sz="1150" b="1" i="0">
                <a:solidFill>
                  <a:srgbClr val="00B589"/>
                </a:solidFill>
                <a:latin typeface="Arial"/>
              </a:rPr>
              <a:t>Recommendation: launch on the ledger model, migrate the top 20% of merchants to connected accounts in year two.</a:t>
            </a:r>
          </a:p>
        </p:txBody>
      </p:sp>
      <p:cxnSp>
        <p:nvCxnSpPr>
          <p:cNvPr id="31" name="Connector 30"/>
          <p:cNvCxnSpPr/>
          <p:nvPr/>
        </p:nvCxnSpPr>
        <p:spPr>
          <a:xfrm>
            <a:off x="658368" y="6327648"/>
            <a:ext cx="10874959" cy="0"/>
          </a:xfrm>
          <a:prstGeom prst="line">
            <a:avLst/>
          </a:prstGeom>
          <a:ln w="7620">
            <a:solidFill>
              <a:srgbClr val="213B55"/>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9FB3C6"/>
                </a:solidFill>
                <a:latin typeface="Arial"/>
              </a:rPr>
              <a:t>KD PAY LLC  ·  Airwallex partnership proposal  ·  Confidential</a:t>
            </a:r>
          </a:p>
        </p:txBody>
      </p:sp>
      <p:sp>
        <p:nvSpPr>
          <p:cNvPr id="33" name="TextBox 32"/>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9FB3C6"/>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RISK</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Our dispute record, against the threshold that matters</a:t>
            </a:r>
          </a:p>
        </p:txBody>
      </p:sp>
      <p:sp>
        <p:nvSpPr>
          <p:cNvPr id="4" name="TextBox 3"/>
          <p:cNvSpPr txBox="1"/>
          <p:nvPr/>
        </p:nvSpPr>
        <p:spPr>
          <a:xfrm>
            <a:off x="658368" y="1307592"/>
            <a:ext cx="9326880" cy="328041"/>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Card networks start monitoring a merchant above 0.9% chargebacks. We operate at 0.01%.</a:t>
            </a:r>
          </a:p>
        </p:txBody>
      </p:sp>
      <p:sp>
        <p:nvSpPr>
          <p:cNvPr id="5" name="TextBox 4"/>
          <p:cNvSpPr txBox="1"/>
          <p:nvPr/>
        </p:nvSpPr>
        <p:spPr>
          <a:xfrm>
            <a:off x="658368" y="1864233"/>
            <a:ext cx="4572000" cy="219456"/>
          </a:xfrm>
          <a:prstGeom prst="rect">
            <a:avLst/>
          </a:prstGeom>
          <a:noFill/>
        </p:spPr>
        <p:txBody>
          <a:bodyPr wrap="square" lIns="0" tIns="0" rIns="0" bIns="0" anchor="t">
            <a:spAutoFit/>
          </a:bodyPr>
          <a:lstStyle/>
          <a:p>
            <a:pPr algn="l">
              <a:lnSpc>
                <a:spcPct val="112000"/>
              </a:lnSpc>
              <a:spcAft>
                <a:spcPts val="0"/>
              </a:spcAft>
            </a:pPr>
            <a:r>
              <a:rPr sz="1050" b="1" i="0">
                <a:solidFill>
                  <a:srgbClr val="008A69"/>
                </a:solidFill>
                <a:latin typeface="Arial"/>
              </a:rPr>
              <a:t>KD PAY — 0.01%</a:t>
            </a:r>
          </a:p>
        </p:txBody>
      </p:sp>
      <p:sp>
        <p:nvSpPr>
          <p:cNvPr id="6" name="Rounded Rectangle 5"/>
          <p:cNvSpPr/>
          <p:nvPr/>
        </p:nvSpPr>
        <p:spPr>
          <a:xfrm>
            <a:off x="658368" y="2120265"/>
            <a:ext cx="5989320" cy="274320"/>
          </a:xfrm>
          <a:prstGeom prst="roundRect">
            <a:avLst>
              <a:gd name="adj" fmla="val 2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2120265"/>
            <a:ext cx="64008" cy="274320"/>
          </a:xfrm>
          <a:prstGeom prst="roundRect">
            <a:avLst>
              <a:gd name="adj" fmla="val 2000"/>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04672" y="2156841"/>
            <a:ext cx="5486400" cy="219456"/>
          </a:xfrm>
          <a:prstGeom prst="rect">
            <a:avLst/>
          </a:prstGeom>
          <a:noFill/>
        </p:spPr>
        <p:txBody>
          <a:bodyPr wrap="square" lIns="0" tIns="0" rIns="0" bIns="0" anchor="t">
            <a:spAutoFit/>
          </a:bodyPr>
          <a:lstStyle/>
          <a:p>
            <a:pPr algn="l">
              <a:lnSpc>
                <a:spcPct val="112000"/>
              </a:lnSpc>
              <a:spcAft>
                <a:spcPts val="0"/>
              </a:spcAft>
            </a:pPr>
            <a:r>
              <a:rPr sz="950" b="0" i="0">
                <a:solidFill>
                  <a:srgbClr val="5B6E82"/>
                </a:solidFill>
                <a:latin typeface="Arial"/>
              </a:rPr>
              <a:t>1 dispute per 10,000 transactions</a:t>
            </a:r>
          </a:p>
        </p:txBody>
      </p:sp>
      <p:sp>
        <p:nvSpPr>
          <p:cNvPr id="9" name="TextBox 8"/>
          <p:cNvSpPr txBox="1"/>
          <p:nvPr/>
        </p:nvSpPr>
        <p:spPr>
          <a:xfrm>
            <a:off x="658368" y="2595753"/>
            <a:ext cx="3291840" cy="219456"/>
          </a:xfrm>
          <a:prstGeom prst="rect">
            <a:avLst/>
          </a:prstGeom>
          <a:noFill/>
        </p:spPr>
        <p:txBody>
          <a:bodyPr wrap="square" lIns="0" tIns="0" rIns="0" bIns="0" anchor="t">
            <a:spAutoFit/>
          </a:bodyPr>
          <a:lstStyle/>
          <a:p>
            <a:pPr algn="l">
              <a:lnSpc>
                <a:spcPct val="112000"/>
              </a:lnSpc>
              <a:spcAft>
                <a:spcPts val="0"/>
              </a:spcAft>
            </a:pPr>
            <a:r>
              <a:rPr sz="1050" b="1" i="0">
                <a:solidFill>
                  <a:srgbClr val="102236"/>
                </a:solidFill>
                <a:latin typeface="Arial"/>
              </a:rPr>
              <a:t>Network monitoring threshold — 0.9%</a:t>
            </a:r>
          </a:p>
        </p:txBody>
      </p:sp>
      <p:sp>
        <p:nvSpPr>
          <p:cNvPr id="10" name="TextBox 9"/>
          <p:cNvSpPr txBox="1"/>
          <p:nvPr/>
        </p:nvSpPr>
        <p:spPr>
          <a:xfrm>
            <a:off x="5321807" y="2604897"/>
            <a:ext cx="1325880" cy="219456"/>
          </a:xfrm>
          <a:prstGeom prst="rect">
            <a:avLst/>
          </a:prstGeom>
          <a:noFill/>
        </p:spPr>
        <p:txBody>
          <a:bodyPr wrap="square" lIns="0" tIns="0" rIns="0" bIns="0" anchor="t">
            <a:spAutoFit/>
          </a:bodyPr>
          <a:lstStyle/>
          <a:p>
            <a:pPr algn="r">
              <a:lnSpc>
                <a:spcPct val="112000"/>
              </a:lnSpc>
              <a:spcAft>
                <a:spcPts val="0"/>
              </a:spcAft>
            </a:pPr>
            <a:r>
              <a:rPr sz="950" b="1" i="0">
                <a:solidFill>
                  <a:srgbClr val="008A69"/>
                </a:solidFill>
                <a:latin typeface="Arial"/>
              </a:rPr>
              <a:t>90× headroom</a:t>
            </a:r>
          </a:p>
        </p:txBody>
      </p:sp>
      <p:sp>
        <p:nvSpPr>
          <p:cNvPr id="11" name="Rounded Rectangle 10"/>
          <p:cNvSpPr/>
          <p:nvPr/>
        </p:nvSpPr>
        <p:spPr>
          <a:xfrm>
            <a:off x="658368" y="2851785"/>
            <a:ext cx="5989320" cy="274320"/>
          </a:xfrm>
          <a:prstGeom prst="roundRect">
            <a:avLst>
              <a:gd name="adj" fmla="val 2000"/>
            </a:avLst>
          </a:prstGeom>
          <a:solidFill>
            <a:srgbClr val="C9D3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8368" y="3391281"/>
            <a:ext cx="5760720"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5B6E82"/>
                </a:solidFill>
                <a:latin typeface="Arial"/>
              </a:rPr>
              <a:t>HOW WE KEEP IT THERE</a:t>
            </a:r>
          </a:p>
        </p:txBody>
      </p:sp>
      <p:sp>
        <p:nvSpPr>
          <p:cNvPr id="13" name="TextBox 12"/>
          <p:cNvSpPr txBox="1"/>
          <p:nvPr/>
        </p:nvSpPr>
        <p:spPr>
          <a:xfrm>
            <a:off x="658368" y="3683889"/>
            <a:ext cx="6309360" cy="1737360"/>
          </a:xfrm>
          <a:prstGeom prst="rect">
            <a:avLst/>
          </a:prstGeom>
          <a:noFill/>
        </p:spPr>
        <p:txBody>
          <a:bodyPr wrap="square" lIns="0" rIns="0" tIns="0" bIns="0">
            <a:spAutoFit/>
          </a:bodyPr>
          <a:lstStyle/>
          <a:p>
            <a:pPr marL="219456" indent="-219456">
              <a:lnSpc>
                <a:spcPct val="116000"/>
              </a:lnSpc>
              <a:spcAft>
                <a:spcPts val="700"/>
              </a:spcAft>
              <a:buClr>
                <a:srgbClr val="00B589"/>
              </a:buClr>
              <a:buFont typeface="Arial"/>
              <a:buChar char="—"/>
            </a:pPr>
            <a:r>
              <a:rPr sz="1000" b="1" i="0">
                <a:solidFill>
                  <a:srgbClr val="102236"/>
                </a:solidFill>
                <a:latin typeface="Arial"/>
              </a:rPr>
              <a:t>Verified buyers. </a:t>
            </a:r>
            <a:r>
              <a:rPr sz="1000" b="0" i="0">
                <a:solidFill>
                  <a:srgbClr val="102236"/>
                </a:solidFill>
                <a:latin typeface="Arial"/>
              </a:rPr>
              <a:t>Invoices to known business counterparties; consumer volume screened.</a:t>
            </a:r>
          </a:p>
          <a:p>
            <a:pPr marL="219456" indent="-219456">
              <a:lnSpc>
                <a:spcPct val="116000"/>
              </a:lnSpc>
              <a:spcAft>
                <a:spcPts val="700"/>
              </a:spcAft>
              <a:buClr>
                <a:srgbClr val="00B589"/>
              </a:buClr>
              <a:buFont typeface="Arial"/>
              <a:buChar char="—"/>
            </a:pPr>
            <a:r>
              <a:rPr sz="1000" b="1" i="0">
                <a:solidFill>
                  <a:srgbClr val="102236"/>
                </a:solidFill>
                <a:latin typeface="Arial"/>
              </a:rPr>
              <a:t>3DS2 by rule. </a:t>
            </a:r>
            <a:r>
              <a:rPr sz="1000" b="0" i="0">
                <a:solidFill>
                  <a:srgbClr val="102236"/>
                </a:solidFill>
                <a:latin typeface="Arial"/>
              </a:rPr>
              <a:t>Forced on VPN/Tor or IP-country mismatch; AVS postal match for US/CA/UK.</a:t>
            </a:r>
          </a:p>
          <a:p>
            <a:pPr marL="219456" indent="-219456">
              <a:lnSpc>
                <a:spcPct val="116000"/>
              </a:lnSpc>
              <a:spcAft>
                <a:spcPts val="700"/>
              </a:spcAft>
              <a:buClr>
                <a:srgbClr val="00B589"/>
              </a:buClr>
              <a:buFont typeface="Arial"/>
              <a:buChar char="—"/>
            </a:pPr>
            <a:r>
              <a:rPr sz="1000" b="1" i="0">
                <a:solidFill>
                  <a:srgbClr val="102236"/>
                </a:solidFill>
                <a:latin typeface="Arial"/>
              </a:rPr>
              <a:t>Hard blocks. </a:t>
            </a:r>
            <a:r>
              <a:rPr sz="1000" b="0" i="0">
                <a:solidFill>
                  <a:srgbClr val="102236"/>
                </a:solidFill>
                <a:latin typeface="Arial"/>
              </a:rPr>
              <a:t>Prohibited MCCs, card-fingerprint blocklists, velocity limits.</a:t>
            </a:r>
          </a:p>
          <a:p>
            <a:pPr marL="219456" indent="-219456">
              <a:lnSpc>
                <a:spcPct val="116000"/>
              </a:lnSpc>
              <a:spcAft>
                <a:spcPts val="700"/>
              </a:spcAft>
              <a:buClr>
                <a:srgbClr val="00B589"/>
              </a:buClr>
              <a:buFont typeface="Arial"/>
              <a:buChar char="—"/>
            </a:pPr>
            <a:r>
              <a:rPr sz="1000" b="1" i="0">
                <a:solidFill>
                  <a:srgbClr val="102236"/>
                </a:solidFill>
                <a:latin typeface="Arial"/>
              </a:rPr>
              <a:t>Evidence ready. </a:t>
            </a:r>
            <a:r>
              <a:rPr sz="1000" b="0" i="0">
                <a:solidFill>
                  <a:srgbClr val="102236"/>
                </a:solidFill>
                <a:latin typeface="Arial"/>
              </a:rPr>
              <a:t>Reason-code checklists, 72/48/24-hour deadline alerts.</a:t>
            </a:r>
          </a:p>
        </p:txBody>
      </p:sp>
      <p:sp>
        <p:nvSpPr>
          <p:cNvPr id="14" name="Rounded Rectangle 13"/>
          <p:cNvSpPr/>
          <p:nvPr/>
        </p:nvSpPr>
        <p:spPr>
          <a:xfrm>
            <a:off x="7562088" y="1864233"/>
            <a:ext cx="3971239" cy="2286000"/>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818119" y="2074545"/>
            <a:ext cx="3514039" cy="219456"/>
          </a:xfrm>
          <a:prstGeom prst="rect">
            <a:avLst/>
          </a:prstGeom>
          <a:noFill/>
        </p:spPr>
        <p:txBody>
          <a:bodyPr wrap="square" lIns="0" tIns="0" rIns="0" bIns="0" anchor="t">
            <a:spAutoFit/>
          </a:bodyPr>
          <a:lstStyle/>
          <a:p>
            <a:pPr algn="l">
              <a:lnSpc>
                <a:spcPct val="112000"/>
              </a:lnSpc>
              <a:spcAft>
                <a:spcPts val="0"/>
              </a:spcAft>
            </a:pPr>
            <a:r>
              <a:rPr sz="950" b="1" i="0" spc="130">
                <a:solidFill>
                  <a:srgbClr val="008A69"/>
                </a:solidFill>
                <a:latin typeface="Arial"/>
              </a:rPr>
              <a:t>ON RESERVES</a:t>
            </a:r>
          </a:p>
        </p:txBody>
      </p:sp>
      <p:sp>
        <p:nvSpPr>
          <p:cNvPr id="16" name="TextBox 15"/>
          <p:cNvSpPr txBox="1"/>
          <p:nvPr/>
        </p:nvSpPr>
        <p:spPr>
          <a:xfrm>
            <a:off x="7818119" y="2422017"/>
            <a:ext cx="3468319" cy="1600200"/>
          </a:xfrm>
          <a:prstGeom prst="rect">
            <a:avLst/>
          </a:prstGeom>
          <a:noFill/>
        </p:spPr>
        <p:txBody>
          <a:bodyPr wrap="square" lIns="0" rIns="0" tIns="0" bIns="0">
            <a:spAutoFit/>
          </a:bodyPr>
          <a:lstStyle/>
          <a:p>
            <a:pPr marL="219456" indent="-219456">
              <a:lnSpc>
                <a:spcPct val="116000"/>
              </a:lnSpc>
              <a:spcAft>
                <a:spcPts val="800"/>
              </a:spcAft>
              <a:buClr>
                <a:srgbClr val="00B589"/>
              </a:buClr>
              <a:buFont typeface="Arial"/>
              <a:buChar char="—"/>
            </a:pPr>
            <a:r>
              <a:rPr sz="980" b="0" i="0">
                <a:solidFill>
                  <a:srgbClr val="102236"/>
                </a:solidFill>
                <a:latin typeface="Arial"/>
              </a:rPr>
              <a:t>We fund risk before we argue about it: merchant-level reserves held by us, plus a platform reserve where your policy requires one.</a:t>
            </a:r>
          </a:p>
          <a:p>
            <a:pPr marL="219456" indent="-219456">
              <a:lnSpc>
                <a:spcPct val="116000"/>
              </a:lnSpc>
              <a:spcAft>
                <a:spcPts val="800"/>
              </a:spcAft>
              <a:buClr>
                <a:srgbClr val="00B589"/>
              </a:buClr>
              <a:buFont typeface="Arial"/>
              <a:buChar char="—"/>
            </a:pPr>
            <a:r>
              <a:rPr sz="980" b="0" i="0">
                <a:solidFill>
                  <a:srgbClr val="102236"/>
                </a:solidFill>
                <a:latin typeface="Arial"/>
              </a:rPr>
              <a:t>Rolling reserve percentage, cap and release schedule are all negotiable.</a:t>
            </a:r>
          </a:p>
          <a:p>
            <a:pPr marL="219456" indent="-219456">
              <a:lnSpc>
                <a:spcPct val="116000"/>
              </a:lnSpc>
              <a:spcAft>
                <a:spcPts val="800"/>
              </a:spcAft>
              <a:buClr>
                <a:srgbClr val="00B589"/>
              </a:buClr>
              <a:buFont typeface="Arial"/>
              <a:buChar char="—"/>
            </a:pPr>
            <a:r>
              <a:rPr sz="980" b="0" i="0">
                <a:solidFill>
                  <a:srgbClr val="102236"/>
                </a:solidFill>
                <a:latin typeface="Arial"/>
              </a:rPr>
              <a:t>Dispute evidence and merchant follow-up stay with us — you keep the rail.</a:t>
            </a:r>
          </a:p>
        </p:txBody>
      </p:sp>
      <p:cxnSp>
        <p:nvCxnSpPr>
          <p:cNvPr id="17" name="Connector 16"/>
          <p:cNvCxnSpPr/>
          <p:nvPr/>
        </p:nvCxnSpPr>
        <p:spPr>
          <a:xfrm>
            <a:off x="658368" y="4817745"/>
            <a:ext cx="10874959" cy="0"/>
          </a:xfrm>
          <a:prstGeom prst="line">
            <a:avLst/>
          </a:prstGeom>
          <a:ln w="10160">
            <a:solidFill>
              <a:srgbClr val="DFE6E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58368" y="5018913"/>
            <a:ext cx="10874959"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5B6E82"/>
                </a:solidFill>
                <a:latin typeface="Arial"/>
              </a:rPr>
              <a:t>WHAT WE ASK OF YOU</a:t>
            </a:r>
          </a:p>
        </p:txBody>
      </p:sp>
      <p:sp>
        <p:nvSpPr>
          <p:cNvPr id="19" name="TextBox 18"/>
          <p:cNvSpPr txBox="1"/>
          <p:nvPr/>
        </p:nvSpPr>
        <p:spPr>
          <a:xfrm>
            <a:off x="658368" y="5311521"/>
            <a:ext cx="3259226" cy="457200"/>
          </a:xfrm>
          <a:prstGeom prst="rect">
            <a:avLst/>
          </a:prstGeom>
          <a:noFill/>
        </p:spPr>
        <p:txBody>
          <a:bodyPr wrap="square" lIns="0" tIns="0" rIns="0" bIns="0" anchor="t">
            <a:spAutoFit/>
          </a:bodyPr>
          <a:lstStyle/>
          <a:p>
            <a:pPr algn="l">
              <a:lnSpc>
                <a:spcPct val="120000"/>
              </a:lnSpc>
              <a:spcAft>
                <a:spcPts val="0"/>
              </a:spcAft>
            </a:pPr>
            <a:r>
              <a:rPr sz="1000" b="0" i="0">
                <a:solidFill>
                  <a:srgbClr val="102236"/>
                </a:solidFill>
                <a:latin typeface="Arial"/>
              </a:rPr>
              <a:t>A reserve policy proportionate to a 0.01% profile</a:t>
            </a:r>
          </a:p>
        </p:txBody>
      </p:sp>
      <p:sp>
        <p:nvSpPr>
          <p:cNvPr id="20" name="TextBox 19"/>
          <p:cNvSpPr txBox="1"/>
          <p:nvPr/>
        </p:nvSpPr>
        <p:spPr>
          <a:xfrm>
            <a:off x="4283354" y="5311521"/>
            <a:ext cx="3259226" cy="457200"/>
          </a:xfrm>
          <a:prstGeom prst="rect">
            <a:avLst/>
          </a:prstGeom>
          <a:noFill/>
        </p:spPr>
        <p:txBody>
          <a:bodyPr wrap="square" lIns="0" tIns="0" rIns="0" bIns="0" anchor="t">
            <a:spAutoFit/>
          </a:bodyPr>
          <a:lstStyle/>
          <a:p>
            <a:pPr algn="l">
              <a:lnSpc>
                <a:spcPct val="120000"/>
              </a:lnSpc>
              <a:spcAft>
                <a:spcPts val="0"/>
              </a:spcAft>
            </a:pPr>
            <a:r>
              <a:rPr sz="1000" b="0" i="0">
                <a:solidFill>
                  <a:srgbClr val="102236"/>
                </a:solidFill>
                <a:latin typeface="Arial"/>
              </a:rPr>
              <a:t>Dispute fees disclosed before we sign</a:t>
            </a:r>
          </a:p>
        </p:txBody>
      </p:sp>
      <p:sp>
        <p:nvSpPr>
          <p:cNvPr id="21" name="TextBox 20"/>
          <p:cNvSpPr txBox="1"/>
          <p:nvPr/>
        </p:nvSpPr>
        <p:spPr>
          <a:xfrm>
            <a:off x="7908340" y="5311521"/>
            <a:ext cx="3259226" cy="457200"/>
          </a:xfrm>
          <a:prstGeom prst="rect">
            <a:avLst/>
          </a:prstGeom>
          <a:noFill/>
        </p:spPr>
        <p:txBody>
          <a:bodyPr wrap="square" lIns="0" tIns="0" rIns="0" bIns="0" anchor="t">
            <a:spAutoFit/>
          </a:bodyPr>
          <a:lstStyle/>
          <a:p>
            <a:pPr algn="l">
              <a:lnSpc>
                <a:spcPct val="120000"/>
              </a:lnSpc>
              <a:spcAft>
                <a:spcPts val="0"/>
              </a:spcAft>
            </a:pPr>
            <a:r>
              <a:rPr sz="1000" b="0" i="0">
                <a:solidFill>
                  <a:srgbClr val="102236"/>
                </a:solidFill>
                <a:latin typeface="Arial"/>
              </a:rPr>
              <a:t>A named escalation contact for high-value cases</a:t>
            </a:r>
          </a:p>
        </p:txBody>
      </p:sp>
      <p:cxnSp>
        <p:nvCxnSpPr>
          <p:cNvPr id="22" name="Connector 21"/>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Airwallex partnership proposal  ·  Confidential</a:t>
            </a:r>
          </a:p>
        </p:txBody>
      </p:sp>
      <p:sp>
        <p:nvSpPr>
          <p:cNvPr id="24" name="TextBox 23"/>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SECURITY</a:t>
            </a:r>
          </a:p>
        </p:txBody>
      </p:sp>
      <p:sp>
        <p:nvSpPr>
          <p:cNvPr id="3" name="TextBox 2"/>
          <p:cNvSpPr txBox="1"/>
          <p:nvPr/>
        </p:nvSpPr>
        <p:spPr>
          <a:xfrm>
            <a:off x="658368" y="749808"/>
            <a:ext cx="10874959" cy="493776"/>
          </a:xfrm>
          <a:prstGeom prst="rect">
            <a:avLst/>
          </a:prstGeom>
          <a:noFill/>
        </p:spPr>
        <p:txBody>
          <a:bodyPr wrap="square" lIns="0" tIns="0" rIns="0" bIns="0" anchor="t">
            <a:spAutoFit/>
          </a:bodyPr>
          <a:lstStyle/>
          <a:p>
            <a:pPr algn="l">
              <a:lnSpc>
                <a:spcPct val="102000"/>
              </a:lnSpc>
              <a:spcAft>
                <a:spcPts val="0"/>
              </a:spcAft>
            </a:pPr>
            <a:r>
              <a:rPr sz="2800" b="1" i="0">
                <a:solidFill>
                  <a:srgbClr val="102236"/>
                </a:solidFill>
                <a:latin typeface="Arial"/>
              </a:rPr>
              <a:t>Twelve controls we will not compromise on</a:t>
            </a:r>
          </a:p>
        </p:txBody>
      </p:sp>
      <p:sp>
        <p:nvSpPr>
          <p:cNvPr id="4" name="TextBox 3"/>
          <p:cNvSpPr txBox="1"/>
          <p:nvPr/>
        </p:nvSpPr>
        <p:spPr>
          <a:xfrm>
            <a:off x="658368" y="1276502"/>
            <a:ext cx="9326880" cy="564642"/>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Payments security is an architecture decision, not a feature list. Each control below has a test that fails if it is removed.</a:t>
            </a:r>
          </a:p>
        </p:txBody>
      </p:sp>
      <p:sp>
        <p:nvSpPr>
          <p:cNvPr id="5" name="Rounded Rectangle 4"/>
          <p:cNvSpPr/>
          <p:nvPr/>
        </p:nvSpPr>
        <p:spPr>
          <a:xfrm>
            <a:off x="658368" y="2078888"/>
            <a:ext cx="3472586" cy="950976"/>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7" y="2188616"/>
            <a:ext cx="320040" cy="182880"/>
          </a:xfrm>
          <a:prstGeom prst="rect">
            <a:avLst/>
          </a:prstGeom>
          <a:noFill/>
        </p:spPr>
        <p:txBody>
          <a:bodyPr wrap="square" lIns="0" tIns="0" rIns="0" bIns="0" anchor="t">
            <a:spAutoFit/>
          </a:bodyPr>
          <a:lstStyle/>
          <a:p>
            <a:pPr algn="l">
              <a:lnSpc>
                <a:spcPct val="112000"/>
              </a:lnSpc>
              <a:spcAft>
                <a:spcPts val="0"/>
              </a:spcAft>
            </a:pPr>
            <a:r>
              <a:rPr sz="850" b="1" i="0" spc="100">
                <a:solidFill>
                  <a:srgbClr val="008A69"/>
                </a:solidFill>
                <a:latin typeface="Arial"/>
              </a:rPr>
              <a:t>01</a:t>
            </a:r>
          </a:p>
        </p:txBody>
      </p:sp>
      <p:sp>
        <p:nvSpPr>
          <p:cNvPr id="7" name="TextBox 6"/>
          <p:cNvSpPr txBox="1"/>
          <p:nvPr/>
        </p:nvSpPr>
        <p:spPr>
          <a:xfrm>
            <a:off x="1225295" y="2170328"/>
            <a:ext cx="2759354" cy="219456"/>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PCI DSS SAQ-A scope</a:t>
            </a:r>
          </a:p>
        </p:txBody>
      </p:sp>
      <p:sp>
        <p:nvSpPr>
          <p:cNvPr id="8" name="TextBox 7"/>
          <p:cNvSpPr txBox="1"/>
          <p:nvPr/>
        </p:nvSpPr>
        <p:spPr>
          <a:xfrm>
            <a:off x="841247" y="2426360"/>
            <a:ext cx="3106826" cy="548640"/>
          </a:xfrm>
          <a:prstGeom prst="rect">
            <a:avLst/>
          </a:prstGeom>
          <a:noFill/>
        </p:spPr>
        <p:txBody>
          <a:bodyPr wrap="square" lIns="0" tIns="0" rIns="0" bIns="0" anchor="t">
            <a:spAutoFit/>
          </a:bodyPr>
          <a:lstStyle/>
          <a:p>
            <a:pPr algn="l">
              <a:lnSpc>
                <a:spcPct val="114000"/>
              </a:lnSpc>
              <a:spcAft>
                <a:spcPts val="0"/>
              </a:spcAft>
            </a:pPr>
            <a:r>
              <a:rPr sz="819" b="0" i="0">
                <a:solidFill>
                  <a:srgbClr val="5B6E82"/>
                </a:solidFill>
                <a:latin typeface="Arial"/>
              </a:rPr>
              <a:t>Card data only in Airwallex-hosted fields. No PAN, CVV or track data in our code, logs or database — a CI rule blocks regressions.</a:t>
            </a:r>
          </a:p>
        </p:txBody>
      </p:sp>
      <p:sp>
        <p:nvSpPr>
          <p:cNvPr id="9" name="Rounded Rectangle 8"/>
          <p:cNvSpPr/>
          <p:nvPr/>
        </p:nvSpPr>
        <p:spPr>
          <a:xfrm>
            <a:off x="4359554" y="2078888"/>
            <a:ext cx="3472586" cy="950976"/>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42434" y="2188616"/>
            <a:ext cx="320040" cy="182880"/>
          </a:xfrm>
          <a:prstGeom prst="rect">
            <a:avLst/>
          </a:prstGeom>
          <a:noFill/>
        </p:spPr>
        <p:txBody>
          <a:bodyPr wrap="square" lIns="0" tIns="0" rIns="0" bIns="0" anchor="t">
            <a:spAutoFit/>
          </a:bodyPr>
          <a:lstStyle/>
          <a:p>
            <a:pPr algn="l">
              <a:lnSpc>
                <a:spcPct val="112000"/>
              </a:lnSpc>
              <a:spcAft>
                <a:spcPts val="0"/>
              </a:spcAft>
            </a:pPr>
            <a:r>
              <a:rPr sz="850" b="1" i="0" spc="100">
                <a:solidFill>
                  <a:srgbClr val="008A69"/>
                </a:solidFill>
                <a:latin typeface="Arial"/>
              </a:rPr>
              <a:t>02</a:t>
            </a:r>
          </a:p>
        </p:txBody>
      </p:sp>
      <p:sp>
        <p:nvSpPr>
          <p:cNvPr id="11" name="TextBox 10"/>
          <p:cNvSpPr txBox="1"/>
          <p:nvPr/>
        </p:nvSpPr>
        <p:spPr>
          <a:xfrm>
            <a:off x="4926482" y="2170328"/>
            <a:ext cx="2759354" cy="219456"/>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3-D Secure 2 and SCA</a:t>
            </a:r>
          </a:p>
        </p:txBody>
      </p:sp>
      <p:sp>
        <p:nvSpPr>
          <p:cNvPr id="12" name="TextBox 11"/>
          <p:cNvSpPr txBox="1"/>
          <p:nvPr/>
        </p:nvSpPr>
        <p:spPr>
          <a:xfrm>
            <a:off x="4542434" y="2426360"/>
            <a:ext cx="3106826" cy="548640"/>
          </a:xfrm>
          <a:prstGeom prst="rect">
            <a:avLst/>
          </a:prstGeom>
          <a:noFill/>
        </p:spPr>
        <p:txBody>
          <a:bodyPr wrap="square" lIns="0" tIns="0" rIns="0" bIns="0" anchor="t">
            <a:spAutoFit/>
          </a:bodyPr>
          <a:lstStyle/>
          <a:p>
            <a:pPr algn="l">
              <a:lnSpc>
                <a:spcPct val="114000"/>
              </a:lnSpc>
              <a:spcAft>
                <a:spcPts val="0"/>
              </a:spcAft>
            </a:pPr>
            <a:r>
              <a:rPr sz="819" b="0" i="0">
                <a:solidFill>
                  <a:srgbClr val="5B6E82"/>
                </a:solidFill>
                <a:latin typeface="Arial"/>
              </a:rPr>
              <a:t>Risk-based challenge; forced on VPN/Tor or IP-country mismatch; AVS postal match for US/CA/UK. SCA-ready for UK and EEA.</a:t>
            </a:r>
          </a:p>
        </p:txBody>
      </p:sp>
      <p:sp>
        <p:nvSpPr>
          <p:cNvPr id="13" name="Rounded Rectangle 12"/>
          <p:cNvSpPr/>
          <p:nvPr/>
        </p:nvSpPr>
        <p:spPr>
          <a:xfrm>
            <a:off x="8060740" y="2078888"/>
            <a:ext cx="3472586" cy="950976"/>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243620" y="2188616"/>
            <a:ext cx="320040" cy="182880"/>
          </a:xfrm>
          <a:prstGeom prst="rect">
            <a:avLst/>
          </a:prstGeom>
          <a:noFill/>
        </p:spPr>
        <p:txBody>
          <a:bodyPr wrap="square" lIns="0" tIns="0" rIns="0" bIns="0" anchor="t">
            <a:spAutoFit/>
          </a:bodyPr>
          <a:lstStyle/>
          <a:p>
            <a:pPr algn="l">
              <a:lnSpc>
                <a:spcPct val="112000"/>
              </a:lnSpc>
              <a:spcAft>
                <a:spcPts val="0"/>
              </a:spcAft>
            </a:pPr>
            <a:r>
              <a:rPr sz="850" b="1" i="0" spc="100">
                <a:solidFill>
                  <a:srgbClr val="008A69"/>
                </a:solidFill>
                <a:latin typeface="Arial"/>
              </a:rPr>
              <a:t>03</a:t>
            </a:r>
          </a:p>
        </p:txBody>
      </p:sp>
      <p:sp>
        <p:nvSpPr>
          <p:cNvPr id="15" name="TextBox 14"/>
          <p:cNvSpPr txBox="1"/>
          <p:nvPr/>
        </p:nvSpPr>
        <p:spPr>
          <a:xfrm>
            <a:off x="8627668" y="2170328"/>
            <a:ext cx="2759354" cy="219456"/>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Tokenisation only</a:t>
            </a:r>
          </a:p>
        </p:txBody>
      </p:sp>
      <p:sp>
        <p:nvSpPr>
          <p:cNvPr id="16" name="TextBox 15"/>
          <p:cNvSpPr txBox="1"/>
          <p:nvPr/>
        </p:nvSpPr>
        <p:spPr>
          <a:xfrm>
            <a:off x="8243620" y="2426360"/>
            <a:ext cx="3106826" cy="548640"/>
          </a:xfrm>
          <a:prstGeom prst="rect">
            <a:avLst/>
          </a:prstGeom>
          <a:noFill/>
        </p:spPr>
        <p:txBody>
          <a:bodyPr wrap="square" lIns="0" tIns="0" rIns="0" bIns="0" anchor="t">
            <a:spAutoFit/>
          </a:bodyPr>
          <a:lstStyle/>
          <a:p>
            <a:pPr algn="l">
              <a:lnSpc>
                <a:spcPct val="114000"/>
              </a:lnSpc>
              <a:spcAft>
                <a:spcPts val="0"/>
              </a:spcAft>
            </a:pPr>
            <a:r>
              <a:rPr sz="819" b="0" i="0">
                <a:solidFill>
                  <a:srgbClr val="5B6E82"/>
                </a:solidFill>
                <a:latin typeface="Arial"/>
              </a:rPr>
              <a:t>We store processor tokens and salted card fingerprints. A breach of our database yields no usable card data.</a:t>
            </a:r>
          </a:p>
        </p:txBody>
      </p:sp>
      <p:sp>
        <p:nvSpPr>
          <p:cNvPr id="17" name="Rounded Rectangle 16"/>
          <p:cNvSpPr/>
          <p:nvPr/>
        </p:nvSpPr>
        <p:spPr>
          <a:xfrm>
            <a:off x="658368" y="3139592"/>
            <a:ext cx="3472586" cy="950976"/>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41247" y="3249320"/>
            <a:ext cx="320040" cy="182880"/>
          </a:xfrm>
          <a:prstGeom prst="rect">
            <a:avLst/>
          </a:prstGeom>
          <a:noFill/>
        </p:spPr>
        <p:txBody>
          <a:bodyPr wrap="square" lIns="0" tIns="0" rIns="0" bIns="0" anchor="t">
            <a:spAutoFit/>
          </a:bodyPr>
          <a:lstStyle/>
          <a:p>
            <a:pPr algn="l">
              <a:lnSpc>
                <a:spcPct val="112000"/>
              </a:lnSpc>
              <a:spcAft>
                <a:spcPts val="0"/>
              </a:spcAft>
            </a:pPr>
            <a:r>
              <a:rPr sz="850" b="1" i="0" spc="100">
                <a:solidFill>
                  <a:srgbClr val="008A69"/>
                </a:solidFill>
                <a:latin typeface="Arial"/>
              </a:rPr>
              <a:t>04</a:t>
            </a:r>
          </a:p>
        </p:txBody>
      </p:sp>
      <p:sp>
        <p:nvSpPr>
          <p:cNvPr id="19" name="TextBox 18"/>
          <p:cNvSpPr txBox="1"/>
          <p:nvPr/>
        </p:nvSpPr>
        <p:spPr>
          <a:xfrm>
            <a:off x="1225295" y="3231032"/>
            <a:ext cx="2759354" cy="219456"/>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Server-side sessions</a:t>
            </a:r>
          </a:p>
        </p:txBody>
      </p:sp>
      <p:sp>
        <p:nvSpPr>
          <p:cNvPr id="20" name="TextBox 19"/>
          <p:cNvSpPr txBox="1"/>
          <p:nvPr/>
        </p:nvSpPr>
        <p:spPr>
          <a:xfrm>
            <a:off x="841247" y="3487064"/>
            <a:ext cx="3106826" cy="548640"/>
          </a:xfrm>
          <a:prstGeom prst="rect">
            <a:avLst/>
          </a:prstGeom>
          <a:noFill/>
        </p:spPr>
        <p:txBody>
          <a:bodyPr wrap="square" lIns="0" tIns="0" rIns="0" bIns="0" anchor="t">
            <a:spAutoFit/>
          </a:bodyPr>
          <a:lstStyle/>
          <a:p>
            <a:pPr algn="l">
              <a:lnSpc>
                <a:spcPct val="114000"/>
              </a:lnSpc>
              <a:spcAft>
                <a:spcPts val="0"/>
              </a:spcAft>
            </a:pPr>
            <a:r>
              <a:rPr sz="819" b="0" i="0">
                <a:solidFill>
                  <a:srgbClr val="5B6E82"/>
                </a:solidFill>
                <a:latin typeface="Arial"/>
              </a:rPr>
              <a:t>Opaque HttpOnly tokens, device binding, rotation on privilege change, instant revocation. No JWT in the browser.</a:t>
            </a:r>
          </a:p>
        </p:txBody>
      </p:sp>
      <p:sp>
        <p:nvSpPr>
          <p:cNvPr id="21" name="Rounded Rectangle 20"/>
          <p:cNvSpPr/>
          <p:nvPr/>
        </p:nvSpPr>
        <p:spPr>
          <a:xfrm>
            <a:off x="4359554" y="3139592"/>
            <a:ext cx="3472586" cy="950976"/>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42434" y="3249320"/>
            <a:ext cx="320040" cy="182880"/>
          </a:xfrm>
          <a:prstGeom prst="rect">
            <a:avLst/>
          </a:prstGeom>
          <a:noFill/>
        </p:spPr>
        <p:txBody>
          <a:bodyPr wrap="square" lIns="0" tIns="0" rIns="0" bIns="0" anchor="t">
            <a:spAutoFit/>
          </a:bodyPr>
          <a:lstStyle/>
          <a:p>
            <a:pPr algn="l">
              <a:lnSpc>
                <a:spcPct val="112000"/>
              </a:lnSpc>
              <a:spcAft>
                <a:spcPts val="0"/>
              </a:spcAft>
            </a:pPr>
            <a:r>
              <a:rPr sz="850" b="1" i="0" spc="100">
                <a:solidFill>
                  <a:srgbClr val="008A69"/>
                </a:solidFill>
                <a:latin typeface="Arial"/>
              </a:rPr>
              <a:t>05</a:t>
            </a:r>
          </a:p>
        </p:txBody>
      </p:sp>
      <p:sp>
        <p:nvSpPr>
          <p:cNvPr id="23" name="TextBox 22"/>
          <p:cNvSpPr txBox="1"/>
          <p:nvPr/>
        </p:nvSpPr>
        <p:spPr>
          <a:xfrm>
            <a:off x="4926482" y="3231032"/>
            <a:ext cx="2759354" cy="219456"/>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Step-up authentication</a:t>
            </a:r>
          </a:p>
        </p:txBody>
      </p:sp>
      <p:sp>
        <p:nvSpPr>
          <p:cNvPr id="24" name="TextBox 23"/>
          <p:cNvSpPr txBox="1"/>
          <p:nvPr/>
        </p:nvSpPr>
        <p:spPr>
          <a:xfrm>
            <a:off x="4542434" y="3487064"/>
            <a:ext cx="3106826" cy="548640"/>
          </a:xfrm>
          <a:prstGeom prst="rect">
            <a:avLst/>
          </a:prstGeom>
          <a:noFill/>
        </p:spPr>
        <p:txBody>
          <a:bodyPr wrap="square" lIns="0" tIns="0" rIns="0" bIns="0" anchor="t">
            <a:spAutoFit/>
          </a:bodyPr>
          <a:lstStyle/>
          <a:p>
            <a:pPr algn="l">
              <a:lnSpc>
                <a:spcPct val="114000"/>
              </a:lnSpc>
              <a:spcAft>
                <a:spcPts val="0"/>
              </a:spcAft>
            </a:pPr>
            <a:r>
              <a:rPr sz="819" b="0" i="0">
                <a:solidFill>
                  <a:srgbClr val="5B6E82"/>
                </a:solidFill>
                <a:latin typeface="Arial"/>
              </a:rPr>
              <a:t>TOTP or passkey re-auth for payouts, bank changes, API keys and refunds above threshold.</a:t>
            </a:r>
          </a:p>
        </p:txBody>
      </p:sp>
      <p:sp>
        <p:nvSpPr>
          <p:cNvPr id="25" name="Rounded Rectangle 24"/>
          <p:cNvSpPr/>
          <p:nvPr/>
        </p:nvSpPr>
        <p:spPr>
          <a:xfrm>
            <a:off x="8060740" y="3139592"/>
            <a:ext cx="3472586" cy="950976"/>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243620" y="3249320"/>
            <a:ext cx="320040" cy="182880"/>
          </a:xfrm>
          <a:prstGeom prst="rect">
            <a:avLst/>
          </a:prstGeom>
          <a:noFill/>
        </p:spPr>
        <p:txBody>
          <a:bodyPr wrap="square" lIns="0" tIns="0" rIns="0" bIns="0" anchor="t">
            <a:spAutoFit/>
          </a:bodyPr>
          <a:lstStyle/>
          <a:p>
            <a:pPr algn="l">
              <a:lnSpc>
                <a:spcPct val="112000"/>
              </a:lnSpc>
              <a:spcAft>
                <a:spcPts val="0"/>
              </a:spcAft>
            </a:pPr>
            <a:r>
              <a:rPr sz="850" b="1" i="0" spc="100">
                <a:solidFill>
                  <a:srgbClr val="008A69"/>
                </a:solidFill>
                <a:latin typeface="Arial"/>
              </a:rPr>
              <a:t>06</a:t>
            </a:r>
          </a:p>
        </p:txBody>
      </p:sp>
      <p:sp>
        <p:nvSpPr>
          <p:cNvPr id="27" name="TextBox 26"/>
          <p:cNvSpPr txBox="1"/>
          <p:nvPr/>
        </p:nvSpPr>
        <p:spPr>
          <a:xfrm>
            <a:off x="8627668" y="3231032"/>
            <a:ext cx="2759354" cy="219456"/>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AES-256-GCM encryption</a:t>
            </a:r>
          </a:p>
        </p:txBody>
      </p:sp>
      <p:sp>
        <p:nvSpPr>
          <p:cNvPr id="28" name="TextBox 27"/>
          <p:cNvSpPr txBox="1"/>
          <p:nvPr/>
        </p:nvSpPr>
        <p:spPr>
          <a:xfrm>
            <a:off x="8243620" y="3487064"/>
            <a:ext cx="3106826" cy="548640"/>
          </a:xfrm>
          <a:prstGeom prst="rect">
            <a:avLst/>
          </a:prstGeom>
          <a:noFill/>
        </p:spPr>
        <p:txBody>
          <a:bodyPr wrap="square" lIns="0" tIns="0" rIns="0" bIns="0" anchor="t">
            <a:spAutoFit/>
          </a:bodyPr>
          <a:lstStyle/>
          <a:p>
            <a:pPr algn="l">
              <a:lnSpc>
                <a:spcPct val="114000"/>
              </a:lnSpc>
              <a:spcAft>
                <a:spcPts val="0"/>
              </a:spcAft>
            </a:pPr>
            <a:r>
              <a:rPr sz="819" b="0" i="0">
                <a:solidFill>
                  <a:srgbClr val="5B6E82"/>
                </a:solidFill>
                <a:latin typeface="Arial"/>
              </a:rPr>
              <a:t>Envelope encryption with versioned keys for bank details, tax IDs and KYC documents. Secrets never reach the client.</a:t>
            </a:r>
          </a:p>
        </p:txBody>
      </p:sp>
      <p:sp>
        <p:nvSpPr>
          <p:cNvPr id="29" name="Rounded Rectangle 28"/>
          <p:cNvSpPr/>
          <p:nvPr/>
        </p:nvSpPr>
        <p:spPr>
          <a:xfrm>
            <a:off x="658368" y="4200296"/>
            <a:ext cx="3472586" cy="950976"/>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41247" y="4310024"/>
            <a:ext cx="320040" cy="182880"/>
          </a:xfrm>
          <a:prstGeom prst="rect">
            <a:avLst/>
          </a:prstGeom>
          <a:noFill/>
        </p:spPr>
        <p:txBody>
          <a:bodyPr wrap="square" lIns="0" tIns="0" rIns="0" bIns="0" anchor="t">
            <a:spAutoFit/>
          </a:bodyPr>
          <a:lstStyle/>
          <a:p>
            <a:pPr algn="l">
              <a:lnSpc>
                <a:spcPct val="112000"/>
              </a:lnSpc>
              <a:spcAft>
                <a:spcPts val="0"/>
              </a:spcAft>
            </a:pPr>
            <a:r>
              <a:rPr sz="850" b="1" i="0" spc="100">
                <a:solidFill>
                  <a:srgbClr val="008A69"/>
                </a:solidFill>
                <a:latin typeface="Arial"/>
              </a:rPr>
              <a:t>07</a:t>
            </a:r>
          </a:p>
        </p:txBody>
      </p:sp>
      <p:sp>
        <p:nvSpPr>
          <p:cNvPr id="31" name="TextBox 30"/>
          <p:cNvSpPr txBox="1"/>
          <p:nvPr/>
        </p:nvSpPr>
        <p:spPr>
          <a:xfrm>
            <a:off x="1225295" y="4291736"/>
            <a:ext cx="2759354" cy="219456"/>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Default-deny row-level security</a:t>
            </a:r>
          </a:p>
        </p:txBody>
      </p:sp>
      <p:sp>
        <p:nvSpPr>
          <p:cNvPr id="32" name="TextBox 31"/>
          <p:cNvSpPr txBox="1"/>
          <p:nvPr/>
        </p:nvSpPr>
        <p:spPr>
          <a:xfrm>
            <a:off x="841247" y="4547768"/>
            <a:ext cx="3106826" cy="548640"/>
          </a:xfrm>
          <a:prstGeom prst="rect">
            <a:avLst/>
          </a:prstGeom>
          <a:noFill/>
        </p:spPr>
        <p:txBody>
          <a:bodyPr wrap="square" lIns="0" tIns="0" rIns="0" bIns="0" anchor="t">
            <a:spAutoFit/>
          </a:bodyPr>
          <a:lstStyle/>
          <a:p>
            <a:pPr algn="l">
              <a:lnSpc>
                <a:spcPct val="114000"/>
              </a:lnSpc>
              <a:spcAft>
                <a:spcPts val="0"/>
              </a:spcAft>
            </a:pPr>
            <a:r>
              <a:rPr sz="819" b="0" i="0">
                <a:solidFill>
                  <a:srgbClr val="5B6E82"/>
                </a:solidFill>
                <a:latin typeface="Arial"/>
              </a:rPr>
              <a:t>Every table is tenant-scoped in Postgres itself. A cross-tenant read returns 404, not an error — proven by CI isolation tests.</a:t>
            </a:r>
          </a:p>
        </p:txBody>
      </p:sp>
      <p:sp>
        <p:nvSpPr>
          <p:cNvPr id="33" name="Rounded Rectangle 32"/>
          <p:cNvSpPr/>
          <p:nvPr/>
        </p:nvSpPr>
        <p:spPr>
          <a:xfrm>
            <a:off x="4359554" y="4200296"/>
            <a:ext cx="3472586" cy="950976"/>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42434" y="4310024"/>
            <a:ext cx="320040" cy="182880"/>
          </a:xfrm>
          <a:prstGeom prst="rect">
            <a:avLst/>
          </a:prstGeom>
          <a:noFill/>
        </p:spPr>
        <p:txBody>
          <a:bodyPr wrap="square" lIns="0" tIns="0" rIns="0" bIns="0" anchor="t">
            <a:spAutoFit/>
          </a:bodyPr>
          <a:lstStyle/>
          <a:p>
            <a:pPr algn="l">
              <a:lnSpc>
                <a:spcPct val="112000"/>
              </a:lnSpc>
              <a:spcAft>
                <a:spcPts val="0"/>
              </a:spcAft>
            </a:pPr>
            <a:r>
              <a:rPr sz="850" b="1" i="0" spc="100">
                <a:solidFill>
                  <a:srgbClr val="008A69"/>
                </a:solidFill>
                <a:latin typeface="Arial"/>
              </a:rPr>
              <a:t>08</a:t>
            </a:r>
          </a:p>
        </p:txBody>
      </p:sp>
      <p:sp>
        <p:nvSpPr>
          <p:cNvPr id="35" name="TextBox 34"/>
          <p:cNvSpPr txBox="1"/>
          <p:nvPr/>
        </p:nvSpPr>
        <p:spPr>
          <a:xfrm>
            <a:off x="4926482" y="4291736"/>
            <a:ext cx="2759354" cy="219456"/>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Double-payment prevention</a:t>
            </a:r>
          </a:p>
        </p:txBody>
      </p:sp>
      <p:sp>
        <p:nvSpPr>
          <p:cNvPr id="36" name="TextBox 35"/>
          <p:cNvSpPr txBox="1"/>
          <p:nvPr/>
        </p:nvSpPr>
        <p:spPr>
          <a:xfrm>
            <a:off x="4542434" y="4547768"/>
            <a:ext cx="3106826" cy="548640"/>
          </a:xfrm>
          <a:prstGeom prst="rect">
            <a:avLst/>
          </a:prstGeom>
          <a:noFill/>
        </p:spPr>
        <p:txBody>
          <a:bodyPr wrap="square" lIns="0" tIns="0" rIns="0" bIns="0" anchor="t">
            <a:spAutoFit/>
          </a:bodyPr>
          <a:lstStyle/>
          <a:p>
            <a:pPr algn="l">
              <a:lnSpc>
                <a:spcPct val="114000"/>
              </a:lnSpc>
              <a:spcAft>
                <a:spcPts val="0"/>
              </a:spcAft>
            </a:pPr>
            <a:r>
              <a:rPr sz="819" b="0" i="0">
                <a:solidFill>
                  <a:srgbClr val="5B6E82"/>
                </a:solidFill>
                <a:latin typeface="Arial"/>
              </a:rPr>
              <a:t>Row lock, unique index and state machine at the database level, plus idempotency keys on every money mutation.</a:t>
            </a:r>
          </a:p>
        </p:txBody>
      </p:sp>
      <p:sp>
        <p:nvSpPr>
          <p:cNvPr id="37" name="Rounded Rectangle 36"/>
          <p:cNvSpPr/>
          <p:nvPr/>
        </p:nvSpPr>
        <p:spPr>
          <a:xfrm>
            <a:off x="8060740" y="4200296"/>
            <a:ext cx="3472586" cy="950976"/>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243620" y="4310024"/>
            <a:ext cx="320040" cy="182880"/>
          </a:xfrm>
          <a:prstGeom prst="rect">
            <a:avLst/>
          </a:prstGeom>
          <a:noFill/>
        </p:spPr>
        <p:txBody>
          <a:bodyPr wrap="square" lIns="0" tIns="0" rIns="0" bIns="0" anchor="t">
            <a:spAutoFit/>
          </a:bodyPr>
          <a:lstStyle/>
          <a:p>
            <a:pPr algn="l">
              <a:lnSpc>
                <a:spcPct val="112000"/>
              </a:lnSpc>
              <a:spcAft>
                <a:spcPts val="0"/>
              </a:spcAft>
            </a:pPr>
            <a:r>
              <a:rPr sz="850" b="1" i="0" spc="100">
                <a:solidFill>
                  <a:srgbClr val="008A69"/>
                </a:solidFill>
                <a:latin typeface="Arial"/>
              </a:rPr>
              <a:t>09</a:t>
            </a:r>
          </a:p>
        </p:txBody>
      </p:sp>
      <p:sp>
        <p:nvSpPr>
          <p:cNvPr id="39" name="TextBox 38"/>
          <p:cNvSpPr txBox="1"/>
          <p:nvPr/>
        </p:nvSpPr>
        <p:spPr>
          <a:xfrm>
            <a:off x="8627668" y="4291736"/>
            <a:ext cx="2759354" cy="219456"/>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Tamper-evident audit log</a:t>
            </a:r>
          </a:p>
        </p:txBody>
      </p:sp>
      <p:sp>
        <p:nvSpPr>
          <p:cNvPr id="40" name="TextBox 39"/>
          <p:cNvSpPr txBox="1"/>
          <p:nvPr/>
        </p:nvSpPr>
        <p:spPr>
          <a:xfrm>
            <a:off x="8243620" y="4547768"/>
            <a:ext cx="3106826" cy="548640"/>
          </a:xfrm>
          <a:prstGeom prst="rect">
            <a:avLst/>
          </a:prstGeom>
          <a:noFill/>
        </p:spPr>
        <p:txBody>
          <a:bodyPr wrap="square" lIns="0" tIns="0" rIns="0" bIns="0" anchor="t">
            <a:spAutoFit/>
          </a:bodyPr>
          <a:lstStyle/>
          <a:p>
            <a:pPr algn="l">
              <a:lnSpc>
                <a:spcPct val="114000"/>
              </a:lnSpc>
              <a:spcAft>
                <a:spcPts val="0"/>
              </a:spcAft>
            </a:pPr>
            <a:r>
              <a:rPr sz="819" b="0" i="0">
                <a:solidFill>
                  <a:srgbClr val="5B6E82"/>
                </a:solidFill>
                <a:latin typeface="Arial"/>
              </a:rPr>
              <a:t>Hash-chained, append-only, UPDATE/DELETE revoked, daily signed checkpoints, 7-year WORM export.</a:t>
            </a:r>
          </a:p>
        </p:txBody>
      </p:sp>
      <p:sp>
        <p:nvSpPr>
          <p:cNvPr id="41" name="Rounded Rectangle 40"/>
          <p:cNvSpPr/>
          <p:nvPr/>
        </p:nvSpPr>
        <p:spPr>
          <a:xfrm>
            <a:off x="658368" y="5261000"/>
            <a:ext cx="3472586" cy="950976"/>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41247" y="5370728"/>
            <a:ext cx="320040" cy="182880"/>
          </a:xfrm>
          <a:prstGeom prst="rect">
            <a:avLst/>
          </a:prstGeom>
          <a:noFill/>
        </p:spPr>
        <p:txBody>
          <a:bodyPr wrap="square" lIns="0" tIns="0" rIns="0" bIns="0" anchor="t">
            <a:spAutoFit/>
          </a:bodyPr>
          <a:lstStyle/>
          <a:p>
            <a:pPr algn="l">
              <a:lnSpc>
                <a:spcPct val="112000"/>
              </a:lnSpc>
              <a:spcAft>
                <a:spcPts val="0"/>
              </a:spcAft>
            </a:pPr>
            <a:r>
              <a:rPr sz="850" b="1" i="0" spc="100">
                <a:solidFill>
                  <a:srgbClr val="008A69"/>
                </a:solidFill>
                <a:latin typeface="Arial"/>
              </a:rPr>
              <a:t>10</a:t>
            </a:r>
          </a:p>
        </p:txBody>
      </p:sp>
      <p:sp>
        <p:nvSpPr>
          <p:cNvPr id="43" name="TextBox 42"/>
          <p:cNvSpPr txBox="1"/>
          <p:nvPr/>
        </p:nvSpPr>
        <p:spPr>
          <a:xfrm>
            <a:off x="1225295" y="5352440"/>
            <a:ext cx="2759354" cy="219456"/>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Webhook integrity</a:t>
            </a:r>
          </a:p>
        </p:txBody>
      </p:sp>
      <p:sp>
        <p:nvSpPr>
          <p:cNvPr id="44" name="TextBox 43"/>
          <p:cNvSpPr txBox="1"/>
          <p:nvPr/>
        </p:nvSpPr>
        <p:spPr>
          <a:xfrm>
            <a:off x="841247" y="5608472"/>
            <a:ext cx="3106826" cy="548640"/>
          </a:xfrm>
          <a:prstGeom prst="rect">
            <a:avLst/>
          </a:prstGeom>
          <a:noFill/>
        </p:spPr>
        <p:txBody>
          <a:bodyPr wrap="square" lIns="0" tIns="0" rIns="0" bIns="0" anchor="t">
            <a:spAutoFit/>
          </a:bodyPr>
          <a:lstStyle/>
          <a:p>
            <a:pPr algn="l">
              <a:lnSpc>
                <a:spcPct val="114000"/>
              </a:lnSpc>
              <a:spcAft>
                <a:spcPts val="0"/>
              </a:spcAft>
            </a:pPr>
            <a:r>
              <a:rPr sz="819" b="0" i="0">
                <a:solidFill>
                  <a:srgbClr val="5B6E82"/>
                </a:solidFill>
                <a:latin typeface="Arial"/>
              </a:rPr>
              <a:t>Outbound HMAC signatures with replay protection; inbound verified, deduplicated and re-fetched from the source.</a:t>
            </a:r>
          </a:p>
        </p:txBody>
      </p:sp>
      <p:sp>
        <p:nvSpPr>
          <p:cNvPr id="45" name="Rounded Rectangle 44"/>
          <p:cNvSpPr/>
          <p:nvPr/>
        </p:nvSpPr>
        <p:spPr>
          <a:xfrm>
            <a:off x="4359554" y="5261000"/>
            <a:ext cx="3472586" cy="950976"/>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42434" y="5370728"/>
            <a:ext cx="320040" cy="182880"/>
          </a:xfrm>
          <a:prstGeom prst="rect">
            <a:avLst/>
          </a:prstGeom>
          <a:noFill/>
        </p:spPr>
        <p:txBody>
          <a:bodyPr wrap="square" lIns="0" tIns="0" rIns="0" bIns="0" anchor="t">
            <a:spAutoFit/>
          </a:bodyPr>
          <a:lstStyle/>
          <a:p>
            <a:pPr algn="l">
              <a:lnSpc>
                <a:spcPct val="112000"/>
              </a:lnSpc>
              <a:spcAft>
                <a:spcPts val="0"/>
              </a:spcAft>
            </a:pPr>
            <a:r>
              <a:rPr sz="850" b="1" i="0" spc="100">
                <a:solidFill>
                  <a:srgbClr val="008A69"/>
                </a:solidFill>
                <a:latin typeface="Arial"/>
              </a:rPr>
              <a:t>11</a:t>
            </a:r>
          </a:p>
        </p:txBody>
      </p:sp>
      <p:sp>
        <p:nvSpPr>
          <p:cNvPr id="47" name="TextBox 46"/>
          <p:cNvSpPr txBox="1"/>
          <p:nvPr/>
        </p:nvSpPr>
        <p:spPr>
          <a:xfrm>
            <a:off x="4926482" y="5352440"/>
            <a:ext cx="2759354" cy="219456"/>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Edge and transport</a:t>
            </a:r>
          </a:p>
        </p:txBody>
      </p:sp>
      <p:sp>
        <p:nvSpPr>
          <p:cNvPr id="48" name="TextBox 47"/>
          <p:cNvSpPr txBox="1"/>
          <p:nvPr/>
        </p:nvSpPr>
        <p:spPr>
          <a:xfrm>
            <a:off x="4542434" y="5608472"/>
            <a:ext cx="3106826" cy="548640"/>
          </a:xfrm>
          <a:prstGeom prst="rect">
            <a:avLst/>
          </a:prstGeom>
          <a:noFill/>
        </p:spPr>
        <p:txBody>
          <a:bodyPr wrap="square" lIns="0" tIns="0" rIns="0" bIns="0" anchor="t">
            <a:spAutoFit/>
          </a:bodyPr>
          <a:lstStyle/>
          <a:p>
            <a:pPr algn="l">
              <a:lnSpc>
                <a:spcPct val="114000"/>
              </a:lnSpc>
              <a:spcAft>
                <a:spcPts val="0"/>
              </a:spcAft>
            </a:pPr>
            <a:r>
              <a:rPr sz="819" b="0" i="0">
                <a:solidFill>
                  <a:srgbClr val="5B6E82"/>
                </a:solidFill>
                <a:latin typeface="Arial"/>
              </a:rPr>
              <a:t>Cloudflare WAF and DDoS, TLS 1.3, HSTS preload, DNSSEC, nonce-based CSP, no third-party trackers on checkout.</a:t>
            </a:r>
          </a:p>
        </p:txBody>
      </p:sp>
      <p:sp>
        <p:nvSpPr>
          <p:cNvPr id="49" name="Rounded Rectangle 48"/>
          <p:cNvSpPr/>
          <p:nvPr/>
        </p:nvSpPr>
        <p:spPr>
          <a:xfrm>
            <a:off x="8060740" y="5261000"/>
            <a:ext cx="3472586" cy="950976"/>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8243620" y="5370728"/>
            <a:ext cx="320040" cy="182880"/>
          </a:xfrm>
          <a:prstGeom prst="rect">
            <a:avLst/>
          </a:prstGeom>
          <a:noFill/>
        </p:spPr>
        <p:txBody>
          <a:bodyPr wrap="square" lIns="0" tIns="0" rIns="0" bIns="0" anchor="t">
            <a:spAutoFit/>
          </a:bodyPr>
          <a:lstStyle/>
          <a:p>
            <a:pPr algn="l">
              <a:lnSpc>
                <a:spcPct val="112000"/>
              </a:lnSpc>
              <a:spcAft>
                <a:spcPts val="0"/>
              </a:spcAft>
            </a:pPr>
            <a:r>
              <a:rPr sz="850" b="1" i="0" spc="100">
                <a:solidFill>
                  <a:srgbClr val="008A69"/>
                </a:solidFill>
                <a:latin typeface="Arial"/>
              </a:rPr>
              <a:t>12</a:t>
            </a:r>
          </a:p>
        </p:txBody>
      </p:sp>
      <p:sp>
        <p:nvSpPr>
          <p:cNvPr id="51" name="TextBox 50"/>
          <p:cNvSpPr txBox="1"/>
          <p:nvPr/>
        </p:nvSpPr>
        <p:spPr>
          <a:xfrm>
            <a:off x="8627668" y="5352440"/>
            <a:ext cx="2759354" cy="219456"/>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Fraud controls</a:t>
            </a:r>
          </a:p>
        </p:txBody>
      </p:sp>
      <p:sp>
        <p:nvSpPr>
          <p:cNvPr id="52" name="TextBox 51"/>
          <p:cNvSpPr txBox="1"/>
          <p:nvPr/>
        </p:nvSpPr>
        <p:spPr>
          <a:xfrm>
            <a:off x="8243620" y="5608472"/>
            <a:ext cx="3106826" cy="548640"/>
          </a:xfrm>
          <a:prstGeom prst="rect">
            <a:avLst/>
          </a:prstGeom>
          <a:noFill/>
        </p:spPr>
        <p:txBody>
          <a:bodyPr wrap="square" lIns="0" tIns="0" rIns="0" bIns="0" anchor="t">
            <a:spAutoFit/>
          </a:bodyPr>
          <a:lstStyle/>
          <a:p>
            <a:pPr algn="l">
              <a:lnSpc>
                <a:spcPct val="114000"/>
              </a:lnSpc>
              <a:spcAft>
                <a:spcPts val="0"/>
              </a:spcAft>
            </a:pPr>
            <a:r>
              <a:rPr sz="819" b="0" i="0">
                <a:solidFill>
                  <a:srgbClr val="5B6E82"/>
                </a:solidFill>
                <a:latin typeface="Arial"/>
              </a:rPr>
              <a:t>Velocity per IP, device, email and card; blocklists; decline classification; retry caps; manual review with 5-day auth hold.</a:t>
            </a:r>
          </a:p>
        </p:txBody>
      </p:sp>
      <p:cxnSp>
        <p:nvCxnSpPr>
          <p:cNvPr id="53" name="Connector 52"/>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Airwallex partnership proposal  ·  Confidential</a:t>
            </a:r>
          </a:p>
        </p:txBody>
      </p:sp>
      <p:sp>
        <p:nvSpPr>
          <p:cNvPr id="55" name="TextBox 54"/>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COMPLIANCE</a:t>
            </a:r>
          </a:p>
        </p:txBody>
      </p:sp>
      <p:sp>
        <p:nvSpPr>
          <p:cNvPr id="3" name="TextBox 2"/>
          <p:cNvSpPr txBox="1"/>
          <p:nvPr/>
        </p:nvSpPr>
        <p:spPr>
          <a:xfrm>
            <a:off x="658368" y="749808"/>
            <a:ext cx="10874959" cy="480060"/>
          </a:xfrm>
          <a:prstGeom prst="rect">
            <a:avLst/>
          </a:prstGeom>
          <a:noFill/>
        </p:spPr>
        <p:txBody>
          <a:bodyPr wrap="square" lIns="0" tIns="0" rIns="0" bIns="0" anchor="t">
            <a:spAutoFit/>
          </a:bodyPr>
          <a:lstStyle/>
          <a:p>
            <a:pPr algn="l">
              <a:lnSpc>
                <a:spcPct val="102000"/>
              </a:lnSpc>
              <a:spcAft>
                <a:spcPts val="0"/>
              </a:spcAft>
            </a:pPr>
            <a:r>
              <a:rPr sz="2700" b="1" i="0">
                <a:solidFill>
                  <a:srgbClr val="102236"/>
                </a:solidFill>
                <a:latin typeface="Arial"/>
              </a:rPr>
              <a:t>We take on the merchant risk so you focus on the rail</a:t>
            </a:r>
          </a:p>
        </p:txBody>
      </p:sp>
      <p:sp>
        <p:nvSpPr>
          <p:cNvPr id="4" name="TextBox 3"/>
          <p:cNvSpPr txBox="1"/>
          <p:nvPr/>
        </p:nvSpPr>
        <p:spPr>
          <a:xfrm>
            <a:off x="658368" y="1260957"/>
            <a:ext cx="9326880" cy="564642"/>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Onboarding, monitoring and disputes are our job. That is the value of a platform partner — and the reason our chargeback number is what it is.</a:t>
            </a:r>
          </a:p>
        </p:txBody>
      </p:sp>
      <p:sp>
        <p:nvSpPr>
          <p:cNvPr id="5" name="Rounded Rectangle 4"/>
          <p:cNvSpPr/>
          <p:nvPr/>
        </p:nvSpPr>
        <p:spPr>
          <a:xfrm>
            <a:off x="658368" y="2054199"/>
            <a:ext cx="3472586" cy="2155240"/>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96112" y="2246223"/>
            <a:ext cx="3015386" cy="237744"/>
          </a:xfrm>
          <a:prstGeom prst="rect">
            <a:avLst/>
          </a:prstGeom>
          <a:noFill/>
        </p:spPr>
        <p:txBody>
          <a:bodyPr wrap="square" lIns="0" tIns="0" rIns="0" bIns="0" anchor="t">
            <a:spAutoFit/>
          </a:bodyPr>
          <a:lstStyle/>
          <a:p>
            <a:pPr algn="l">
              <a:lnSpc>
                <a:spcPct val="112000"/>
              </a:lnSpc>
              <a:spcAft>
                <a:spcPts val="0"/>
              </a:spcAft>
            </a:pPr>
            <a:r>
              <a:rPr sz="950" b="1" i="0" spc="130">
                <a:solidFill>
                  <a:srgbClr val="008A69"/>
                </a:solidFill>
                <a:latin typeface="Arial"/>
              </a:rPr>
              <a:t>AT ONBOARDING</a:t>
            </a:r>
          </a:p>
        </p:txBody>
      </p:sp>
      <p:sp>
        <p:nvSpPr>
          <p:cNvPr id="7" name="TextBox 6"/>
          <p:cNvSpPr txBox="1"/>
          <p:nvPr/>
        </p:nvSpPr>
        <p:spPr>
          <a:xfrm>
            <a:off x="896112" y="2611983"/>
            <a:ext cx="3015386" cy="1469440"/>
          </a:xfrm>
          <a:prstGeom prst="rect">
            <a:avLst/>
          </a:prstGeom>
          <a:noFill/>
        </p:spPr>
        <p:txBody>
          <a:bodyPr wrap="square" lIns="0" rIns="0" tIns="0" bIns="0">
            <a:spAutoFit/>
          </a:bodyPr>
          <a:lstStyle/>
          <a:p>
            <a:pPr marL="219456" indent="-219456">
              <a:lnSpc>
                <a:spcPct val="116000"/>
              </a:lnSpc>
              <a:spcAft>
                <a:spcPts val="700"/>
              </a:spcAft>
              <a:buClr>
                <a:srgbClr val="00B589"/>
              </a:buClr>
              <a:buFont typeface="Arial"/>
              <a:buChar char="—"/>
            </a:pPr>
            <a:r>
              <a:rPr sz="980" b="0" i="0">
                <a:solidFill>
                  <a:srgbClr val="102236"/>
                </a:solidFill>
                <a:latin typeface="Arial"/>
              </a:rPr>
              <a:t>Business verification and UBO ownership to 25%</a:t>
            </a:r>
          </a:p>
          <a:p>
            <a:pPr marL="219456" indent="-219456">
              <a:lnSpc>
                <a:spcPct val="116000"/>
              </a:lnSpc>
              <a:spcAft>
                <a:spcPts val="700"/>
              </a:spcAft>
              <a:buClr>
                <a:srgbClr val="00B589"/>
              </a:buClr>
              <a:buFont typeface="Arial"/>
              <a:buChar char="—"/>
            </a:pPr>
            <a:r>
              <a:rPr sz="980" b="0" i="0">
                <a:solidFill>
                  <a:srgbClr val="102236"/>
                </a:solidFill>
                <a:latin typeface="Arial"/>
              </a:rPr>
              <a:t>Sanctions, PEP and adverse-media screening</a:t>
            </a:r>
          </a:p>
          <a:p>
            <a:pPr marL="219456" indent="-219456">
              <a:lnSpc>
                <a:spcPct val="116000"/>
              </a:lnSpc>
              <a:spcAft>
                <a:spcPts val="700"/>
              </a:spcAft>
              <a:buClr>
                <a:srgbClr val="00B589"/>
              </a:buClr>
              <a:buFont typeface="Arial"/>
              <a:buChar char="—"/>
            </a:pPr>
            <a:r>
              <a:rPr sz="980" b="0" i="0">
                <a:solidFill>
                  <a:srgbClr val="102236"/>
                </a:solidFill>
                <a:latin typeface="Arial"/>
              </a:rPr>
              <a:t>Website, MCC and prohibited-business review</a:t>
            </a:r>
          </a:p>
          <a:p>
            <a:pPr marL="219456" indent="-219456">
              <a:lnSpc>
                <a:spcPct val="116000"/>
              </a:lnSpc>
              <a:spcAft>
                <a:spcPts val="700"/>
              </a:spcAft>
              <a:buClr>
                <a:srgbClr val="00B589"/>
              </a:buClr>
              <a:buFont typeface="Arial"/>
              <a:buChar char="—"/>
            </a:pPr>
            <a:r>
              <a:rPr sz="980" b="0" i="0">
                <a:solidFill>
                  <a:srgbClr val="102236"/>
                </a:solidFill>
                <a:latin typeface="Arial"/>
              </a:rPr>
              <a:t>Bank account verification with micro-deposit and cooling period</a:t>
            </a:r>
          </a:p>
          <a:p>
            <a:pPr marL="219456" indent="-219456">
              <a:lnSpc>
                <a:spcPct val="116000"/>
              </a:lnSpc>
              <a:spcAft>
                <a:spcPts val="700"/>
              </a:spcAft>
              <a:buClr>
                <a:srgbClr val="00B589"/>
              </a:buClr>
              <a:buFont typeface="Arial"/>
              <a:buChar char="—"/>
            </a:pPr>
            <a:r>
              <a:rPr sz="980" b="0" i="0">
                <a:solidFill>
                  <a:srgbClr val="102236"/>
                </a:solidFill>
                <a:latin typeface="Arial"/>
              </a:rPr>
              <a:t>Risk tier that sets the review cycle</a:t>
            </a:r>
          </a:p>
        </p:txBody>
      </p:sp>
      <p:sp>
        <p:nvSpPr>
          <p:cNvPr id="8" name="Rounded Rectangle 7"/>
          <p:cNvSpPr/>
          <p:nvPr/>
        </p:nvSpPr>
        <p:spPr>
          <a:xfrm>
            <a:off x="4359554" y="2054199"/>
            <a:ext cx="3472586" cy="2155240"/>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597298" y="2246223"/>
            <a:ext cx="3015386" cy="237744"/>
          </a:xfrm>
          <a:prstGeom prst="rect">
            <a:avLst/>
          </a:prstGeom>
          <a:noFill/>
        </p:spPr>
        <p:txBody>
          <a:bodyPr wrap="square" lIns="0" tIns="0" rIns="0" bIns="0" anchor="t">
            <a:spAutoFit/>
          </a:bodyPr>
          <a:lstStyle/>
          <a:p>
            <a:pPr algn="l">
              <a:lnSpc>
                <a:spcPct val="112000"/>
              </a:lnSpc>
              <a:spcAft>
                <a:spcPts val="0"/>
              </a:spcAft>
            </a:pPr>
            <a:r>
              <a:rPr sz="950" b="1" i="0" spc="130">
                <a:solidFill>
                  <a:srgbClr val="008A69"/>
                </a:solidFill>
                <a:latin typeface="Arial"/>
              </a:rPr>
              <a:t>ONGOING</a:t>
            </a:r>
          </a:p>
        </p:txBody>
      </p:sp>
      <p:sp>
        <p:nvSpPr>
          <p:cNvPr id="10" name="TextBox 9"/>
          <p:cNvSpPr txBox="1"/>
          <p:nvPr/>
        </p:nvSpPr>
        <p:spPr>
          <a:xfrm>
            <a:off x="4597298" y="2611983"/>
            <a:ext cx="3015386" cy="1469440"/>
          </a:xfrm>
          <a:prstGeom prst="rect">
            <a:avLst/>
          </a:prstGeom>
          <a:noFill/>
        </p:spPr>
        <p:txBody>
          <a:bodyPr wrap="square" lIns="0" rIns="0" tIns="0" bIns="0">
            <a:spAutoFit/>
          </a:bodyPr>
          <a:lstStyle/>
          <a:p>
            <a:pPr marL="219456" indent="-219456">
              <a:lnSpc>
                <a:spcPct val="116000"/>
              </a:lnSpc>
              <a:spcAft>
                <a:spcPts val="700"/>
              </a:spcAft>
              <a:buClr>
                <a:srgbClr val="00B589"/>
              </a:buClr>
              <a:buFont typeface="Arial"/>
              <a:buChar char="—"/>
            </a:pPr>
            <a:r>
              <a:rPr sz="980" b="0" i="0">
                <a:solidFill>
                  <a:srgbClr val="102236"/>
                </a:solidFill>
                <a:latin typeface="Arial"/>
              </a:rPr>
              <a:t>Velocity and transaction monitoring per merchant</a:t>
            </a:r>
          </a:p>
          <a:p>
            <a:pPr marL="219456" indent="-219456">
              <a:lnSpc>
                <a:spcPct val="116000"/>
              </a:lnSpc>
              <a:spcAft>
                <a:spcPts val="700"/>
              </a:spcAft>
              <a:buClr>
                <a:srgbClr val="00B589"/>
              </a:buClr>
              <a:buFont typeface="Arial"/>
              <a:buChar char="—"/>
            </a:pPr>
            <a:r>
              <a:rPr sz="980" b="0" i="0">
                <a:solidFill>
                  <a:srgbClr val="102236"/>
                </a:solidFill>
                <a:latin typeface="Arial"/>
              </a:rPr>
              <a:t>Volume, refund and dispute-ratio thresholds</a:t>
            </a:r>
          </a:p>
          <a:p>
            <a:pPr marL="219456" indent="-219456">
              <a:lnSpc>
                <a:spcPct val="116000"/>
              </a:lnSpc>
              <a:spcAft>
                <a:spcPts val="700"/>
              </a:spcAft>
              <a:buClr>
                <a:srgbClr val="00B589"/>
              </a:buClr>
              <a:buFont typeface="Arial"/>
              <a:buChar char="—"/>
            </a:pPr>
            <a:r>
              <a:rPr sz="980" b="0" i="0">
                <a:solidFill>
                  <a:srgbClr val="102236"/>
                </a:solidFill>
                <a:latin typeface="Arial"/>
              </a:rPr>
              <a:t>Periodic review: annual, 6-monthly or quarterly by tier</a:t>
            </a:r>
          </a:p>
          <a:p>
            <a:pPr marL="219456" indent="-219456">
              <a:lnSpc>
                <a:spcPct val="116000"/>
              </a:lnSpc>
              <a:spcAft>
                <a:spcPts val="700"/>
              </a:spcAft>
              <a:buClr>
                <a:srgbClr val="00B589"/>
              </a:buClr>
              <a:buFont typeface="Arial"/>
              <a:buChar char="—"/>
            </a:pPr>
            <a:r>
              <a:rPr sz="980" b="0" i="0">
                <a:solidFill>
                  <a:srgbClr val="102236"/>
                </a:solidFill>
                <a:latin typeface="Arial"/>
              </a:rPr>
              <a:t>Sanctions re-screening on a schedule</a:t>
            </a:r>
          </a:p>
          <a:p>
            <a:pPr marL="219456" indent="-219456">
              <a:lnSpc>
                <a:spcPct val="116000"/>
              </a:lnSpc>
              <a:spcAft>
                <a:spcPts val="700"/>
              </a:spcAft>
              <a:buClr>
                <a:srgbClr val="00B589"/>
              </a:buClr>
              <a:buFont typeface="Arial"/>
              <a:buChar char="—"/>
            </a:pPr>
            <a:r>
              <a:rPr sz="980" b="0" i="0">
                <a:solidFill>
                  <a:srgbClr val="102236"/>
                </a:solidFill>
                <a:latin typeface="Arial"/>
              </a:rPr>
              <a:t>Separate switches for charges and payouts</a:t>
            </a:r>
          </a:p>
        </p:txBody>
      </p:sp>
      <p:sp>
        <p:nvSpPr>
          <p:cNvPr id="11" name="Rounded Rectangle 10"/>
          <p:cNvSpPr/>
          <p:nvPr/>
        </p:nvSpPr>
        <p:spPr>
          <a:xfrm>
            <a:off x="8060740" y="2054199"/>
            <a:ext cx="3472586" cy="1983485"/>
          </a:xfrm>
          <a:prstGeom prst="roundRect">
            <a:avLst>
              <a:gd name="adj" fmla="val 5000"/>
            </a:avLst>
          </a:prstGeom>
          <a:solidFill>
            <a:srgbClr val="0A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98484" y="2246223"/>
            <a:ext cx="3015386" cy="237744"/>
          </a:xfrm>
          <a:prstGeom prst="rect">
            <a:avLst/>
          </a:prstGeom>
          <a:noFill/>
        </p:spPr>
        <p:txBody>
          <a:bodyPr wrap="square" lIns="0" tIns="0" rIns="0" bIns="0" anchor="t">
            <a:spAutoFit/>
          </a:bodyPr>
          <a:lstStyle/>
          <a:p>
            <a:pPr algn="l">
              <a:lnSpc>
                <a:spcPct val="112000"/>
              </a:lnSpc>
              <a:spcAft>
                <a:spcPts val="0"/>
              </a:spcAft>
            </a:pPr>
            <a:r>
              <a:rPr sz="950" b="1" i="0" spc="130">
                <a:solidFill>
                  <a:srgbClr val="00B589"/>
                </a:solidFill>
                <a:latin typeface="Arial"/>
              </a:rPr>
              <a:t>EVIDENCE</a:t>
            </a:r>
          </a:p>
        </p:txBody>
      </p:sp>
      <p:sp>
        <p:nvSpPr>
          <p:cNvPr id="13" name="TextBox 12"/>
          <p:cNvSpPr txBox="1"/>
          <p:nvPr/>
        </p:nvSpPr>
        <p:spPr>
          <a:xfrm>
            <a:off x="8298484" y="2611983"/>
            <a:ext cx="3015386" cy="1297685"/>
          </a:xfrm>
          <a:prstGeom prst="rect">
            <a:avLst/>
          </a:prstGeom>
          <a:noFill/>
        </p:spPr>
        <p:txBody>
          <a:bodyPr wrap="square" lIns="0" rIns="0" tIns="0" bIns="0">
            <a:spAutoFit/>
          </a:bodyPr>
          <a:lstStyle/>
          <a:p>
            <a:pPr marL="219456" indent="-219456">
              <a:lnSpc>
                <a:spcPct val="116000"/>
              </a:lnSpc>
              <a:spcAft>
                <a:spcPts val="700"/>
              </a:spcAft>
              <a:buClr>
                <a:srgbClr val="00B589"/>
              </a:buClr>
              <a:buFont typeface="Arial"/>
              <a:buChar char="—"/>
            </a:pPr>
            <a:r>
              <a:rPr sz="980" b="0" i="0">
                <a:solidFill>
                  <a:srgbClr val="FFFFFF"/>
                </a:solidFill>
                <a:latin typeface="Arial"/>
              </a:rPr>
              <a:t>Hash-chained audit log of every decision</a:t>
            </a:r>
          </a:p>
          <a:p>
            <a:pPr marL="219456" indent="-219456">
              <a:lnSpc>
                <a:spcPct val="116000"/>
              </a:lnSpc>
              <a:spcAft>
                <a:spcPts val="700"/>
              </a:spcAft>
              <a:buClr>
                <a:srgbClr val="00B589"/>
              </a:buClr>
              <a:buFont typeface="Arial"/>
              <a:buChar char="—"/>
            </a:pPr>
            <a:r>
              <a:rPr sz="980" b="0" i="0">
                <a:solidFill>
                  <a:srgbClr val="FFFFFF"/>
                </a:solidFill>
                <a:latin typeface="Arial"/>
              </a:rPr>
              <a:t>7-year retention with WORM export</a:t>
            </a:r>
          </a:p>
          <a:p>
            <a:pPr marL="219456" indent="-219456">
              <a:lnSpc>
                <a:spcPct val="116000"/>
              </a:lnSpc>
              <a:spcAft>
                <a:spcPts val="700"/>
              </a:spcAft>
              <a:buClr>
                <a:srgbClr val="00B589"/>
              </a:buClr>
              <a:buFont typeface="Arial"/>
              <a:buChar char="—"/>
            </a:pPr>
            <a:r>
              <a:rPr sz="980" b="0" i="0">
                <a:solidFill>
                  <a:srgbClr val="FFFFFF"/>
                </a:solidFill>
                <a:latin typeface="Arial"/>
              </a:rPr>
              <a:t>PITR backups and a quarterly restore drill</a:t>
            </a:r>
          </a:p>
          <a:p>
            <a:pPr marL="219456" indent="-219456">
              <a:lnSpc>
                <a:spcPct val="116000"/>
              </a:lnSpc>
              <a:spcAft>
                <a:spcPts val="700"/>
              </a:spcAft>
              <a:buClr>
                <a:srgbClr val="00B589"/>
              </a:buClr>
              <a:buFont typeface="Arial"/>
              <a:buChar char="—"/>
            </a:pPr>
            <a:r>
              <a:rPr sz="980" b="0" i="0">
                <a:solidFill>
                  <a:srgbClr val="FFFFFF"/>
                </a:solidFill>
                <a:latin typeface="Arial"/>
              </a:rPr>
              <a:t>Incident response runbook and breach clock</a:t>
            </a:r>
          </a:p>
          <a:p>
            <a:pPr marL="219456" indent="-219456">
              <a:lnSpc>
                <a:spcPct val="116000"/>
              </a:lnSpc>
              <a:spcAft>
                <a:spcPts val="700"/>
              </a:spcAft>
              <a:buClr>
                <a:srgbClr val="00B589"/>
              </a:buClr>
              <a:buFont typeface="Arial"/>
              <a:buChar char="—"/>
            </a:pPr>
            <a:r>
              <a:rPr sz="980" b="0" i="0">
                <a:solidFill>
                  <a:srgbClr val="FFFFFF"/>
                </a:solidFill>
                <a:latin typeface="Arial"/>
              </a:rPr>
              <a:t>Merchant activity feed and DSAR workflow</a:t>
            </a:r>
          </a:p>
        </p:txBody>
      </p:sp>
      <p:sp>
        <p:nvSpPr>
          <p:cNvPr id="14" name="TextBox 13"/>
          <p:cNvSpPr txBox="1"/>
          <p:nvPr/>
        </p:nvSpPr>
        <p:spPr>
          <a:xfrm>
            <a:off x="658368" y="4575200"/>
            <a:ext cx="10874959"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5B6E82"/>
                </a:solidFill>
                <a:latin typeface="Arial"/>
              </a:rPr>
              <a:t>IN PLAIN TERMS</a:t>
            </a:r>
          </a:p>
        </p:txBody>
      </p:sp>
      <p:sp>
        <p:nvSpPr>
          <p:cNvPr id="15" name="TextBox 14"/>
          <p:cNvSpPr txBox="1"/>
          <p:nvPr/>
        </p:nvSpPr>
        <p:spPr>
          <a:xfrm>
            <a:off x="658368" y="4849520"/>
            <a:ext cx="3259226" cy="502920"/>
          </a:xfrm>
          <a:prstGeom prst="rect">
            <a:avLst/>
          </a:prstGeom>
          <a:noFill/>
        </p:spPr>
        <p:txBody>
          <a:bodyPr wrap="square" lIns="0" tIns="0" rIns="0" bIns="0" anchor="t">
            <a:spAutoFit/>
          </a:bodyPr>
          <a:lstStyle/>
          <a:p>
            <a:pPr algn="l">
              <a:lnSpc>
                <a:spcPct val="110000"/>
              </a:lnSpc>
              <a:spcAft>
                <a:spcPts val="0"/>
              </a:spcAft>
            </a:pPr>
            <a:r>
              <a:rPr sz="1050" b="1" i="0">
                <a:solidFill>
                  <a:srgbClr val="102236"/>
                </a:solidFill>
                <a:latin typeface="Arial"/>
              </a:rPr>
              <a:t>Scope, not theatre.</a:t>
            </a:r>
          </a:p>
        </p:txBody>
      </p:sp>
      <p:sp>
        <p:nvSpPr>
          <p:cNvPr id="16" name="TextBox 15"/>
          <p:cNvSpPr txBox="1"/>
          <p:nvPr/>
        </p:nvSpPr>
        <p:spPr>
          <a:xfrm>
            <a:off x="658368" y="5142128"/>
            <a:ext cx="3259226" cy="685800"/>
          </a:xfrm>
          <a:prstGeom prst="rect">
            <a:avLst/>
          </a:prstGeom>
          <a:noFill/>
        </p:spPr>
        <p:txBody>
          <a:bodyPr wrap="square" lIns="0" tIns="0" rIns="0" bIns="0" anchor="t">
            <a:spAutoFit/>
          </a:bodyPr>
          <a:lstStyle/>
          <a:p>
            <a:pPr algn="l">
              <a:lnSpc>
                <a:spcPct val="120000"/>
              </a:lnSpc>
              <a:spcAft>
                <a:spcPts val="0"/>
              </a:spcAft>
            </a:pPr>
            <a:r>
              <a:rPr sz="930" b="0" i="0">
                <a:solidFill>
                  <a:srgbClr val="5B6E82"/>
                </a:solidFill>
                <a:latin typeface="Arial"/>
              </a:rPr>
              <a:t>PCI DSS SAQ-A: card data never reaches our servers, so our audit surface stays small.</a:t>
            </a:r>
          </a:p>
        </p:txBody>
      </p:sp>
      <p:sp>
        <p:nvSpPr>
          <p:cNvPr id="17" name="TextBox 16"/>
          <p:cNvSpPr txBox="1"/>
          <p:nvPr/>
        </p:nvSpPr>
        <p:spPr>
          <a:xfrm>
            <a:off x="4283354" y="4849520"/>
            <a:ext cx="3259226" cy="502920"/>
          </a:xfrm>
          <a:prstGeom prst="rect">
            <a:avLst/>
          </a:prstGeom>
          <a:noFill/>
        </p:spPr>
        <p:txBody>
          <a:bodyPr wrap="square" lIns="0" tIns="0" rIns="0" bIns="0" anchor="t">
            <a:spAutoFit/>
          </a:bodyPr>
          <a:lstStyle/>
          <a:p>
            <a:pPr algn="l">
              <a:lnSpc>
                <a:spcPct val="110000"/>
              </a:lnSpc>
              <a:spcAft>
                <a:spcPts val="0"/>
              </a:spcAft>
            </a:pPr>
            <a:r>
              <a:rPr sz="1050" b="1" i="0">
                <a:solidFill>
                  <a:srgbClr val="102236"/>
                </a:solidFill>
                <a:latin typeface="Arial"/>
              </a:rPr>
              <a:t>No borrowed credentials.</a:t>
            </a:r>
          </a:p>
        </p:txBody>
      </p:sp>
      <p:sp>
        <p:nvSpPr>
          <p:cNvPr id="18" name="TextBox 17"/>
          <p:cNvSpPr txBox="1"/>
          <p:nvPr/>
        </p:nvSpPr>
        <p:spPr>
          <a:xfrm>
            <a:off x="4283354" y="5142128"/>
            <a:ext cx="3259226" cy="685800"/>
          </a:xfrm>
          <a:prstGeom prst="rect">
            <a:avLst/>
          </a:prstGeom>
          <a:noFill/>
        </p:spPr>
        <p:txBody>
          <a:bodyPr wrap="square" lIns="0" tIns="0" rIns="0" bIns="0" anchor="t">
            <a:spAutoFit/>
          </a:bodyPr>
          <a:lstStyle/>
          <a:p>
            <a:pPr algn="l">
              <a:lnSpc>
                <a:spcPct val="120000"/>
              </a:lnSpc>
              <a:spcAft>
                <a:spcPts val="0"/>
              </a:spcAft>
            </a:pPr>
            <a:r>
              <a:rPr sz="930" b="0" i="0">
                <a:solidFill>
                  <a:srgbClr val="5B6E82"/>
                </a:solidFill>
                <a:latin typeface="Arial"/>
              </a:rPr>
              <a:t>We do not claim SOC 2, ISO 27001 or PCI Level 1 that we have not earned. We publish the plan and the dates.</a:t>
            </a:r>
          </a:p>
        </p:txBody>
      </p:sp>
      <p:sp>
        <p:nvSpPr>
          <p:cNvPr id="19" name="TextBox 18"/>
          <p:cNvSpPr txBox="1"/>
          <p:nvPr/>
        </p:nvSpPr>
        <p:spPr>
          <a:xfrm>
            <a:off x="7908340" y="4849520"/>
            <a:ext cx="3259226" cy="502920"/>
          </a:xfrm>
          <a:prstGeom prst="rect">
            <a:avLst/>
          </a:prstGeom>
          <a:noFill/>
        </p:spPr>
        <p:txBody>
          <a:bodyPr wrap="square" lIns="0" tIns="0" rIns="0" bIns="0" anchor="t">
            <a:spAutoFit/>
          </a:bodyPr>
          <a:lstStyle/>
          <a:p>
            <a:pPr algn="l">
              <a:lnSpc>
                <a:spcPct val="110000"/>
              </a:lnSpc>
              <a:spcAft>
                <a:spcPts val="0"/>
              </a:spcAft>
            </a:pPr>
            <a:r>
              <a:rPr sz="1050" b="1" i="0">
                <a:solidFill>
                  <a:srgbClr val="102236"/>
                </a:solidFill>
                <a:latin typeface="Arial"/>
              </a:rPr>
              <a:t>A platform, not an acquirer.</a:t>
            </a:r>
          </a:p>
        </p:txBody>
      </p:sp>
      <p:sp>
        <p:nvSpPr>
          <p:cNvPr id="20" name="TextBox 19"/>
          <p:cNvSpPr txBox="1"/>
          <p:nvPr/>
        </p:nvSpPr>
        <p:spPr>
          <a:xfrm>
            <a:off x="7908340" y="5142128"/>
            <a:ext cx="3259226" cy="685800"/>
          </a:xfrm>
          <a:prstGeom prst="rect">
            <a:avLst/>
          </a:prstGeom>
          <a:noFill/>
        </p:spPr>
        <p:txBody>
          <a:bodyPr wrap="square" lIns="0" tIns="0" rIns="0" bIns="0" anchor="t">
            <a:spAutoFit/>
          </a:bodyPr>
          <a:lstStyle/>
          <a:p>
            <a:pPr algn="l">
              <a:lnSpc>
                <a:spcPct val="120000"/>
              </a:lnSpc>
              <a:spcAft>
                <a:spcPts val="0"/>
              </a:spcAft>
            </a:pPr>
            <a:r>
              <a:rPr sz="930" b="0" i="0">
                <a:solidFill>
                  <a:srgbClr val="5B6E82"/>
                </a:solidFill>
                <a:latin typeface="Arial"/>
              </a:rPr>
              <a:t>We are not a licensed acquirer. Our model is deliberately built to sit on top of yours.</a:t>
            </a:r>
          </a:p>
        </p:txBody>
      </p:sp>
      <p:cxnSp>
        <p:nvCxnSpPr>
          <p:cNvPr id="21" name="Connector 20"/>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Airwallex partnership proposal  ·  Confidential</a:t>
            </a:r>
          </a:p>
        </p:txBody>
      </p:sp>
      <p:sp>
        <p:nvSpPr>
          <p:cNvPr id="23" name="TextBox 22"/>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EXECUTION</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Eight weeks from approval to first live payment</a:t>
            </a:r>
          </a:p>
        </p:txBody>
      </p:sp>
      <p:sp>
        <p:nvSpPr>
          <p:cNvPr id="4" name="TextBox 3"/>
          <p:cNvSpPr txBox="1"/>
          <p:nvPr/>
        </p:nvSpPr>
        <p:spPr>
          <a:xfrm>
            <a:off x="658368" y="1307592"/>
            <a:ext cx="9326880" cy="328041"/>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We are ready to start. The sandbox integration is scoped and the team is standing by.</a:t>
            </a:r>
          </a:p>
        </p:txBody>
      </p:sp>
      <p:sp>
        <p:nvSpPr>
          <p:cNvPr id="5" name="Rectangle 4"/>
          <p:cNvSpPr/>
          <p:nvPr/>
        </p:nvSpPr>
        <p:spPr>
          <a:xfrm>
            <a:off x="658368" y="2229993"/>
            <a:ext cx="10874959" cy="27432"/>
          </a:xfrm>
          <a:prstGeom prst="rect">
            <a:avLst/>
          </a:prstGeom>
          <a:solidFill>
            <a:srgbClr val="DFE6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76656" y="2152269"/>
            <a:ext cx="182880" cy="182880"/>
          </a:xfrm>
          <a:prstGeom prst="rect">
            <a:avLst/>
          </a:prstGeom>
          <a:solidFill>
            <a:srgbClr val="00B589"/>
          </a:solidFill>
          <a:ln w="9525">
            <a:solidFill>
              <a:srgbClr val="00B58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69264" y="2111121"/>
            <a:ext cx="1809231" cy="219456"/>
          </a:xfrm>
          <a:prstGeom prst="rect">
            <a:avLst/>
          </a:prstGeom>
          <a:noFill/>
        </p:spPr>
        <p:txBody>
          <a:bodyPr wrap="square" lIns="0" tIns="0" rIns="0" bIns="0" anchor="t">
            <a:spAutoFit/>
          </a:bodyPr>
          <a:lstStyle/>
          <a:p>
            <a:pPr algn="l">
              <a:lnSpc>
                <a:spcPct val="112000"/>
              </a:lnSpc>
              <a:spcAft>
                <a:spcPts val="0"/>
              </a:spcAft>
            </a:pPr>
            <a:r>
              <a:rPr sz="1050" b="1" i="0" spc="100">
                <a:solidFill>
                  <a:srgbClr val="008A69"/>
                </a:solidFill>
                <a:latin typeface="Arial"/>
              </a:rPr>
              <a:t>W1–2</a:t>
            </a:r>
          </a:p>
        </p:txBody>
      </p:sp>
      <p:sp>
        <p:nvSpPr>
          <p:cNvPr id="8" name="TextBox 7"/>
          <p:cNvSpPr txBox="1"/>
          <p:nvPr/>
        </p:nvSpPr>
        <p:spPr>
          <a:xfrm>
            <a:off x="658368" y="2504313"/>
            <a:ext cx="1973823" cy="274320"/>
          </a:xfrm>
          <a:prstGeom prst="rect">
            <a:avLst/>
          </a:prstGeom>
          <a:noFill/>
        </p:spPr>
        <p:txBody>
          <a:bodyPr wrap="square" lIns="0" tIns="0" rIns="0" bIns="0" anchor="t">
            <a:spAutoFit/>
          </a:bodyPr>
          <a:lstStyle/>
          <a:p>
            <a:pPr algn="l">
              <a:lnSpc>
                <a:spcPct val="105000"/>
              </a:lnSpc>
              <a:spcAft>
                <a:spcPts val="0"/>
              </a:spcAft>
            </a:pPr>
            <a:r>
              <a:rPr sz="1150" b="1" i="0">
                <a:solidFill>
                  <a:srgbClr val="102236"/>
                </a:solidFill>
                <a:latin typeface="Arial"/>
              </a:rPr>
              <a:t>Contract &amp; sandbox</a:t>
            </a:r>
          </a:p>
        </p:txBody>
      </p:sp>
      <p:sp>
        <p:nvSpPr>
          <p:cNvPr id="9" name="TextBox 8"/>
          <p:cNvSpPr txBox="1"/>
          <p:nvPr/>
        </p:nvSpPr>
        <p:spPr>
          <a:xfrm>
            <a:off x="658368" y="2796921"/>
            <a:ext cx="1946391" cy="822960"/>
          </a:xfrm>
          <a:prstGeom prst="rect">
            <a:avLst/>
          </a:prstGeom>
          <a:noFill/>
        </p:spPr>
        <p:txBody>
          <a:bodyPr wrap="square" lIns="0" tIns="0" rIns="0" bIns="0" anchor="t">
            <a:spAutoFit/>
          </a:bodyPr>
          <a:lstStyle/>
          <a:p>
            <a:pPr algn="l">
              <a:lnSpc>
                <a:spcPct val="120000"/>
              </a:lnSpc>
              <a:spcAft>
                <a:spcPts val="0"/>
              </a:spcAft>
            </a:pPr>
            <a:r>
              <a:rPr sz="900" b="0" i="0">
                <a:solidFill>
                  <a:srgbClr val="5B6E82"/>
                </a:solidFill>
                <a:latin typeface="Arial"/>
              </a:rPr>
              <a:t>Model agreed in writing, API keys, entity and KYC pack submitted</a:t>
            </a:r>
          </a:p>
        </p:txBody>
      </p:sp>
      <p:sp>
        <p:nvSpPr>
          <p:cNvPr id="10" name="Rectangle 9"/>
          <p:cNvSpPr/>
          <p:nvPr/>
        </p:nvSpPr>
        <p:spPr>
          <a:xfrm>
            <a:off x="2851647" y="2152269"/>
            <a:ext cx="182880" cy="182880"/>
          </a:xfrm>
          <a:prstGeom prst="rect">
            <a:avLst/>
          </a:prstGeom>
          <a:solidFill>
            <a:srgbClr val="00B589"/>
          </a:solidFill>
          <a:ln w="9525">
            <a:solidFill>
              <a:srgbClr val="00B58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144255" y="2111121"/>
            <a:ext cx="1809231" cy="219456"/>
          </a:xfrm>
          <a:prstGeom prst="rect">
            <a:avLst/>
          </a:prstGeom>
          <a:noFill/>
        </p:spPr>
        <p:txBody>
          <a:bodyPr wrap="square" lIns="0" tIns="0" rIns="0" bIns="0" anchor="t">
            <a:spAutoFit/>
          </a:bodyPr>
          <a:lstStyle/>
          <a:p>
            <a:pPr algn="l">
              <a:lnSpc>
                <a:spcPct val="112000"/>
              </a:lnSpc>
              <a:spcAft>
                <a:spcPts val="0"/>
              </a:spcAft>
            </a:pPr>
            <a:r>
              <a:rPr sz="1050" b="1" i="0" spc="100">
                <a:solidFill>
                  <a:srgbClr val="008A69"/>
                </a:solidFill>
                <a:latin typeface="Arial"/>
              </a:rPr>
              <a:t>W3–4</a:t>
            </a:r>
          </a:p>
        </p:txBody>
      </p:sp>
      <p:sp>
        <p:nvSpPr>
          <p:cNvPr id="12" name="TextBox 11"/>
          <p:cNvSpPr txBox="1"/>
          <p:nvPr/>
        </p:nvSpPr>
        <p:spPr>
          <a:xfrm>
            <a:off x="2833359" y="2504313"/>
            <a:ext cx="1973823" cy="274320"/>
          </a:xfrm>
          <a:prstGeom prst="rect">
            <a:avLst/>
          </a:prstGeom>
          <a:noFill/>
        </p:spPr>
        <p:txBody>
          <a:bodyPr wrap="square" lIns="0" tIns="0" rIns="0" bIns="0" anchor="t">
            <a:spAutoFit/>
          </a:bodyPr>
          <a:lstStyle/>
          <a:p>
            <a:pPr algn="l">
              <a:lnSpc>
                <a:spcPct val="105000"/>
              </a:lnSpc>
              <a:spcAft>
                <a:spcPts val="0"/>
              </a:spcAft>
            </a:pPr>
            <a:r>
              <a:rPr sz="1150" b="1" i="0">
                <a:solidFill>
                  <a:srgbClr val="102236"/>
                </a:solidFill>
                <a:latin typeface="Arial"/>
              </a:rPr>
              <a:t>Build</a:t>
            </a:r>
          </a:p>
        </p:txBody>
      </p:sp>
      <p:sp>
        <p:nvSpPr>
          <p:cNvPr id="13" name="TextBox 12"/>
          <p:cNvSpPr txBox="1"/>
          <p:nvPr/>
        </p:nvSpPr>
        <p:spPr>
          <a:xfrm>
            <a:off x="2833359" y="2796921"/>
            <a:ext cx="1946391" cy="822960"/>
          </a:xfrm>
          <a:prstGeom prst="rect">
            <a:avLst/>
          </a:prstGeom>
          <a:noFill/>
        </p:spPr>
        <p:txBody>
          <a:bodyPr wrap="square" lIns="0" tIns="0" rIns="0" bIns="0" anchor="t">
            <a:spAutoFit/>
          </a:bodyPr>
          <a:lstStyle/>
          <a:p>
            <a:pPr algn="l">
              <a:lnSpc>
                <a:spcPct val="120000"/>
              </a:lnSpc>
              <a:spcAft>
                <a:spcPts val="0"/>
              </a:spcAft>
            </a:pPr>
            <a:r>
              <a:rPr sz="900" b="0" i="0">
                <a:solidFill>
                  <a:srgbClr val="5B6E82"/>
                </a:solidFill>
                <a:latin typeface="Arial"/>
              </a:rPr>
              <a:t>Checkout, webhooks, ledger mapping, payout flow, reconciliation skeleton</a:t>
            </a:r>
          </a:p>
        </p:txBody>
      </p:sp>
      <p:sp>
        <p:nvSpPr>
          <p:cNvPr id="14" name="Diamond 13"/>
          <p:cNvSpPr/>
          <p:nvPr/>
        </p:nvSpPr>
        <p:spPr>
          <a:xfrm>
            <a:off x="5026639" y="2133981"/>
            <a:ext cx="219456" cy="219456"/>
          </a:xfrm>
          <a:prstGeom prst="diamond">
            <a:avLst/>
          </a:prstGeom>
          <a:solidFill>
            <a:srgbClr val="FFFFFF"/>
          </a:solidFill>
          <a:ln w="9525">
            <a:solidFill>
              <a:srgbClr val="00B58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319247" y="2111121"/>
            <a:ext cx="1809231" cy="219456"/>
          </a:xfrm>
          <a:prstGeom prst="rect">
            <a:avLst/>
          </a:prstGeom>
          <a:noFill/>
        </p:spPr>
        <p:txBody>
          <a:bodyPr wrap="square" lIns="0" tIns="0" rIns="0" bIns="0" anchor="t">
            <a:spAutoFit/>
          </a:bodyPr>
          <a:lstStyle/>
          <a:p>
            <a:pPr algn="l">
              <a:lnSpc>
                <a:spcPct val="112000"/>
              </a:lnSpc>
              <a:spcAft>
                <a:spcPts val="0"/>
              </a:spcAft>
            </a:pPr>
            <a:r>
              <a:rPr sz="1050" b="1" i="0" spc="100">
                <a:solidFill>
                  <a:srgbClr val="008A69"/>
                </a:solidFill>
                <a:latin typeface="Arial"/>
              </a:rPr>
              <a:t>W5</a:t>
            </a:r>
          </a:p>
        </p:txBody>
      </p:sp>
      <p:sp>
        <p:nvSpPr>
          <p:cNvPr id="16" name="TextBox 15"/>
          <p:cNvSpPr txBox="1"/>
          <p:nvPr/>
        </p:nvSpPr>
        <p:spPr>
          <a:xfrm>
            <a:off x="5008351" y="2504313"/>
            <a:ext cx="1973823" cy="274320"/>
          </a:xfrm>
          <a:prstGeom prst="rect">
            <a:avLst/>
          </a:prstGeom>
          <a:noFill/>
        </p:spPr>
        <p:txBody>
          <a:bodyPr wrap="square" lIns="0" tIns="0" rIns="0" bIns="0" anchor="t">
            <a:spAutoFit/>
          </a:bodyPr>
          <a:lstStyle/>
          <a:p>
            <a:pPr algn="l">
              <a:lnSpc>
                <a:spcPct val="105000"/>
              </a:lnSpc>
              <a:spcAft>
                <a:spcPts val="0"/>
              </a:spcAft>
            </a:pPr>
            <a:r>
              <a:rPr sz="1150" b="1" i="0">
                <a:solidFill>
                  <a:srgbClr val="102236"/>
                </a:solidFill>
                <a:latin typeface="Arial"/>
              </a:rPr>
              <a:t>Certification</a:t>
            </a:r>
          </a:p>
        </p:txBody>
      </p:sp>
      <p:sp>
        <p:nvSpPr>
          <p:cNvPr id="17" name="TextBox 16"/>
          <p:cNvSpPr txBox="1"/>
          <p:nvPr/>
        </p:nvSpPr>
        <p:spPr>
          <a:xfrm>
            <a:off x="5008351" y="2796921"/>
            <a:ext cx="1946391" cy="822960"/>
          </a:xfrm>
          <a:prstGeom prst="rect">
            <a:avLst/>
          </a:prstGeom>
          <a:noFill/>
        </p:spPr>
        <p:txBody>
          <a:bodyPr wrap="square" lIns="0" tIns="0" rIns="0" bIns="0" anchor="t">
            <a:spAutoFit/>
          </a:bodyPr>
          <a:lstStyle/>
          <a:p>
            <a:pPr algn="l">
              <a:lnSpc>
                <a:spcPct val="120000"/>
              </a:lnSpc>
              <a:spcAft>
                <a:spcPts val="0"/>
              </a:spcAft>
            </a:pPr>
            <a:r>
              <a:rPr sz="900" b="0" i="0">
                <a:solidFill>
                  <a:srgbClr val="5B6E82"/>
                </a:solidFill>
                <a:latin typeface="Arial"/>
              </a:rPr>
              <a:t>Joint test pass: 3DS2, declines, refunds, webhook replay, dispute intake</a:t>
            </a:r>
          </a:p>
        </p:txBody>
      </p:sp>
      <p:sp>
        <p:nvSpPr>
          <p:cNvPr id="18" name="Diamond 17"/>
          <p:cNvSpPr/>
          <p:nvPr/>
        </p:nvSpPr>
        <p:spPr>
          <a:xfrm>
            <a:off x="7201631" y="2133981"/>
            <a:ext cx="219456" cy="219456"/>
          </a:xfrm>
          <a:prstGeom prst="diamond">
            <a:avLst/>
          </a:prstGeom>
          <a:solidFill>
            <a:srgbClr val="FFFFFF"/>
          </a:solidFill>
          <a:ln w="9525">
            <a:solidFill>
              <a:srgbClr val="00B58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494239" y="2111121"/>
            <a:ext cx="1809231" cy="219456"/>
          </a:xfrm>
          <a:prstGeom prst="rect">
            <a:avLst/>
          </a:prstGeom>
          <a:noFill/>
        </p:spPr>
        <p:txBody>
          <a:bodyPr wrap="square" lIns="0" tIns="0" rIns="0" bIns="0" anchor="t">
            <a:spAutoFit/>
          </a:bodyPr>
          <a:lstStyle/>
          <a:p>
            <a:pPr algn="l">
              <a:lnSpc>
                <a:spcPct val="112000"/>
              </a:lnSpc>
              <a:spcAft>
                <a:spcPts val="0"/>
              </a:spcAft>
            </a:pPr>
            <a:r>
              <a:rPr sz="1050" b="1" i="0" spc="100">
                <a:solidFill>
                  <a:srgbClr val="008A69"/>
                </a:solidFill>
                <a:latin typeface="Arial"/>
              </a:rPr>
              <a:t>W6</a:t>
            </a:r>
          </a:p>
        </p:txBody>
      </p:sp>
      <p:sp>
        <p:nvSpPr>
          <p:cNvPr id="20" name="TextBox 19"/>
          <p:cNvSpPr txBox="1"/>
          <p:nvPr/>
        </p:nvSpPr>
        <p:spPr>
          <a:xfrm>
            <a:off x="7183343" y="2504313"/>
            <a:ext cx="1973823" cy="274320"/>
          </a:xfrm>
          <a:prstGeom prst="rect">
            <a:avLst/>
          </a:prstGeom>
          <a:noFill/>
        </p:spPr>
        <p:txBody>
          <a:bodyPr wrap="square" lIns="0" tIns="0" rIns="0" bIns="0" anchor="t">
            <a:spAutoFit/>
          </a:bodyPr>
          <a:lstStyle/>
          <a:p>
            <a:pPr algn="l">
              <a:lnSpc>
                <a:spcPct val="105000"/>
              </a:lnSpc>
              <a:spcAft>
                <a:spcPts val="0"/>
              </a:spcAft>
            </a:pPr>
            <a:r>
              <a:rPr sz="1150" b="1" i="0">
                <a:solidFill>
                  <a:srgbClr val="102236"/>
                </a:solidFill>
                <a:latin typeface="Arial"/>
              </a:rPr>
              <a:t>Pilot</a:t>
            </a:r>
          </a:p>
        </p:txBody>
      </p:sp>
      <p:sp>
        <p:nvSpPr>
          <p:cNvPr id="21" name="TextBox 20"/>
          <p:cNvSpPr txBox="1"/>
          <p:nvPr/>
        </p:nvSpPr>
        <p:spPr>
          <a:xfrm>
            <a:off x="7183343" y="2796921"/>
            <a:ext cx="1946391" cy="822960"/>
          </a:xfrm>
          <a:prstGeom prst="rect">
            <a:avLst/>
          </a:prstGeom>
          <a:noFill/>
        </p:spPr>
        <p:txBody>
          <a:bodyPr wrap="square" lIns="0" tIns="0" rIns="0" bIns="0" anchor="t">
            <a:spAutoFit/>
          </a:bodyPr>
          <a:lstStyle/>
          <a:p>
            <a:pPr algn="l">
              <a:lnSpc>
                <a:spcPct val="120000"/>
              </a:lnSpc>
              <a:spcAft>
                <a:spcPts val="0"/>
              </a:spcAft>
            </a:pPr>
            <a:r>
              <a:rPr sz="900" b="0" i="0">
                <a:solidFill>
                  <a:srgbClr val="5B6E82"/>
                </a:solidFill>
                <a:latin typeface="Arial"/>
              </a:rPr>
              <a:t>10 merchants live on small limits, daily reconciliation with your team</a:t>
            </a:r>
          </a:p>
        </p:txBody>
      </p:sp>
      <p:sp>
        <p:nvSpPr>
          <p:cNvPr id="22" name="Diamond 21"/>
          <p:cNvSpPr/>
          <p:nvPr/>
        </p:nvSpPr>
        <p:spPr>
          <a:xfrm>
            <a:off x="9376623" y="2133981"/>
            <a:ext cx="219456" cy="219456"/>
          </a:xfrm>
          <a:prstGeom prst="diamond">
            <a:avLst/>
          </a:prstGeom>
          <a:solidFill>
            <a:srgbClr val="FFFFFF"/>
          </a:solidFill>
          <a:ln w="9525">
            <a:solidFill>
              <a:srgbClr val="00B58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669231" y="2111121"/>
            <a:ext cx="1809231" cy="219456"/>
          </a:xfrm>
          <a:prstGeom prst="rect">
            <a:avLst/>
          </a:prstGeom>
          <a:noFill/>
        </p:spPr>
        <p:txBody>
          <a:bodyPr wrap="square" lIns="0" tIns="0" rIns="0" bIns="0" anchor="t">
            <a:spAutoFit/>
          </a:bodyPr>
          <a:lstStyle/>
          <a:p>
            <a:pPr algn="l">
              <a:lnSpc>
                <a:spcPct val="112000"/>
              </a:lnSpc>
              <a:spcAft>
                <a:spcPts val="0"/>
              </a:spcAft>
            </a:pPr>
            <a:r>
              <a:rPr sz="1050" b="1" i="0" spc="100">
                <a:solidFill>
                  <a:srgbClr val="008A69"/>
                </a:solidFill>
                <a:latin typeface="Arial"/>
              </a:rPr>
              <a:t>W7–8</a:t>
            </a:r>
          </a:p>
        </p:txBody>
      </p:sp>
      <p:sp>
        <p:nvSpPr>
          <p:cNvPr id="24" name="TextBox 23"/>
          <p:cNvSpPr txBox="1"/>
          <p:nvPr/>
        </p:nvSpPr>
        <p:spPr>
          <a:xfrm>
            <a:off x="9358335" y="2504313"/>
            <a:ext cx="1973823" cy="274320"/>
          </a:xfrm>
          <a:prstGeom prst="rect">
            <a:avLst/>
          </a:prstGeom>
          <a:noFill/>
        </p:spPr>
        <p:txBody>
          <a:bodyPr wrap="square" lIns="0" tIns="0" rIns="0" bIns="0" anchor="t">
            <a:spAutoFit/>
          </a:bodyPr>
          <a:lstStyle/>
          <a:p>
            <a:pPr algn="l">
              <a:lnSpc>
                <a:spcPct val="105000"/>
              </a:lnSpc>
              <a:spcAft>
                <a:spcPts val="0"/>
              </a:spcAft>
            </a:pPr>
            <a:r>
              <a:rPr sz="1150" b="1" i="0">
                <a:solidFill>
                  <a:srgbClr val="102236"/>
                </a:solidFill>
                <a:latin typeface="Arial"/>
              </a:rPr>
              <a:t>Go-live</a:t>
            </a:r>
          </a:p>
        </p:txBody>
      </p:sp>
      <p:sp>
        <p:nvSpPr>
          <p:cNvPr id="25" name="TextBox 24"/>
          <p:cNvSpPr txBox="1"/>
          <p:nvPr/>
        </p:nvSpPr>
        <p:spPr>
          <a:xfrm>
            <a:off x="9358335" y="2796921"/>
            <a:ext cx="1946391" cy="822960"/>
          </a:xfrm>
          <a:prstGeom prst="rect">
            <a:avLst/>
          </a:prstGeom>
          <a:noFill/>
        </p:spPr>
        <p:txBody>
          <a:bodyPr wrap="square" lIns="0" tIns="0" rIns="0" bIns="0" anchor="t">
            <a:spAutoFit/>
          </a:bodyPr>
          <a:lstStyle/>
          <a:p>
            <a:pPr algn="l">
              <a:lnSpc>
                <a:spcPct val="120000"/>
              </a:lnSpc>
              <a:spcAft>
                <a:spcPts val="0"/>
              </a:spcAft>
            </a:pPr>
            <a:r>
              <a:rPr sz="900" b="0" i="0">
                <a:solidFill>
                  <a:srgbClr val="5B6E82"/>
                </a:solidFill>
                <a:latin typeface="Arial"/>
              </a:rPr>
              <a:t>Limits raised, monitoring and on-call handover, first payout cycle</a:t>
            </a:r>
          </a:p>
        </p:txBody>
      </p:sp>
      <p:sp>
        <p:nvSpPr>
          <p:cNvPr id="26" name="Rounded Rectangle 25"/>
          <p:cNvSpPr/>
          <p:nvPr/>
        </p:nvSpPr>
        <p:spPr>
          <a:xfrm>
            <a:off x="658368" y="4013073"/>
            <a:ext cx="10874959" cy="1234440"/>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32688" y="4159377"/>
            <a:ext cx="3657600" cy="219456"/>
          </a:xfrm>
          <a:prstGeom prst="rect">
            <a:avLst/>
          </a:prstGeom>
          <a:noFill/>
        </p:spPr>
        <p:txBody>
          <a:bodyPr wrap="square" lIns="0" tIns="0" rIns="0" bIns="0" anchor="t">
            <a:spAutoFit/>
          </a:bodyPr>
          <a:lstStyle/>
          <a:p>
            <a:pPr algn="l">
              <a:lnSpc>
                <a:spcPct val="112000"/>
              </a:lnSpc>
              <a:spcAft>
                <a:spcPts val="0"/>
              </a:spcAft>
            </a:pPr>
            <a:r>
              <a:rPr sz="950" b="1" i="0" spc="130">
                <a:solidFill>
                  <a:srgbClr val="5B6E82"/>
                </a:solidFill>
                <a:latin typeface="Arial"/>
              </a:rPr>
              <a:t>TECHNICAL READINESS</a:t>
            </a:r>
          </a:p>
        </p:txBody>
      </p:sp>
      <p:sp>
        <p:nvSpPr>
          <p:cNvPr id="28" name="Rectangle 27"/>
          <p:cNvSpPr/>
          <p:nvPr/>
        </p:nvSpPr>
        <p:spPr>
          <a:xfrm>
            <a:off x="932688" y="4525137"/>
            <a:ext cx="64008" cy="64008"/>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097280" y="4451985"/>
            <a:ext cx="3167786" cy="219456"/>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TypeScript / Next.js on Vercel</a:t>
            </a:r>
          </a:p>
        </p:txBody>
      </p:sp>
      <p:sp>
        <p:nvSpPr>
          <p:cNvPr id="30" name="Rectangle 29"/>
          <p:cNvSpPr/>
          <p:nvPr/>
        </p:nvSpPr>
        <p:spPr>
          <a:xfrm>
            <a:off x="4374794" y="4525137"/>
            <a:ext cx="64008" cy="64008"/>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539386" y="4451985"/>
            <a:ext cx="3167786" cy="219456"/>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Postgres with row-level security</a:t>
            </a:r>
          </a:p>
        </p:txBody>
      </p:sp>
      <p:sp>
        <p:nvSpPr>
          <p:cNvPr id="32" name="Rectangle 31"/>
          <p:cNvSpPr/>
          <p:nvPr/>
        </p:nvSpPr>
        <p:spPr>
          <a:xfrm>
            <a:off x="7816900" y="4525137"/>
            <a:ext cx="64008" cy="64008"/>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981492" y="4451985"/>
            <a:ext cx="3167786" cy="219456"/>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Signed webhook consumer</a:t>
            </a:r>
          </a:p>
        </p:txBody>
      </p:sp>
      <p:sp>
        <p:nvSpPr>
          <p:cNvPr id="34" name="Rectangle 33"/>
          <p:cNvSpPr/>
          <p:nvPr/>
        </p:nvSpPr>
        <p:spPr>
          <a:xfrm>
            <a:off x="932688" y="4890897"/>
            <a:ext cx="64008" cy="64008"/>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1097280" y="4817745"/>
            <a:ext cx="3167786" cy="219456"/>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Double-entry ledger and reconciliation</a:t>
            </a:r>
          </a:p>
        </p:txBody>
      </p:sp>
      <p:sp>
        <p:nvSpPr>
          <p:cNvPr id="36" name="Rectangle 35"/>
          <p:cNvSpPr/>
          <p:nvPr/>
        </p:nvSpPr>
        <p:spPr>
          <a:xfrm>
            <a:off x="4374794" y="4890897"/>
            <a:ext cx="64008" cy="64008"/>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4539386" y="4817745"/>
            <a:ext cx="3167786" cy="219456"/>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Sandbox and live key separation</a:t>
            </a:r>
          </a:p>
        </p:txBody>
      </p:sp>
      <p:sp>
        <p:nvSpPr>
          <p:cNvPr id="38" name="Rectangle 37"/>
          <p:cNvSpPr/>
          <p:nvPr/>
        </p:nvSpPr>
        <p:spPr>
          <a:xfrm>
            <a:off x="7816900" y="4890897"/>
            <a:ext cx="64008" cy="64008"/>
          </a:xfrm>
          <a:prstGeom prst="rect">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981492" y="4817745"/>
            <a:ext cx="3167786" cy="219456"/>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Runbooks and on-call</a:t>
            </a:r>
          </a:p>
        </p:txBody>
      </p:sp>
      <p:cxnSp>
        <p:nvCxnSpPr>
          <p:cNvPr id="40" name="Connector 39"/>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Airwallex partnership proposal  ·  Confidential</a:t>
            </a:r>
          </a:p>
        </p:txBody>
      </p:sp>
      <p:sp>
        <p:nvSpPr>
          <p:cNvPr id="42" name="TextBox 41"/>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OUTLOOK</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What this looks like in twelve months</a:t>
            </a:r>
          </a:p>
        </p:txBody>
      </p:sp>
      <p:sp>
        <p:nvSpPr>
          <p:cNvPr id="4" name="TextBox 3"/>
          <p:cNvSpPr txBox="1"/>
          <p:nvPr/>
        </p:nvSpPr>
        <p:spPr>
          <a:xfrm>
            <a:off x="658368" y="1307592"/>
            <a:ext cx="9326880" cy="328041"/>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Targets, not projections — we model them again once your pricing and corridor map are known.</a:t>
            </a:r>
          </a:p>
        </p:txBody>
      </p:sp>
      <p:sp>
        <p:nvSpPr>
          <p:cNvPr id="5" name="Rounded Rectangle 4"/>
          <p:cNvSpPr/>
          <p:nvPr/>
        </p:nvSpPr>
        <p:spPr>
          <a:xfrm>
            <a:off x="658368" y="1909953"/>
            <a:ext cx="2547289" cy="2011680"/>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77824" y="2092833"/>
            <a:ext cx="2108377" cy="201168"/>
          </a:xfrm>
          <a:prstGeom prst="rect">
            <a:avLst/>
          </a:prstGeom>
          <a:noFill/>
        </p:spPr>
        <p:txBody>
          <a:bodyPr wrap="square" lIns="0" tIns="0" rIns="0" bIns="0" anchor="t">
            <a:spAutoFit/>
          </a:bodyPr>
          <a:lstStyle/>
          <a:p>
            <a:pPr algn="l">
              <a:lnSpc>
                <a:spcPct val="112000"/>
              </a:lnSpc>
              <a:spcAft>
                <a:spcPts val="0"/>
              </a:spcAft>
            </a:pPr>
            <a:r>
              <a:rPr sz="900" b="1" i="0" spc="130">
                <a:solidFill>
                  <a:srgbClr val="00B589"/>
                </a:solidFill>
                <a:latin typeface="Arial"/>
              </a:rPr>
              <a:t>NOW</a:t>
            </a:r>
          </a:p>
        </p:txBody>
      </p:sp>
      <p:sp>
        <p:nvSpPr>
          <p:cNvPr id="7" name="TextBox 6"/>
          <p:cNvSpPr txBox="1"/>
          <p:nvPr/>
        </p:nvSpPr>
        <p:spPr>
          <a:xfrm>
            <a:off x="877824" y="2385441"/>
            <a:ext cx="2108377" cy="502920"/>
          </a:xfrm>
          <a:prstGeom prst="rect">
            <a:avLst/>
          </a:prstGeom>
          <a:noFill/>
        </p:spPr>
        <p:txBody>
          <a:bodyPr wrap="square" lIns="0" tIns="0" rIns="0" bIns="0" anchor="t">
            <a:spAutoFit/>
          </a:bodyPr>
          <a:lstStyle/>
          <a:p>
            <a:pPr algn="l">
              <a:lnSpc>
                <a:spcPct val="108000"/>
              </a:lnSpc>
              <a:spcAft>
                <a:spcPts val="0"/>
              </a:spcAft>
            </a:pPr>
            <a:r>
              <a:rPr sz="1400" b="1" i="0">
                <a:solidFill>
                  <a:srgbClr val="102236"/>
                </a:solidFill>
                <a:latin typeface="Arial"/>
              </a:rPr>
              <a:t>$800K / month</a:t>
            </a:r>
          </a:p>
        </p:txBody>
      </p:sp>
      <p:sp>
        <p:nvSpPr>
          <p:cNvPr id="8" name="TextBox 7"/>
          <p:cNvSpPr txBox="1"/>
          <p:nvPr/>
        </p:nvSpPr>
        <p:spPr>
          <a:xfrm>
            <a:off x="877824" y="2897505"/>
            <a:ext cx="2108377" cy="868680"/>
          </a:xfrm>
          <a:prstGeom prst="rect">
            <a:avLst/>
          </a:prstGeom>
          <a:noFill/>
        </p:spPr>
        <p:txBody>
          <a:bodyPr wrap="square" lIns="0" tIns="0" rIns="0" bIns="0" anchor="t">
            <a:spAutoFit/>
          </a:bodyPr>
          <a:lstStyle/>
          <a:p>
            <a:pPr algn="l">
              <a:lnSpc>
                <a:spcPct val="125000"/>
              </a:lnSpc>
              <a:spcAft>
                <a:spcPts val="0"/>
              </a:spcAft>
            </a:pPr>
            <a:r>
              <a:rPr sz="980" b="0" i="0">
                <a:solidFill>
                  <a:srgbClr val="5B6E82"/>
                </a:solidFill>
                <a:latin typeface="Arial"/>
              </a:rPr>
              <a:t>Private accounts, USD-first, card-not-present</a:t>
            </a:r>
          </a:p>
        </p:txBody>
      </p:sp>
      <p:sp>
        <p:nvSpPr>
          <p:cNvPr id="9" name="Rounded Rectangle 8"/>
          <p:cNvSpPr/>
          <p:nvPr/>
        </p:nvSpPr>
        <p:spPr>
          <a:xfrm>
            <a:off x="3434257" y="1909953"/>
            <a:ext cx="2547289" cy="2011680"/>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653713" y="2092833"/>
            <a:ext cx="2108377" cy="201168"/>
          </a:xfrm>
          <a:prstGeom prst="rect">
            <a:avLst/>
          </a:prstGeom>
          <a:noFill/>
        </p:spPr>
        <p:txBody>
          <a:bodyPr wrap="square" lIns="0" tIns="0" rIns="0" bIns="0" anchor="t">
            <a:spAutoFit/>
          </a:bodyPr>
          <a:lstStyle/>
          <a:p>
            <a:pPr algn="l">
              <a:lnSpc>
                <a:spcPct val="112000"/>
              </a:lnSpc>
              <a:spcAft>
                <a:spcPts val="0"/>
              </a:spcAft>
            </a:pPr>
            <a:r>
              <a:rPr sz="900" b="1" i="0" spc="130">
                <a:solidFill>
                  <a:srgbClr val="00B589"/>
                </a:solidFill>
                <a:latin typeface="Arial"/>
              </a:rPr>
              <a:t>MONTH 6</a:t>
            </a:r>
          </a:p>
        </p:txBody>
      </p:sp>
      <p:sp>
        <p:nvSpPr>
          <p:cNvPr id="11" name="TextBox 10"/>
          <p:cNvSpPr txBox="1"/>
          <p:nvPr/>
        </p:nvSpPr>
        <p:spPr>
          <a:xfrm>
            <a:off x="3653713" y="2385441"/>
            <a:ext cx="2108377" cy="502920"/>
          </a:xfrm>
          <a:prstGeom prst="rect">
            <a:avLst/>
          </a:prstGeom>
          <a:noFill/>
        </p:spPr>
        <p:txBody>
          <a:bodyPr wrap="square" lIns="0" tIns="0" rIns="0" bIns="0" anchor="t">
            <a:spAutoFit/>
          </a:bodyPr>
          <a:lstStyle/>
          <a:p>
            <a:pPr algn="l">
              <a:lnSpc>
                <a:spcPct val="108000"/>
              </a:lnSpc>
              <a:spcAft>
                <a:spcPts val="0"/>
              </a:spcAft>
            </a:pPr>
            <a:r>
              <a:rPr sz="1400" b="1" i="0">
                <a:solidFill>
                  <a:srgbClr val="102236"/>
                </a:solidFill>
                <a:latin typeface="Arial"/>
              </a:rPr>
              <a:t>3 corridors live</a:t>
            </a:r>
          </a:p>
        </p:txBody>
      </p:sp>
      <p:sp>
        <p:nvSpPr>
          <p:cNvPr id="12" name="TextBox 11"/>
          <p:cNvSpPr txBox="1"/>
          <p:nvPr/>
        </p:nvSpPr>
        <p:spPr>
          <a:xfrm>
            <a:off x="3653713" y="2897505"/>
            <a:ext cx="2108377" cy="868680"/>
          </a:xfrm>
          <a:prstGeom prst="rect">
            <a:avLst/>
          </a:prstGeom>
          <a:noFill/>
        </p:spPr>
        <p:txBody>
          <a:bodyPr wrap="square" lIns="0" tIns="0" rIns="0" bIns="0" anchor="t">
            <a:spAutoFit/>
          </a:bodyPr>
          <a:lstStyle/>
          <a:p>
            <a:pPr algn="l">
              <a:lnSpc>
                <a:spcPct val="125000"/>
              </a:lnSpc>
              <a:spcAft>
                <a:spcPts val="0"/>
              </a:spcAft>
            </a:pPr>
            <a:r>
              <a:rPr sz="980" b="0" i="0">
                <a:solidFill>
                  <a:srgbClr val="5B6E82"/>
                </a:solidFill>
                <a:latin typeface="Arial"/>
              </a:rPr>
              <a:t>South and South-East Asia; plugins adopted; local methods where available</a:t>
            </a:r>
          </a:p>
        </p:txBody>
      </p:sp>
      <p:sp>
        <p:nvSpPr>
          <p:cNvPr id="13" name="Rounded Rectangle 12"/>
          <p:cNvSpPr/>
          <p:nvPr/>
        </p:nvSpPr>
        <p:spPr>
          <a:xfrm>
            <a:off x="6210147" y="1909953"/>
            <a:ext cx="2547289" cy="2011680"/>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29603" y="2092833"/>
            <a:ext cx="2108377" cy="201168"/>
          </a:xfrm>
          <a:prstGeom prst="rect">
            <a:avLst/>
          </a:prstGeom>
          <a:noFill/>
        </p:spPr>
        <p:txBody>
          <a:bodyPr wrap="square" lIns="0" tIns="0" rIns="0" bIns="0" anchor="t">
            <a:spAutoFit/>
          </a:bodyPr>
          <a:lstStyle/>
          <a:p>
            <a:pPr algn="l">
              <a:lnSpc>
                <a:spcPct val="112000"/>
              </a:lnSpc>
              <a:spcAft>
                <a:spcPts val="0"/>
              </a:spcAft>
            </a:pPr>
            <a:r>
              <a:rPr sz="900" b="1" i="0" spc="130">
                <a:solidFill>
                  <a:srgbClr val="00B589"/>
                </a:solidFill>
                <a:latin typeface="Arial"/>
              </a:rPr>
              <a:t>MONTH 12</a:t>
            </a:r>
          </a:p>
        </p:txBody>
      </p:sp>
      <p:sp>
        <p:nvSpPr>
          <p:cNvPr id="15" name="TextBox 14"/>
          <p:cNvSpPr txBox="1"/>
          <p:nvPr/>
        </p:nvSpPr>
        <p:spPr>
          <a:xfrm>
            <a:off x="6429603" y="2385441"/>
            <a:ext cx="2108377" cy="502920"/>
          </a:xfrm>
          <a:prstGeom prst="rect">
            <a:avLst/>
          </a:prstGeom>
          <a:noFill/>
        </p:spPr>
        <p:txBody>
          <a:bodyPr wrap="square" lIns="0" tIns="0" rIns="0" bIns="0" anchor="t">
            <a:spAutoFit/>
          </a:bodyPr>
          <a:lstStyle/>
          <a:p>
            <a:pPr algn="l">
              <a:lnSpc>
                <a:spcPct val="108000"/>
              </a:lnSpc>
              <a:spcAft>
                <a:spcPts val="0"/>
              </a:spcAft>
            </a:pPr>
            <a:r>
              <a:rPr sz="1400" b="1" i="0">
                <a:solidFill>
                  <a:srgbClr val="102236"/>
                </a:solidFill>
                <a:latin typeface="Arial"/>
              </a:rPr>
              <a:t>Consolidated book</a:t>
            </a:r>
          </a:p>
        </p:txBody>
      </p:sp>
      <p:sp>
        <p:nvSpPr>
          <p:cNvPr id="16" name="TextBox 15"/>
          <p:cNvSpPr txBox="1"/>
          <p:nvPr/>
        </p:nvSpPr>
        <p:spPr>
          <a:xfrm>
            <a:off x="6429603" y="2897505"/>
            <a:ext cx="2108377" cy="868680"/>
          </a:xfrm>
          <a:prstGeom prst="rect">
            <a:avLst/>
          </a:prstGeom>
          <a:noFill/>
        </p:spPr>
        <p:txBody>
          <a:bodyPr wrap="square" lIns="0" tIns="0" rIns="0" bIns="0" anchor="t">
            <a:spAutoFit/>
          </a:bodyPr>
          <a:lstStyle/>
          <a:p>
            <a:pPr algn="l">
              <a:lnSpc>
                <a:spcPct val="125000"/>
              </a:lnSpc>
              <a:spcAft>
                <a:spcPts val="0"/>
              </a:spcAft>
            </a:pPr>
            <a:r>
              <a:rPr sz="980" b="0" i="0">
                <a:solidFill>
                  <a:srgbClr val="5B6E82"/>
                </a:solidFill>
                <a:latin typeface="Arial"/>
              </a:rPr>
              <a:t>Volume migrated under KD PAY LLC; connected accounts for top merchants</a:t>
            </a:r>
          </a:p>
        </p:txBody>
      </p:sp>
      <p:sp>
        <p:nvSpPr>
          <p:cNvPr id="17" name="Rounded Rectangle 16"/>
          <p:cNvSpPr/>
          <p:nvPr/>
        </p:nvSpPr>
        <p:spPr>
          <a:xfrm>
            <a:off x="8986037" y="1909953"/>
            <a:ext cx="2547289" cy="2011680"/>
          </a:xfrm>
          <a:prstGeom prst="roundRect">
            <a:avLst>
              <a:gd name="adj" fmla="val 5000"/>
            </a:avLst>
          </a:prstGeom>
          <a:solidFill>
            <a:srgbClr val="0A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205493" y="2092833"/>
            <a:ext cx="2108377" cy="201168"/>
          </a:xfrm>
          <a:prstGeom prst="rect">
            <a:avLst/>
          </a:prstGeom>
          <a:noFill/>
        </p:spPr>
        <p:txBody>
          <a:bodyPr wrap="square" lIns="0" tIns="0" rIns="0" bIns="0" anchor="t">
            <a:spAutoFit/>
          </a:bodyPr>
          <a:lstStyle/>
          <a:p>
            <a:pPr algn="l">
              <a:lnSpc>
                <a:spcPct val="112000"/>
              </a:lnSpc>
              <a:spcAft>
                <a:spcPts val="0"/>
              </a:spcAft>
            </a:pPr>
            <a:r>
              <a:rPr sz="900" b="1" i="0" spc="130">
                <a:solidFill>
                  <a:srgbClr val="00B589"/>
                </a:solidFill>
                <a:latin typeface="Arial"/>
              </a:rPr>
              <a:t>YEAR 2</a:t>
            </a:r>
          </a:p>
        </p:txBody>
      </p:sp>
      <p:sp>
        <p:nvSpPr>
          <p:cNvPr id="19" name="TextBox 18"/>
          <p:cNvSpPr txBox="1"/>
          <p:nvPr/>
        </p:nvSpPr>
        <p:spPr>
          <a:xfrm>
            <a:off x="9205493" y="2385441"/>
            <a:ext cx="2108377" cy="502920"/>
          </a:xfrm>
          <a:prstGeom prst="rect">
            <a:avLst/>
          </a:prstGeom>
          <a:noFill/>
        </p:spPr>
        <p:txBody>
          <a:bodyPr wrap="square" lIns="0" tIns="0" rIns="0" bIns="0" anchor="t">
            <a:spAutoFit/>
          </a:bodyPr>
          <a:lstStyle/>
          <a:p>
            <a:pPr algn="l">
              <a:lnSpc>
                <a:spcPct val="108000"/>
              </a:lnSpc>
              <a:spcAft>
                <a:spcPts val="0"/>
              </a:spcAft>
            </a:pPr>
            <a:r>
              <a:rPr sz="1400" b="1" i="0">
                <a:solidFill>
                  <a:srgbClr val="FFFFFF"/>
                </a:solidFill>
                <a:latin typeface="Arial"/>
              </a:rPr>
              <a:t>Global corridors</a:t>
            </a:r>
          </a:p>
        </p:txBody>
      </p:sp>
      <p:sp>
        <p:nvSpPr>
          <p:cNvPr id="20" name="TextBox 19"/>
          <p:cNvSpPr txBox="1"/>
          <p:nvPr/>
        </p:nvSpPr>
        <p:spPr>
          <a:xfrm>
            <a:off x="9205493" y="2897505"/>
            <a:ext cx="2108377" cy="868680"/>
          </a:xfrm>
          <a:prstGeom prst="rect">
            <a:avLst/>
          </a:prstGeom>
          <a:noFill/>
        </p:spPr>
        <p:txBody>
          <a:bodyPr wrap="square" lIns="0" tIns="0" rIns="0" bIns="0" anchor="t">
            <a:spAutoFit/>
          </a:bodyPr>
          <a:lstStyle/>
          <a:p>
            <a:pPr algn="l">
              <a:lnSpc>
                <a:spcPct val="125000"/>
              </a:lnSpc>
              <a:spcAft>
                <a:spcPts val="0"/>
              </a:spcAft>
            </a:pPr>
            <a:r>
              <a:rPr sz="980" b="0" i="0">
                <a:solidFill>
                  <a:srgbClr val="9FB3C6"/>
                </a:solidFill>
                <a:latin typeface="Arial"/>
              </a:rPr>
              <a:t>EU/UK with SCA, US/Canada, LatAm; multi-currency settlement</a:t>
            </a:r>
          </a:p>
        </p:txBody>
      </p:sp>
      <p:sp>
        <p:nvSpPr>
          <p:cNvPr id="21" name="TextBox 20"/>
          <p:cNvSpPr txBox="1"/>
          <p:nvPr/>
        </p:nvSpPr>
        <p:spPr>
          <a:xfrm>
            <a:off x="658368" y="4214241"/>
            <a:ext cx="10874959" cy="274320"/>
          </a:xfrm>
          <a:prstGeom prst="rect">
            <a:avLst/>
          </a:prstGeom>
          <a:noFill/>
        </p:spPr>
        <p:txBody>
          <a:bodyPr wrap="square" lIns="0" tIns="0" rIns="0" bIns="0" anchor="t">
            <a:spAutoFit/>
          </a:bodyPr>
          <a:lstStyle/>
          <a:p>
            <a:pPr algn="l">
              <a:lnSpc>
                <a:spcPct val="112000"/>
              </a:lnSpc>
              <a:spcAft>
                <a:spcPts val="0"/>
              </a:spcAft>
            </a:pPr>
            <a:r>
              <a:rPr sz="950" b="1" i="0" spc="140">
                <a:solidFill>
                  <a:srgbClr val="5B6E82"/>
                </a:solidFill>
                <a:latin typeface="Arial"/>
              </a:rPr>
              <a:t>WHAT AIRWALLEX GETS</a:t>
            </a:r>
          </a:p>
        </p:txBody>
      </p:sp>
      <p:sp>
        <p:nvSpPr>
          <p:cNvPr id="22" name="TextBox 21"/>
          <p:cNvSpPr txBox="1"/>
          <p:nvPr/>
        </p:nvSpPr>
        <p:spPr>
          <a:xfrm>
            <a:off x="658368" y="4525137"/>
            <a:ext cx="10874959" cy="1280160"/>
          </a:xfrm>
          <a:prstGeom prst="rect">
            <a:avLst/>
          </a:prstGeom>
          <a:noFill/>
        </p:spPr>
        <p:txBody>
          <a:bodyPr wrap="square" lIns="0" rIns="0" tIns="0" bIns="0">
            <a:spAutoFit/>
          </a:bodyPr>
          <a:lstStyle/>
          <a:p>
            <a:pPr marL="219456" indent="-219456">
              <a:lnSpc>
                <a:spcPct val="116000"/>
              </a:lnSpc>
              <a:spcAft>
                <a:spcPts val="900"/>
              </a:spcAft>
              <a:buClr>
                <a:srgbClr val="00B589"/>
              </a:buClr>
              <a:buFont typeface="Arial"/>
              <a:buChar char="—"/>
            </a:pPr>
            <a:r>
              <a:rPr sz="1050" b="0" i="0">
                <a:solidFill>
                  <a:srgbClr val="102236"/>
                </a:solidFill>
                <a:latin typeface="Arial"/>
              </a:rPr>
              <a:t>Quality volume, not raw volume — verified merchants, 0.01% disputes, reserves funded</a:t>
            </a:r>
          </a:p>
          <a:p>
            <a:pPr marL="219456" indent="-219456">
              <a:lnSpc>
                <a:spcPct val="116000"/>
              </a:lnSpc>
              <a:spcAft>
                <a:spcPts val="900"/>
              </a:spcAft>
              <a:buClr>
                <a:srgbClr val="00B589"/>
              </a:buClr>
              <a:buFont typeface="Arial"/>
              <a:buChar char="—"/>
            </a:pPr>
            <a:r>
              <a:rPr sz="1050" b="0" i="0">
                <a:solidFill>
                  <a:srgbClr val="102236"/>
                </a:solidFill>
                <a:latin typeface="Arial"/>
              </a:rPr>
              <a:t>A partner that owns merchant onboarding, support and disputes in-region</a:t>
            </a:r>
          </a:p>
          <a:p>
            <a:pPr marL="219456" indent="-219456">
              <a:lnSpc>
                <a:spcPct val="116000"/>
              </a:lnSpc>
              <a:spcAft>
                <a:spcPts val="900"/>
              </a:spcAft>
              <a:buClr>
                <a:srgbClr val="00B589"/>
              </a:buClr>
              <a:buFont typeface="Arial"/>
              <a:buChar char="—"/>
            </a:pPr>
            <a:r>
              <a:rPr sz="1050" b="0" i="0">
                <a:solidFill>
                  <a:srgbClr val="102236"/>
                </a:solidFill>
                <a:latin typeface="Arial"/>
              </a:rPr>
              <a:t>Corridor expansion driven by real merchant demand, not speculation</a:t>
            </a:r>
          </a:p>
          <a:p>
            <a:pPr marL="219456" indent="-219456">
              <a:lnSpc>
                <a:spcPct val="116000"/>
              </a:lnSpc>
              <a:spcAft>
                <a:spcPts val="900"/>
              </a:spcAft>
              <a:buClr>
                <a:srgbClr val="00B589"/>
              </a:buClr>
              <a:buFont typeface="Arial"/>
              <a:buChar char="—"/>
            </a:pPr>
            <a:r>
              <a:rPr sz="1050" b="0" i="0">
                <a:solidFill>
                  <a:srgbClr val="102236"/>
                </a:solidFill>
                <a:latin typeface="Arial"/>
              </a:rPr>
              <a:t>A technical team that integrates against your documented contracts</a:t>
            </a:r>
          </a:p>
        </p:txBody>
      </p:sp>
      <p:cxnSp>
        <p:nvCxnSpPr>
          <p:cNvPr id="23" name="Connector 22"/>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Airwallex partnership proposal  ·  Confidential</a:t>
            </a:r>
          </a:p>
        </p:txBody>
      </p:sp>
      <p:sp>
        <p:nvSpPr>
          <p:cNvPr id="25" name="TextBox 24"/>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A2B"/>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NEXT STEPS</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FFFFFF"/>
                </a:solidFill>
                <a:latin typeface="Arial"/>
              </a:rPr>
              <a:t>Four decisions to make this week</a:t>
            </a:r>
          </a:p>
        </p:txBody>
      </p:sp>
      <p:sp>
        <p:nvSpPr>
          <p:cNvPr id="4" name="TextBox 3"/>
          <p:cNvSpPr txBox="1"/>
          <p:nvPr/>
        </p:nvSpPr>
        <p:spPr>
          <a:xfrm>
            <a:off x="658368" y="1600200"/>
            <a:ext cx="914400" cy="274320"/>
          </a:xfrm>
          <a:prstGeom prst="rect">
            <a:avLst/>
          </a:prstGeom>
          <a:noFill/>
        </p:spPr>
        <p:txBody>
          <a:bodyPr wrap="square" lIns="0" tIns="0" rIns="0" bIns="0" anchor="t">
            <a:spAutoFit/>
          </a:bodyPr>
          <a:lstStyle/>
          <a:p>
            <a:pPr algn="l">
              <a:lnSpc>
                <a:spcPct val="112000"/>
              </a:lnSpc>
              <a:spcAft>
                <a:spcPts val="0"/>
              </a:spcAft>
            </a:pPr>
            <a:r>
              <a:rPr sz="1000" b="1" i="0" spc="140">
                <a:solidFill>
                  <a:srgbClr val="00B589"/>
                </a:solidFill>
                <a:latin typeface="Arial"/>
              </a:rPr>
              <a:t>01</a:t>
            </a:r>
          </a:p>
        </p:txBody>
      </p:sp>
      <p:sp>
        <p:nvSpPr>
          <p:cNvPr id="5" name="TextBox 4"/>
          <p:cNvSpPr txBox="1"/>
          <p:nvPr/>
        </p:nvSpPr>
        <p:spPr>
          <a:xfrm>
            <a:off x="658368" y="1920240"/>
            <a:ext cx="2364409" cy="365760"/>
          </a:xfrm>
          <a:prstGeom prst="rect">
            <a:avLst/>
          </a:prstGeom>
          <a:noFill/>
        </p:spPr>
        <p:txBody>
          <a:bodyPr wrap="square" lIns="0" tIns="0" rIns="0" bIns="0" anchor="t">
            <a:spAutoFit/>
          </a:bodyPr>
          <a:lstStyle/>
          <a:p>
            <a:pPr algn="l">
              <a:lnSpc>
                <a:spcPct val="106000"/>
              </a:lnSpc>
              <a:spcAft>
                <a:spcPts val="0"/>
              </a:spcAft>
            </a:pPr>
            <a:r>
              <a:rPr sz="1300" b="1" i="0">
                <a:solidFill>
                  <a:srgbClr val="FFFFFF"/>
                </a:solidFill>
                <a:latin typeface="Arial"/>
              </a:rPr>
              <a:t>Confirm the model</a:t>
            </a:r>
          </a:p>
        </p:txBody>
      </p:sp>
      <p:sp>
        <p:nvSpPr>
          <p:cNvPr id="6" name="TextBox 5"/>
          <p:cNvSpPr txBox="1"/>
          <p:nvPr/>
        </p:nvSpPr>
        <p:spPr>
          <a:xfrm>
            <a:off x="658368" y="2377440"/>
            <a:ext cx="2318689" cy="1280160"/>
          </a:xfrm>
          <a:prstGeom prst="rect">
            <a:avLst/>
          </a:prstGeom>
          <a:noFill/>
        </p:spPr>
        <p:txBody>
          <a:bodyPr wrap="square" lIns="0" tIns="0" rIns="0" bIns="0" anchor="t">
            <a:spAutoFit/>
          </a:bodyPr>
          <a:lstStyle/>
          <a:p>
            <a:pPr algn="l">
              <a:lnSpc>
                <a:spcPct val="125000"/>
              </a:lnSpc>
              <a:spcAft>
                <a:spcPts val="0"/>
              </a:spcAft>
            </a:pPr>
            <a:r>
              <a:rPr sz="980" b="0" i="0">
                <a:solidFill>
                  <a:srgbClr val="9FB3C6"/>
                </a:solidFill>
                <a:latin typeface="Arial"/>
              </a:rPr>
              <a:t>Seller ledger at launch, connected accounts as we scale — in writing, so both teams build against the same contract.</a:t>
            </a:r>
          </a:p>
        </p:txBody>
      </p:sp>
      <p:cxnSp>
        <p:nvCxnSpPr>
          <p:cNvPr id="7" name="Connector 6"/>
          <p:cNvCxnSpPr/>
          <p:nvPr/>
        </p:nvCxnSpPr>
        <p:spPr>
          <a:xfrm>
            <a:off x="3187369" y="1618488"/>
            <a:ext cx="0" cy="1874520"/>
          </a:xfrm>
          <a:prstGeom prst="line">
            <a:avLst/>
          </a:prstGeom>
          <a:ln w="9525">
            <a:solidFill>
              <a:srgbClr val="213B5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434257" y="1600200"/>
            <a:ext cx="914400" cy="274320"/>
          </a:xfrm>
          <a:prstGeom prst="rect">
            <a:avLst/>
          </a:prstGeom>
          <a:noFill/>
        </p:spPr>
        <p:txBody>
          <a:bodyPr wrap="square" lIns="0" tIns="0" rIns="0" bIns="0" anchor="t">
            <a:spAutoFit/>
          </a:bodyPr>
          <a:lstStyle/>
          <a:p>
            <a:pPr algn="l">
              <a:lnSpc>
                <a:spcPct val="112000"/>
              </a:lnSpc>
              <a:spcAft>
                <a:spcPts val="0"/>
              </a:spcAft>
            </a:pPr>
            <a:r>
              <a:rPr sz="1000" b="1" i="0" spc="140">
                <a:solidFill>
                  <a:srgbClr val="00B589"/>
                </a:solidFill>
                <a:latin typeface="Arial"/>
              </a:rPr>
              <a:t>02</a:t>
            </a:r>
          </a:p>
        </p:txBody>
      </p:sp>
      <p:sp>
        <p:nvSpPr>
          <p:cNvPr id="9" name="TextBox 8"/>
          <p:cNvSpPr txBox="1"/>
          <p:nvPr/>
        </p:nvSpPr>
        <p:spPr>
          <a:xfrm>
            <a:off x="3434257" y="1920240"/>
            <a:ext cx="2364409" cy="365760"/>
          </a:xfrm>
          <a:prstGeom prst="rect">
            <a:avLst/>
          </a:prstGeom>
          <a:noFill/>
        </p:spPr>
        <p:txBody>
          <a:bodyPr wrap="square" lIns="0" tIns="0" rIns="0" bIns="0" anchor="t">
            <a:spAutoFit/>
          </a:bodyPr>
          <a:lstStyle/>
          <a:p>
            <a:pPr algn="l">
              <a:lnSpc>
                <a:spcPct val="106000"/>
              </a:lnSpc>
              <a:spcAft>
                <a:spcPts val="0"/>
              </a:spcAft>
            </a:pPr>
            <a:r>
              <a:rPr sz="1300" b="1" i="0">
                <a:solidFill>
                  <a:srgbClr val="FFFFFF"/>
                </a:solidFill>
                <a:latin typeface="Arial"/>
              </a:rPr>
              <a:t>Share the corridor map</a:t>
            </a:r>
          </a:p>
        </p:txBody>
      </p:sp>
      <p:sp>
        <p:nvSpPr>
          <p:cNvPr id="10" name="TextBox 9"/>
          <p:cNvSpPr txBox="1"/>
          <p:nvPr/>
        </p:nvSpPr>
        <p:spPr>
          <a:xfrm>
            <a:off x="3434257" y="2377440"/>
            <a:ext cx="2318689" cy="1280160"/>
          </a:xfrm>
          <a:prstGeom prst="rect">
            <a:avLst/>
          </a:prstGeom>
          <a:noFill/>
        </p:spPr>
        <p:txBody>
          <a:bodyPr wrap="square" lIns="0" tIns="0" rIns="0" bIns="0" anchor="t">
            <a:spAutoFit/>
          </a:bodyPr>
          <a:lstStyle/>
          <a:p>
            <a:pPr algn="l">
              <a:lnSpc>
                <a:spcPct val="125000"/>
              </a:lnSpc>
              <a:spcAft>
                <a:spcPts val="0"/>
              </a:spcAft>
            </a:pPr>
            <a:r>
              <a:rPr sz="980" b="0" i="0">
                <a:solidFill>
                  <a:srgbClr val="9FB3C6"/>
                </a:solidFill>
                <a:latin typeface="Arial"/>
              </a:rPr>
              <a:t>Which markets you can support today, which are 6–12 months out, and what local methods exist in each.</a:t>
            </a:r>
          </a:p>
        </p:txBody>
      </p:sp>
      <p:cxnSp>
        <p:nvCxnSpPr>
          <p:cNvPr id="11" name="Connector 10"/>
          <p:cNvCxnSpPr/>
          <p:nvPr/>
        </p:nvCxnSpPr>
        <p:spPr>
          <a:xfrm>
            <a:off x="5963259" y="1618488"/>
            <a:ext cx="0" cy="1874520"/>
          </a:xfrm>
          <a:prstGeom prst="line">
            <a:avLst/>
          </a:prstGeom>
          <a:ln w="9525">
            <a:solidFill>
              <a:srgbClr val="213B55"/>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210147" y="1600200"/>
            <a:ext cx="914400" cy="274320"/>
          </a:xfrm>
          <a:prstGeom prst="rect">
            <a:avLst/>
          </a:prstGeom>
          <a:noFill/>
        </p:spPr>
        <p:txBody>
          <a:bodyPr wrap="square" lIns="0" tIns="0" rIns="0" bIns="0" anchor="t">
            <a:spAutoFit/>
          </a:bodyPr>
          <a:lstStyle/>
          <a:p>
            <a:pPr algn="l">
              <a:lnSpc>
                <a:spcPct val="112000"/>
              </a:lnSpc>
              <a:spcAft>
                <a:spcPts val="0"/>
              </a:spcAft>
            </a:pPr>
            <a:r>
              <a:rPr sz="1000" b="1" i="0" spc="140">
                <a:solidFill>
                  <a:srgbClr val="00B589"/>
                </a:solidFill>
                <a:latin typeface="Arial"/>
              </a:rPr>
              <a:t>03</a:t>
            </a:r>
          </a:p>
        </p:txBody>
      </p:sp>
      <p:sp>
        <p:nvSpPr>
          <p:cNvPr id="13" name="TextBox 12"/>
          <p:cNvSpPr txBox="1"/>
          <p:nvPr/>
        </p:nvSpPr>
        <p:spPr>
          <a:xfrm>
            <a:off x="6210147" y="1920240"/>
            <a:ext cx="2364409" cy="365760"/>
          </a:xfrm>
          <a:prstGeom prst="rect">
            <a:avLst/>
          </a:prstGeom>
          <a:noFill/>
        </p:spPr>
        <p:txBody>
          <a:bodyPr wrap="square" lIns="0" tIns="0" rIns="0" bIns="0" anchor="t">
            <a:spAutoFit/>
          </a:bodyPr>
          <a:lstStyle/>
          <a:p>
            <a:pPr algn="l">
              <a:lnSpc>
                <a:spcPct val="106000"/>
              </a:lnSpc>
              <a:spcAft>
                <a:spcPts val="0"/>
              </a:spcAft>
            </a:pPr>
            <a:r>
              <a:rPr sz="1300" b="1" i="0">
                <a:solidFill>
                  <a:srgbClr val="FFFFFF"/>
                </a:solidFill>
                <a:latin typeface="Arial"/>
              </a:rPr>
              <a:t>Agree commercials</a:t>
            </a:r>
          </a:p>
        </p:txBody>
      </p:sp>
      <p:sp>
        <p:nvSpPr>
          <p:cNvPr id="14" name="TextBox 13"/>
          <p:cNvSpPr txBox="1"/>
          <p:nvPr/>
        </p:nvSpPr>
        <p:spPr>
          <a:xfrm>
            <a:off x="6210147" y="2377440"/>
            <a:ext cx="2318689" cy="1280160"/>
          </a:xfrm>
          <a:prstGeom prst="rect">
            <a:avLst/>
          </a:prstGeom>
          <a:noFill/>
        </p:spPr>
        <p:txBody>
          <a:bodyPr wrap="square" lIns="0" tIns="0" rIns="0" bIns="0" anchor="t">
            <a:spAutoFit/>
          </a:bodyPr>
          <a:lstStyle/>
          <a:p>
            <a:pPr algn="l">
              <a:lnSpc>
                <a:spcPct val="125000"/>
              </a:lnSpc>
              <a:spcAft>
                <a:spcPts val="0"/>
              </a:spcAft>
            </a:pPr>
            <a:r>
              <a:rPr sz="980" b="0" i="0">
                <a:solidFill>
                  <a:srgbClr val="9FB3C6"/>
                </a:solidFill>
                <a:latin typeface="Arial"/>
              </a:rPr>
              <a:t>Pricing at $800K/month and at growth volume, settlement timing, reserve terms and who carries dispute cost.</a:t>
            </a:r>
          </a:p>
        </p:txBody>
      </p:sp>
      <p:cxnSp>
        <p:nvCxnSpPr>
          <p:cNvPr id="15" name="Connector 14"/>
          <p:cNvCxnSpPr/>
          <p:nvPr/>
        </p:nvCxnSpPr>
        <p:spPr>
          <a:xfrm>
            <a:off x="8739149" y="1618488"/>
            <a:ext cx="0" cy="1874520"/>
          </a:xfrm>
          <a:prstGeom prst="line">
            <a:avLst/>
          </a:prstGeom>
          <a:ln w="9525">
            <a:solidFill>
              <a:srgbClr val="213B5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986037" y="1600200"/>
            <a:ext cx="914400" cy="274320"/>
          </a:xfrm>
          <a:prstGeom prst="rect">
            <a:avLst/>
          </a:prstGeom>
          <a:noFill/>
        </p:spPr>
        <p:txBody>
          <a:bodyPr wrap="square" lIns="0" tIns="0" rIns="0" bIns="0" anchor="t">
            <a:spAutoFit/>
          </a:bodyPr>
          <a:lstStyle/>
          <a:p>
            <a:pPr algn="l">
              <a:lnSpc>
                <a:spcPct val="112000"/>
              </a:lnSpc>
              <a:spcAft>
                <a:spcPts val="0"/>
              </a:spcAft>
            </a:pPr>
            <a:r>
              <a:rPr sz="1000" b="1" i="0" spc="140">
                <a:solidFill>
                  <a:srgbClr val="00B589"/>
                </a:solidFill>
                <a:latin typeface="Arial"/>
              </a:rPr>
              <a:t>04</a:t>
            </a:r>
          </a:p>
        </p:txBody>
      </p:sp>
      <p:sp>
        <p:nvSpPr>
          <p:cNvPr id="17" name="TextBox 16"/>
          <p:cNvSpPr txBox="1"/>
          <p:nvPr/>
        </p:nvSpPr>
        <p:spPr>
          <a:xfrm>
            <a:off x="8986037" y="1920240"/>
            <a:ext cx="2364409" cy="365760"/>
          </a:xfrm>
          <a:prstGeom prst="rect">
            <a:avLst/>
          </a:prstGeom>
          <a:noFill/>
        </p:spPr>
        <p:txBody>
          <a:bodyPr wrap="square" lIns="0" tIns="0" rIns="0" bIns="0" anchor="t">
            <a:spAutoFit/>
          </a:bodyPr>
          <a:lstStyle/>
          <a:p>
            <a:pPr algn="l">
              <a:lnSpc>
                <a:spcPct val="106000"/>
              </a:lnSpc>
              <a:spcAft>
                <a:spcPts val="0"/>
              </a:spcAft>
            </a:pPr>
            <a:r>
              <a:rPr sz="1300" b="1" i="0">
                <a:solidFill>
                  <a:srgbClr val="FFFFFF"/>
                </a:solidFill>
                <a:latin typeface="Arial"/>
              </a:rPr>
              <a:t>Book the technical kickoff</a:t>
            </a:r>
          </a:p>
        </p:txBody>
      </p:sp>
      <p:sp>
        <p:nvSpPr>
          <p:cNvPr id="18" name="TextBox 17"/>
          <p:cNvSpPr txBox="1"/>
          <p:nvPr/>
        </p:nvSpPr>
        <p:spPr>
          <a:xfrm>
            <a:off x="8986037" y="2377440"/>
            <a:ext cx="2318689" cy="1280160"/>
          </a:xfrm>
          <a:prstGeom prst="rect">
            <a:avLst/>
          </a:prstGeom>
          <a:noFill/>
        </p:spPr>
        <p:txBody>
          <a:bodyPr wrap="square" lIns="0" tIns="0" rIns="0" bIns="0" anchor="t">
            <a:spAutoFit/>
          </a:bodyPr>
          <a:lstStyle/>
          <a:p>
            <a:pPr algn="l">
              <a:lnSpc>
                <a:spcPct val="125000"/>
              </a:lnSpc>
              <a:spcAft>
                <a:spcPts val="0"/>
              </a:spcAft>
            </a:pPr>
            <a:r>
              <a:rPr sz="980" b="0" i="0">
                <a:solidFill>
                  <a:srgbClr val="9FB3C6"/>
                </a:solidFill>
                <a:latin typeface="Arial"/>
              </a:rPr>
              <a:t>Sandbox keys and a named solutions engineer; our team can start the week after.</a:t>
            </a:r>
          </a:p>
        </p:txBody>
      </p:sp>
      <p:cxnSp>
        <p:nvCxnSpPr>
          <p:cNvPr id="19" name="Connector 18"/>
          <p:cNvCxnSpPr/>
          <p:nvPr/>
        </p:nvCxnSpPr>
        <p:spPr>
          <a:xfrm>
            <a:off x="658368" y="3721608"/>
            <a:ext cx="10874959" cy="0"/>
          </a:xfrm>
          <a:prstGeom prst="line">
            <a:avLst/>
          </a:prstGeom>
          <a:ln w="10160">
            <a:solidFill>
              <a:srgbClr val="213B55"/>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8368" y="3886200"/>
            <a:ext cx="10874959"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00B589"/>
                </a:solidFill>
                <a:latin typeface="Arial"/>
              </a:rPr>
              <a:t>WHAT WE BRING TO THE KICKOFF</a:t>
            </a:r>
          </a:p>
        </p:txBody>
      </p:sp>
      <p:sp>
        <p:nvSpPr>
          <p:cNvPr id="21" name="TextBox 20"/>
          <p:cNvSpPr txBox="1"/>
          <p:nvPr/>
        </p:nvSpPr>
        <p:spPr>
          <a:xfrm>
            <a:off x="658368" y="4206240"/>
            <a:ext cx="3304946" cy="457200"/>
          </a:xfrm>
          <a:prstGeom prst="rect">
            <a:avLst/>
          </a:prstGeom>
          <a:noFill/>
        </p:spPr>
        <p:txBody>
          <a:bodyPr wrap="square" lIns="0" tIns="0" rIns="0" bIns="0" anchor="t">
            <a:spAutoFit/>
          </a:bodyPr>
          <a:lstStyle/>
          <a:p>
            <a:pPr algn="l">
              <a:lnSpc>
                <a:spcPct val="120000"/>
              </a:lnSpc>
              <a:spcAft>
                <a:spcPts val="0"/>
              </a:spcAft>
            </a:pPr>
            <a:r>
              <a:rPr sz="1000" b="0" i="0">
                <a:solidFill>
                  <a:srgbClr val="FFFFFF"/>
                </a:solidFill>
                <a:latin typeface="Arial"/>
              </a:rPr>
              <a:t>Entity documents and the completed KYB pack</a:t>
            </a:r>
          </a:p>
        </p:txBody>
      </p:sp>
      <p:sp>
        <p:nvSpPr>
          <p:cNvPr id="22" name="TextBox 21"/>
          <p:cNvSpPr txBox="1"/>
          <p:nvPr/>
        </p:nvSpPr>
        <p:spPr>
          <a:xfrm>
            <a:off x="4283354" y="4206240"/>
            <a:ext cx="3304946" cy="457200"/>
          </a:xfrm>
          <a:prstGeom prst="rect">
            <a:avLst/>
          </a:prstGeom>
          <a:noFill/>
        </p:spPr>
        <p:txBody>
          <a:bodyPr wrap="square" lIns="0" tIns="0" rIns="0" bIns="0" anchor="t">
            <a:spAutoFit/>
          </a:bodyPr>
          <a:lstStyle/>
          <a:p>
            <a:pPr algn="l">
              <a:lnSpc>
                <a:spcPct val="120000"/>
              </a:lnSpc>
              <a:spcAft>
                <a:spcPts val="0"/>
              </a:spcAft>
            </a:pPr>
            <a:r>
              <a:rPr sz="1000" b="0" i="0">
                <a:solidFill>
                  <a:srgbClr val="FFFFFF"/>
                </a:solidFill>
                <a:latin typeface="Arial"/>
              </a:rPr>
              <a:t>A named integration owner and sandbox API keys</a:t>
            </a:r>
          </a:p>
        </p:txBody>
      </p:sp>
      <p:sp>
        <p:nvSpPr>
          <p:cNvPr id="23" name="TextBox 22"/>
          <p:cNvSpPr txBox="1"/>
          <p:nvPr/>
        </p:nvSpPr>
        <p:spPr>
          <a:xfrm>
            <a:off x="7908340" y="4206240"/>
            <a:ext cx="3304946" cy="457200"/>
          </a:xfrm>
          <a:prstGeom prst="rect">
            <a:avLst/>
          </a:prstGeom>
          <a:noFill/>
        </p:spPr>
        <p:txBody>
          <a:bodyPr wrap="square" lIns="0" tIns="0" rIns="0" bIns="0" anchor="t">
            <a:spAutoFit/>
          </a:bodyPr>
          <a:lstStyle/>
          <a:p>
            <a:pPr algn="l">
              <a:lnSpc>
                <a:spcPct val="120000"/>
              </a:lnSpc>
              <a:spcAft>
                <a:spcPts val="0"/>
              </a:spcAft>
            </a:pPr>
            <a:r>
              <a:rPr sz="1000" b="0" i="0">
                <a:solidFill>
                  <a:srgbClr val="FFFFFF"/>
                </a:solidFill>
                <a:latin typeface="Arial"/>
              </a:rPr>
              <a:t>Twenty pilot merchants, pre-screened</a:t>
            </a:r>
          </a:p>
        </p:txBody>
      </p:sp>
      <p:sp>
        <p:nvSpPr>
          <p:cNvPr id="24" name="Rounded Rectangle 23"/>
          <p:cNvSpPr/>
          <p:nvPr/>
        </p:nvSpPr>
        <p:spPr>
          <a:xfrm>
            <a:off x="658368" y="4864608"/>
            <a:ext cx="10874959" cy="969264"/>
          </a:xfrm>
          <a:prstGeom prst="roundRect">
            <a:avLst>
              <a:gd name="adj" fmla="val 4000"/>
            </a:avLst>
          </a:prstGeom>
          <a:solidFill>
            <a:srgbClr val="00B5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8407" y="5010912"/>
            <a:ext cx="10234879" cy="274320"/>
          </a:xfrm>
          <a:prstGeom prst="rect">
            <a:avLst/>
          </a:prstGeom>
          <a:noFill/>
        </p:spPr>
        <p:txBody>
          <a:bodyPr wrap="square" lIns="0" tIns="0" rIns="0" bIns="0" anchor="t">
            <a:spAutoFit/>
          </a:bodyPr>
          <a:lstStyle/>
          <a:p>
            <a:pPr algn="l">
              <a:lnSpc>
                <a:spcPct val="112000"/>
              </a:lnSpc>
              <a:spcAft>
                <a:spcPts val="0"/>
              </a:spcAft>
            </a:pPr>
            <a:r>
              <a:rPr sz="1500" b="1" i="0">
                <a:solidFill>
                  <a:srgbClr val="0A1A2B"/>
                </a:solidFill>
                <a:latin typeface="Arial"/>
              </a:rPr>
              <a:t>Target: first live transaction eight weeks from approval.</a:t>
            </a:r>
          </a:p>
        </p:txBody>
      </p:sp>
      <p:sp>
        <p:nvSpPr>
          <p:cNvPr id="26" name="TextBox 25"/>
          <p:cNvSpPr txBox="1"/>
          <p:nvPr/>
        </p:nvSpPr>
        <p:spPr>
          <a:xfrm>
            <a:off x="978407" y="5358384"/>
            <a:ext cx="10234879" cy="274320"/>
          </a:xfrm>
          <a:prstGeom prst="rect">
            <a:avLst/>
          </a:prstGeom>
          <a:noFill/>
        </p:spPr>
        <p:txBody>
          <a:bodyPr wrap="square" lIns="0" tIns="0" rIns="0" bIns="0" anchor="t">
            <a:spAutoFit/>
          </a:bodyPr>
          <a:lstStyle/>
          <a:p>
            <a:pPr algn="l">
              <a:lnSpc>
                <a:spcPct val="110000"/>
              </a:lnSpc>
              <a:spcAft>
                <a:spcPts val="0"/>
              </a:spcAft>
            </a:pPr>
            <a:r>
              <a:rPr sz="1000" b="0" i="0">
                <a:solidFill>
                  <a:srgbClr val="0A1A2B"/>
                </a:solidFill>
                <a:latin typeface="Arial"/>
              </a:rPr>
              <a:t>KD PAY LLC  ·  [name] · [title] · [email] · [phone]</a:t>
            </a:r>
          </a:p>
        </p:txBody>
      </p:sp>
      <p:cxnSp>
        <p:nvCxnSpPr>
          <p:cNvPr id="27" name="Connector 26"/>
          <p:cNvCxnSpPr/>
          <p:nvPr/>
        </p:nvCxnSpPr>
        <p:spPr>
          <a:xfrm>
            <a:off x="658368" y="6327648"/>
            <a:ext cx="10874959" cy="0"/>
          </a:xfrm>
          <a:prstGeom prst="line">
            <a:avLst/>
          </a:prstGeom>
          <a:ln w="7620">
            <a:solidFill>
              <a:srgbClr val="213B5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9FB3C6"/>
                </a:solidFill>
                <a:latin typeface="Arial"/>
              </a:rPr>
              <a:t>KD PAY LLC  ·  Airwallex partnership proposal  ·  Confidential</a:t>
            </a:r>
          </a:p>
        </p:txBody>
      </p:sp>
      <p:sp>
        <p:nvSpPr>
          <p:cNvPr id="29" name="TextBox 28"/>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9FB3C6"/>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APPENDIX A</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Integration and controls, for your solutions engineer</a:t>
            </a:r>
          </a:p>
        </p:txBody>
      </p:sp>
      <p:sp>
        <p:nvSpPr>
          <p:cNvPr id="4" name="TextBox 3"/>
          <p:cNvSpPr txBox="1"/>
          <p:nvPr/>
        </p:nvSpPr>
        <p:spPr>
          <a:xfrm>
            <a:off x="658368" y="1554480"/>
            <a:ext cx="2500262" cy="310896"/>
          </a:xfrm>
          <a:prstGeom prst="rect">
            <a:avLst/>
          </a:prstGeom>
          <a:noFill/>
        </p:spPr>
        <p:txBody>
          <a:bodyPr wrap="square" lIns="0" tIns="0" rIns="0" bIns="0" anchor="t">
            <a:spAutoFit/>
          </a:bodyPr>
          <a:lstStyle/>
          <a:p>
            <a:pPr algn="l">
              <a:lnSpc>
                <a:spcPct val="112000"/>
              </a:lnSpc>
              <a:spcAft>
                <a:spcPts val="0"/>
              </a:spcAft>
            </a:pPr>
            <a:r>
              <a:rPr sz="950" b="1" i="0" spc="90">
                <a:solidFill>
                  <a:srgbClr val="5B6E82"/>
                </a:solidFill>
                <a:latin typeface="Arial"/>
              </a:rPr>
              <a:t>AREA</a:t>
            </a:r>
          </a:p>
        </p:txBody>
      </p:sp>
      <p:sp>
        <p:nvSpPr>
          <p:cNvPr id="5" name="TextBox 4"/>
          <p:cNvSpPr txBox="1"/>
          <p:nvPr/>
        </p:nvSpPr>
        <p:spPr>
          <a:xfrm>
            <a:off x="3268358" y="1554480"/>
            <a:ext cx="5327751" cy="310896"/>
          </a:xfrm>
          <a:prstGeom prst="rect">
            <a:avLst/>
          </a:prstGeom>
          <a:noFill/>
        </p:spPr>
        <p:txBody>
          <a:bodyPr wrap="square" lIns="0" tIns="0" rIns="0" bIns="0" anchor="t">
            <a:spAutoFit/>
          </a:bodyPr>
          <a:lstStyle/>
          <a:p>
            <a:pPr algn="l">
              <a:lnSpc>
                <a:spcPct val="112000"/>
              </a:lnSpc>
              <a:spcAft>
                <a:spcPts val="0"/>
              </a:spcAft>
            </a:pPr>
            <a:r>
              <a:rPr sz="950" b="1" i="0" spc="90">
                <a:solidFill>
                  <a:srgbClr val="5B6E82"/>
                </a:solidFill>
                <a:latin typeface="Arial"/>
              </a:rPr>
              <a:t>HOW WE IMPLEMENT IT</a:t>
            </a:r>
          </a:p>
        </p:txBody>
      </p:sp>
      <p:sp>
        <p:nvSpPr>
          <p:cNvPr id="6" name="TextBox 5"/>
          <p:cNvSpPr txBox="1"/>
          <p:nvPr/>
        </p:nvSpPr>
        <p:spPr>
          <a:xfrm>
            <a:off x="8705837" y="1554480"/>
            <a:ext cx="2717761" cy="310896"/>
          </a:xfrm>
          <a:prstGeom prst="rect">
            <a:avLst/>
          </a:prstGeom>
          <a:noFill/>
        </p:spPr>
        <p:txBody>
          <a:bodyPr wrap="square" lIns="0" tIns="0" rIns="0" bIns="0" anchor="t">
            <a:spAutoFit/>
          </a:bodyPr>
          <a:lstStyle/>
          <a:p>
            <a:pPr algn="l">
              <a:lnSpc>
                <a:spcPct val="112000"/>
              </a:lnSpc>
              <a:spcAft>
                <a:spcPts val="0"/>
              </a:spcAft>
            </a:pPr>
            <a:r>
              <a:rPr sz="950" b="1" i="0" spc="90">
                <a:solidFill>
                  <a:srgbClr val="5B6E82"/>
                </a:solidFill>
                <a:latin typeface="Arial"/>
              </a:rPr>
              <a:t>CONTRACT</a:t>
            </a:r>
          </a:p>
        </p:txBody>
      </p:sp>
      <p:cxnSp>
        <p:nvCxnSpPr>
          <p:cNvPr id="7" name="Connector 6"/>
          <p:cNvCxnSpPr/>
          <p:nvPr/>
        </p:nvCxnSpPr>
        <p:spPr>
          <a:xfrm>
            <a:off x="658368" y="1847088"/>
            <a:ext cx="10874959" cy="0"/>
          </a:xfrm>
          <a:prstGeom prst="line">
            <a:avLst/>
          </a:prstGeom>
          <a:ln w="11430">
            <a:solidFill>
              <a:srgbClr val="DFE6E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1993392"/>
            <a:ext cx="2463686" cy="256032"/>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Checkout</a:t>
            </a:r>
          </a:p>
        </p:txBody>
      </p:sp>
      <p:sp>
        <p:nvSpPr>
          <p:cNvPr id="9" name="TextBox 8"/>
          <p:cNvSpPr txBox="1"/>
          <p:nvPr/>
        </p:nvSpPr>
        <p:spPr>
          <a:xfrm>
            <a:off x="3268358" y="1993392"/>
            <a:ext cx="5291175" cy="256032"/>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Hosted page with your Elements; no card data in our origin</a:t>
            </a:r>
          </a:p>
        </p:txBody>
      </p:sp>
      <p:sp>
        <p:nvSpPr>
          <p:cNvPr id="10" name="TextBox 9"/>
          <p:cNvSpPr txBox="1"/>
          <p:nvPr/>
        </p:nvSpPr>
        <p:spPr>
          <a:xfrm>
            <a:off x="8705837" y="1993392"/>
            <a:ext cx="2681185" cy="256032"/>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PCI SAQ-A scope</a:t>
            </a:r>
          </a:p>
        </p:txBody>
      </p:sp>
      <p:sp>
        <p:nvSpPr>
          <p:cNvPr id="11" name="Rounded Rectangle 10"/>
          <p:cNvSpPr/>
          <p:nvPr/>
        </p:nvSpPr>
        <p:spPr>
          <a:xfrm>
            <a:off x="585216" y="2249424"/>
            <a:ext cx="11021263" cy="402336"/>
          </a:xfrm>
          <a:prstGeom prst="roundRect">
            <a:avLst>
              <a:gd name="adj" fmla="val 3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8368" y="2395728"/>
            <a:ext cx="2463686" cy="256032"/>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Webhooks</a:t>
            </a:r>
          </a:p>
        </p:txBody>
      </p:sp>
      <p:sp>
        <p:nvSpPr>
          <p:cNvPr id="13" name="TextBox 12"/>
          <p:cNvSpPr txBox="1"/>
          <p:nvPr/>
        </p:nvSpPr>
        <p:spPr>
          <a:xfrm>
            <a:off x="3268358" y="2395728"/>
            <a:ext cx="5291175" cy="256032"/>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Signature verified, event deduplicated, retried with backoff</a:t>
            </a:r>
          </a:p>
        </p:txBody>
      </p:sp>
      <p:sp>
        <p:nvSpPr>
          <p:cNvPr id="14" name="TextBox 13"/>
          <p:cNvSpPr txBox="1"/>
          <p:nvPr/>
        </p:nvSpPr>
        <p:spPr>
          <a:xfrm>
            <a:off x="8705837" y="2395728"/>
            <a:ext cx="2681185" cy="256032"/>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At-least-once, idempotent</a:t>
            </a:r>
          </a:p>
        </p:txBody>
      </p:sp>
      <p:sp>
        <p:nvSpPr>
          <p:cNvPr id="15" name="TextBox 14"/>
          <p:cNvSpPr txBox="1"/>
          <p:nvPr/>
        </p:nvSpPr>
        <p:spPr>
          <a:xfrm>
            <a:off x="658368" y="2798064"/>
            <a:ext cx="2463686" cy="256032"/>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Idempotency</a:t>
            </a:r>
          </a:p>
        </p:txBody>
      </p:sp>
      <p:sp>
        <p:nvSpPr>
          <p:cNvPr id="16" name="TextBox 15"/>
          <p:cNvSpPr txBox="1"/>
          <p:nvPr/>
        </p:nvSpPr>
        <p:spPr>
          <a:xfrm>
            <a:off x="3268358" y="2798064"/>
            <a:ext cx="5291175" cy="256032"/>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Client key on every mutating call, 24-hour replay window</a:t>
            </a:r>
          </a:p>
        </p:txBody>
      </p:sp>
      <p:sp>
        <p:nvSpPr>
          <p:cNvPr id="17" name="TextBox 16"/>
          <p:cNvSpPr txBox="1"/>
          <p:nvPr/>
        </p:nvSpPr>
        <p:spPr>
          <a:xfrm>
            <a:off x="8705837" y="2798064"/>
            <a:ext cx="2681185" cy="256032"/>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Safe retries</a:t>
            </a:r>
          </a:p>
        </p:txBody>
      </p:sp>
      <p:sp>
        <p:nvSpPr>
          <p:cNvPr id="18" name="Rounded Rectangle 17"/>
          <p:cNvSpPr/>
          <p:nvPr/>
        </p:nvSpPr>
        <p:spPr>
          <a:xfrm>
            <a:off x="585216" y="3054096"/>
            <a:ext cx="11021263" cy="402336"/>
          </a:xfrm>
          <a:prstGeom prst="roundRect">
            <a:avLst>
              <a:gd name="adj" fmla="val 3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8368" y="3200400"/>
            <a:ext cx="2463686" cy="256032"/>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Ledger</a:t>
            </a:r>
          </a:p>
        </p:txBody>
      </p:sp>
      <p:sp>
        <p:nvSpPr>
          <p:cNvPr id="20" name="TextBox 19"/>
          <p:cNvSpPr txBox="1"/>
          <p:nvPr/>
        </p:nvSpPr>
        <p:spPr>
          <a:xfrm>
            <a:off x="3268358" y="3200400"/>
            <a:ext cx="5291175" cy="256032"/>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Double-entry, append-only, hash-chained; mirrors your settlement</a:t>
            </a:r>
          </a:p>
        </p:txBody>
      </p:sp>
      <p:sp>
        <p:nvSpPr>
          <p:cNvPr id="21" name="TextBox 20"/>
          <p:cNvSpPr txBox="1"/>
          <p:nvPr/>
        </p:nvSpPr>
        <p:spPr>
          <a:xfrm>
            <a:off x="8705837" y="3200400"/>
            <a:ext cx="2681185" cy="256032"/>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Reconcilable daily</a:t>
            </a:r>
          </a:p>
        </p:txBody>
      </p:sp>
      <p:sp>
        <p:nvSpPr>
          <p:cNvPr id="22" name="TextBox 21"/>
          <p:cNvSpPr txBox="1"/>
          <p:nvPr/>
        </p:nvSpPr>
        <p:spPr>
          <a:xfrm>
            <a:off x="658368" y="3602736"/>
            <a:ext cx="2463686" cy="256032"/>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Reconciliation</a:t>
            </a:r>
          </a:p>
        </p:txBody>
      </p:sp>
      <p:sp>
        <p:nvSpPr>
          <p:cNvPr id="23" name="TextBox 22"/>
          <p:cNvSpPr txBox="1"/>
          <p:nvPr/>
        </p:nvSpPr>
        <p:spPr>
          <a:xfrm>
            <a:off x="3268358" y="3602736"/>
            <a:ext cx="5291175" cy="256032"/>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Settlement import, matching, exception queue, daily close</a:t>
            </a:r>
          </a:p>
        </p:txBody>
      </p:sp>
      <p:sp>
        <p:nvSpPr>
          <p:cNvPr id="24" name="TextBox 23"/>
          <p:cNvSpPr txBox="1"/>
          <p:nvPr/>
        </p:nvSpPr>
        <p:spPr>
          <a:xfrm>
            <a:off x="8705837" y="3602736"/>
            <a:ext cx="2681185" cy="256032"/>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Variance &lt; $1 investigated</a:t>
            </a:r>
          </a:p>
        </p:txBody>
      </p:sp>
      <p:sp>
        <p:nvSpPr>
          <p:cNvPr id="25" name="Rounded Rectangle 24"/>
          <p:cNvSpPr/>
          <p:nvPr/>
        </p:nvSpPr>
        <p:spPr>
          <a:xfrm>
            <a:off x="585216" y="3858768"/>
            <a:ext cx="11021263" cy="402336"/>
          </a:xfrm>
          <a:prstGeom prst="roundRect">
            <a:avLst>
              <a:gd name="adj" fmla="val 3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8368" y="4005072"/>
            <a:ext cx="2463686" cy="256032"/>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Reporting</a:t>
            </a:r>
          </a:p>
        </p:txBody>
      </p:sp>
      <p:sp>
        <p:nvSpPr>
          <p:cNvPr id="27" name="TextBox 26"/>
          <p:cNvSpPr txBox="1"/>
          <p:nvPr/>
        </p:nvSpPr>
        <p:spPr>
          <a:xfrm>
            <a:off x="3268358" y="4005072"/>
            <a:ext cx="5291175" cy="256032"/>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Merchant statements, fee reports, payout reconciliation</a:t>
            </a:r>
          </a:p>
        </p:txBody>
      </p:sp>
      <p:sp>
        <p:nvSpPr>
          <p:cNvPr id="28" name="TextBox 27"/>
          <p:cNvSpPr txBox="1"/>
          <p:nvPr/>
        </p:nvSpPr>
        <p:spPr>
          <a:xfrm>
            <a:off x="8705837" y="4005072"/>
            <a:ext cx="2681185" cy="256032"/>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CSV + PDF</a:t>
            </a:r>
          </a:p>
        </p:txBody>
      </p:sp>
      <p:sp>
        <p:nvSpPr>
          <p:cNvPr id="29" name="TextBox 28"/>
          <p:cNvSpPr txBox="1"/>
          <p:nvPr/>
        </p:nvSpPr>
        <p:spPr>
          <a:xfrm>
            <a:off x="658368" y="4407408"/>
            <a:ext cx="2463686" cy="256032"/>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Environments</a:t>
            </a:r>
          </a:p>
        </p:txBody>
      </p:sp>
      <p:sp>
        <p:nvSpPr>
          <p:cNvPr id="30" name="TextBox 29"/>
          <p:cNvSpPr txBox="1"/>
          <p:nvPr/>
        </p:nvSpPr>
        <p:spPr>
          <a:xfrm>
            <a:off x="3268358" y="4407408"/>
            <a:ext cx="5291175" cy="256032"/>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Separate sandbox and live keys, no data crossover</a:t>
            </a:r>
          </a:p>
        </p:txBody>
      </p:sp>
      <p:sp>
        <p:nvSpPr>
          <p:cNvPr id="31" name="TextBox 30"/>
          <p:cNvSpPr txBox="1"/>
          <p:nvPr/>
        </p:nvSpPr>
        <p:spPr>
          <a:xfrm>
            <a:off x="8705837" y="4407408"/>
            <a:ext cx="2681185" cy="256032"/>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Test before live</a:t>
            </a:r>
          </a:p>
        </p:txBody>
      </p:sp>
      <p:sp>
        <p:nvSpPr>
          <p:cNvPr id="32" name="Rounded Rectangle 31"/>
          <p:cNvSpPr/>
          <p:nvPr/>
        </p:nvSpPr>
        <p:spPr>
          <a:xfrm>
            <a:off x="585216" y="4663440"/>
            <a:ext cx="11021263" cy="402336"/>
          </a:xfrm>
          <a:prstGeom prst="roundRect">
            <a:avLst>
              <a:gd name="adj" fmla="val 3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58368" y="4809744"/>
            <a:ext cx="2463686" cy="256032"/>
          </a:xfrm>
          <a:prstGeom prst="rect">
            <a:avLst/>
          </a:prstGeom>
          <a:noFill/>
        </p:spPr>
        <p:txBody>
          <a:bodyPr wrap="square" lIns="0" tIns="0" rIns="0" bIns="0" anchor="t">
            <a:spAutoFit/>
          </a:bodyPr>
          <a:lstStyle/>
          <a:p>
            <a:pPr algn="l">
              <a:lnSpc>
                <a:spcPct val="112000"/>
              </a:lnSpc>
              <a:spcAft>
                <a:spcPts val="0"/>
              </a:spcAft>
            </a:pPr>
            <a:r>
              <a:rPr sz="1000" b="1" i="0">
                <a:solidFill>
                  <a:srgbClr val="102236"/>
                </a:solidFill>
                <a:latin typeface="Arial"/>
              </a:rPr>
              <a:t>Disputes</a:t>
            </a:r>
          </a:p>
        </p:txBody>
      </p:sp>
      <p:sp>
        <p:nvSpPr>
          <p:cNvPr id="34" name="TextBox 33"/>
          <p:cNvSpPr txBox="1"/>
          <p:nvPr/>
        </p:nvSpPr>
        <p:spPr>
          <a:xfrm>
            <a:off x="3268358" y="4809744"/>
            <a:ext cx="5291175" cy="256032"/>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Intake from your webhooks, evidence portal, deadline alerts</a:t>
            </a:r>
          </a:p>
        </p:txBody>
      </p:sp>
      <p:sp>
        <p:nvSpPr>
          <p:cNvPr id="35" name="TextBox 34"/>
          <p:cNvSpPr txBox="1"/>
          <p:nvPr/>
        </p:nvSpPr>
        <p:spPr>
          <a:xfrm>
            <a:off x="8705837" y="4809744"/>
            <a:ext cx="2681185" cy="256032"/>
          </a:xfrm>
          <a:prstGeom prst="rect">
            <a:avLst/>
          </a:prstGeom>
          <a:noFill/>
        </p:spPr>
        <p:txBody>
          <a:bodyPr wrap="square" lIns="0" tIns="0" rIns="0" bIns="0" anchor="t">
            <a:spAutoFit/>
          </a:bodyPr>
          <a:lstStyle/>
          <a:p>
            <a:pPr algn="l">
              <a:lnSpc>
                <a:spcPct val="112000"/>
              </a:lnSpc>
              <a:spcAft>
                <a:spcPts val="0"/>
              </a:spcAft>
            </a:pPr>
            <a:r>
              <a:rPr sz="1000" b="0" i="0">
                <a:solidFill>
                  <a:srgbClr val="102236"/>
                </a:solidFill>
                <a:latin typeface="Arial"/>
              </a:rPr>
              <a:t>Response within SLA</a:t>
            </a:r>
          </a:p>
        </p:txBody>
      </p:sp>
      <p:sp>
        <p:nvSpPr>
          <p:cNvPr id="36" name="TextBox 35"/>
          <p:cNvSpPr txBox="1"/>
          <p:nvPr/>
        </p:nvSpPr>
        <p:spPr>
          <a:xfrm>
            <a:off x="658368" y="5239512"/>
            <a:ext cx="10874959" cy="365760"/>
          </a:xfrm>
          <a:prstGeom prst="rect">
            <a:avLst/>
          </a:prstGeom>
          <a:noFill/>
        </p:spPr>
        <p:txBody>
          <a:bodyPr wrap="square" lIns="0" tIns="0" rIns="0" bIns="0" anchor="t">
            <a:spAutoFit/>
          </a:bodyPr>
          <a:lstStyle/>
          <a:p>
            <a:pPr algn="l">
              <a:lnSpc>
                <a:spcPct val="120000"/>
              </a:lnSpc>
              <a:spcAft>
                <a:spcPts val="0"/>
              </a:spcAft>
            </a:pPr>
            <a:r>
              <a:rPr sz="950" b="0" i="0">
                <a:solidFill>
                  <a:srgbClr val="5B6E82"/>
                </a:solidFill>
                <a:latin typeface="Arial"/>
              </a:rPr>
              <a:t>Stack: TypeScript / Next.js on Vercel · Postgres (Supabase) with row-level security · Cloudflare at the edge · double-entry ledger written from scratch, not bolted on.</a:t>
            </a:r>
          </a:p>
        </p:txBody>
      </p:sp>
      <p:cxnSp>
        <p:nvCxnSpPr>
          <p:cNvPr id="37" name="Connector 36"/>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Airwallex partnership proposal  ·  Confidential</a:t>
            </a:r>
          </a:p>
        </p:txBody>
      </p:sp>
      <p:sp>
        <p:nvSpPr>
          <p:cNvPr id="39" name="TextBox 38"/>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75488"/>
            <a:ext cx="10874959" cy="237744"/>
          </a:xfrm>
          <a:prstGeom prst="rect">
            <a:avLst/>
          </a:prstGeom>
          <a:noFill/>
        </p:spPr>
        <p:txBody>
          <a:bodyPr wrap="square" lIns="0" tIns="0" rIns="0" bIns="0" anchor="t">
            <a:spAutoFit/>
          </a:bodyPr>
          <a:lstStyle/>
          <a:p>
            <a:pPr algn="l">
              <a:lnSpc>
                <a:spcPct val="112000"/>
              </a:lnSpc>
              <a:spcAft>
                <a:spcPts val="0"/>
              </a:spcAft>
            </a:pPr>
            <a:r>
              <a:rPr sz="950" b="1" i="0" spc="160">
                <a:solidFill>
                  <a:srgbClr val="00B589"/>
                </a:solidFill>
                <a:latin typeface="Arial"/>
              </a:rPr>
              <a:t>APPENDIX B</a:t>
            </a:r>
          </a:p>
        </p:txBody>
      </p:sp>
      <p:sp>
        <p:nvSpPr>
          <p:cNvPr id="3" name="TextBox 2"/>
          <p:cNvSpPr txBox="1"/>
          <p:nvPr/>
        </p:nvSpPr>
        <p:spPr>
          <a:xfrm>
            <a:off x="658368" y="749808"/>
            <a:ext cx="10874959" cy="521208"/>
          </a:xfrm>
          <a:prstGeom prst="rect">
            <a:avLst/>
          </a:prstGeom>
          <a:noFill/>
        </p:spPr>
        <p:txBody>
          <a:bodyPr wrap="square" lIns="0" tIns="0" rIns="0" bIns="0" anchor="t">
            <a:spAutoFit/>
          </a:bodyPr>
          <a:lstStyle/>
          <a:p>
            <a:pPr algn="l">
              <a:lnSpc>
                <a:spcPct val="102000"/>
              </a:lnSpc>
              <a:spcAft>
                <a:spcPts val="0"/>
              </a:spcAft>
            </a:pPr>
            <a:r>
              <a:rPr sz="3000" b="1" i="0">
                <a:solidFill>
                  <a:srgbClr val="102236"/>
                </a:solidFill>
                <a:latin typeface="Arial"/>
              </a:rPr>
              <a:t>What we can provide during due diligence</a:t>
            </a:r>
          </a:p>
        </p:txBody>
      </p:sp>
      <p:sp>
        <p:nvSpPr>
          <p:cNvPr id="4" name="TextBox 3"/>
          <p:cNvSpPr txBox="1"/>
          <p:nvPr/>
        </p:nvSpPr>
        <p:spPr>
          <a:xfrm>
            <a:off x="658368" y="1307592"/>
            <a:ext cx="9326880" cy="328041"/>
          </a:xfrm>
          <a:prstGeom prst="rect">
            <a:avLst/>
          </a:prstGeom>
          <a:noFill/>
        </p:spPr>
        <p:txBody>
          <a:bodyPr wrap="square" lIns="0" tIns="0" rIns="0" bIns="0" anchor="t">
            <a:spAutoFit/>
          </a:bodyPr>
          <a:lstStyle/>
          <a:p>
            <a:pPr algn="l">
              <a:lnSpc>
                <a:spcPct val="125000"/>
              </a:lnSpc>
              <a:spcAft>
                <a:spcPts val="0"/>
              </a:spcAft>
            </a:pPr>
            <a:r>
              <a:rPr sz="1350" b="0" i="0">
                <a:solidFill>
                  <a:srgbClr val="5B6E82"/>
                </a:solidFill>
                <a:latin typeface="Arial"/>
              </a:rPr>
              <a:t>We expect underwriting. Here is the pack, ready on request under NDA.</a:t>
            </a:r>
          </a:p>
        </p:txBody>
      </p:sp>
      <p:sp>
        <p:nvSpPr>
          <p:cNvPr id="5" name="Rounded Rectangle 4"/>
          <p:cNvSpPr/>
          <p:nvPr/>
        </p:nvSpPr>
        <p:spPr>
          <a:xfrm>
            <a:off x="658368" y="1909953"/>
            <a:ext cx="2547289" cy="1783080"/>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77824" y="2092833"/>
            <a:ext cx="2108377" cy="237744"/>
          </a:xfrm>
          <a:prstGeom prst="rect">
            <a:avLst/>
          </a:prstGeom>
          <a:noFill/>
        </p:spPr>
        <p:txBody>
          <a:bodyPr wrap="square" lIns="0" tIns="0" rIns="0" bIns="0" anchor="t">
            <a:spAutoFit/>
          </a:bodyPr>
          <a:lstStyle/>
          <a:p>
            <a:pPr algn="l">
              <a:lnSpc>
                <a:spcPct val="112000"/>
              </a:lnSpc>
              <a:spcAft>
                <a:spcPts val="0"/>
              </a:spcAft>
            </a:pPr>
            <a:r>
              <a:rPr sz="950" b="1" i="0" spc="130">
                <a:solidFill>
                  <a:srgbClr val="008A69"/>
                </a:solidFill>
                <a:latin typeface="Arial"/>
              </a:rPr>
              <a:t>CORPORATE</a:t>
            </a:r>
          </a:p>
        </p:txBody>
      </p:sp>
      <p:sp>
        <p:nvSpPr>
          <p:cNvPr id="7" name="TextBox 6"/>
          <p:cNvSpPr txBox="1"/>
          <p:nvPr/>
        </p:nvSpPr>
        <p:spPr>
          <a:xfrm>
            <a:off x="877824" y="2422017"/>
            <a:ext cx="2135809" cy="1097280"/>
          </a:xfrm>
          <a:prstGeom prst="rect">
            <a:avLst/>
          </a:prstGeom>
          <a:noFill/>
        </p:spPr>
        <p:txBody>
          <a:bodyPr wrap="square" lIns="0" rIns="0" tIns="0" bIns="0">
            <a:spAutoFit/>
          </a:bodyPr>
          <a:lstStyle/>
          <a:p>
            <a:pPr marL="219456" indent="-219456">
              <a:lnSpc>
                <a:spcPct val="118000"/>
              </a:lnSpc>
              <a:spcAft>
                <a:spcPts val="700"/>
              </a:spcAft>
              <a:buClr>
                <a:srgbClr val="00B589"/>
              </a:buClr>
              <a:buFont typeface="Arial"/>
              <a:buChar char="—"/>
            </a:pPr>
            <a:r>
              <a:rPr sz="950" b="0" i="0">
                <a:solidFill>
                  <a:srgbClr val="102236"/>
                </a:solidFill>
                <a:latin typeface="Arial"/>
              </a:rPr>
              <a:t>Certificate of formation and good standing</a:t>
            </a:r>
          </a:p>
          <a:p>
            <a:pPr marL="219456" indent="-219456">
              <a:lnSpc>
                <a:spcPct val="118000"/>
              </a:lnSpc>
              <a:spcAft>
                <a:spcPts val="700"/>
              </a:spcAft>
              <a:buClr>
                <a:srgbClr val="00B589"/>
              </a:buClr>
              <a:buFont typeface="Arial"/>
              <a:buChar char="—"/>
            </a:pPr>
            <a:r>
              <a:rPr sz="950" b="0" i="0">
                <a:solidFill>
                  <a:srgbClr val="102236"/>
                </a:solidFill>
                <a:latin typeface="Arial"/>
              </a:rPr>
              <a:t>Operating agreement and ownership chart</a:t>
            </a:r>
          </a:p>
          <a:p>
            <a:pPr marL="219456" indent="-219456">
              <a:lnSpc>
                <a:spcPct val="118000"/>
              </a:lnSpc>
              <a:spcAft>
                <a:spcPts val="700"/>
              </a:spcAft>
              <a:buClr>
                <a:srgbClr val="00B589"/>
              </a:buClr>
              <a:buFont typeface="Arial"/>
              <a:buChar char="—"/>
            </a:pPr>
            <a:r>
              <a:rPr sz="950" b="0" i="0">
                <a:solidFill>
                  <a:srgbClr val="102236"/>
                </a:solidFill>
                <a:latin typeface="Arial"/>
              </a:rPr>
              <a:t>Board resolution and signatory list</a:t>
            </a:r>
          </a:p>
        </p:txBody>
      </p:sp>
      <p:sp>
        <p:nvSpPr>
          <p:cNvPr id="8" name="Rounded Rectangle 7"/>
          <p:cNvSpPr/>
          <p:nvPr/>
        </p:nvSpPr>
        <p:spPr>
          <a:xfrm>
            <a:off x="3434257" y="1909953"/>
            <a:ext cx="2547289" cy="1783080"/>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653713" y="2092833"/>
            <a:ext cx="2108377" cy="237744"/>
          </a:xfrm>
          <a:prstGeom prst="rect">
            <a:avLst/>
          </a:prstGeom>
          <a:noFill/>
        </p:spPr>
        <p:txBody>
          <a:bodyPr wrap="square" lIns="0" tIns="0" rIns="0" bIns="0" anchor="t">
            <a:spAutoFit/>
          </a:bodyPr>
          <a:lstStyle/>
          <a:p>
            <a:pPr algn="l">
              <a:lnSpc>
                <a:spcPct val="112000"/>
              </a:lnSpc>
              <a:spcAft>
                <a:spcPts val="0"/>
              </a:spcAft>
            </a:pPr>
            <a:r>
              <a:rPr sz="950" b="1" i="0" spc="130">
                <a:solidFill>
                  <a:srgbClr val="008A69"/>
                </a:solidFill>
                <a:latin typeface="Arial"/>
              </a:rPr>
              <a:t>FINANCIAL</a:t>
            </a:r>
          </a:p>
        </p:txBody>
      </p:sp>
      <p:sp>
        <p:nvSpPr>
          <p:cNvPr id="10" name="TextBox 9"/>
          <p:cNvSpPr txBox="1"/>
          <p:nvPr/>
        </p:nvSpPr>
        <p:spPr>
          <a:xfrm>
            <a:off x="3653713" y="2422017"/>
            <a:ext cx="2135809" cy="1097280"/>
          </a:xfrm>
          <a:prstGeom prst="rect">
            <a:avLst/>
          </a:prstGeom>
          <a:noFill/>
        </p:spPr>
        <p:txBody>
          <a:bodyPr wrap="square" lIns="0" rIns="0" tIns="0" bIns="0">
            <a:spAutoFit/>
          </a:bodyPr>
          <a:lstStyle/>
          <a:p>
            <a:pPr marL="219456" indent="-219456">
              <a:lnSpc>
                <a:spcPct val="118000"/>
              </a:lnSpc>
              <a:spcAft>
                <a:spcPts val="700"/>
              </a:spcAft>
              <a:buClr>
                <a:srgbClr val="00B589"/>
              </a:buClr>
              <a:buFont typeface="Arial"/>
              <a:buChar char="—"/>
            </a:pPr>
            <a:r>
              <a:rPr sz="950" b="0" i="0">
                <a:solidFill>
                  <a:srgbClr val="102236"/>
                </a:solidFill>
                <a:latin typeface="Arial"/>
              </a:rPr>
              <a:t>12 months of processing statements</a:t>
            </a:r>
          </a:p>
          <a:p>
            <a:pPr marL="219456" indent="-219456">
              <a:lnSpc>
                <a:spcPct val="118000"/>
              </a:lnSpc>
              <a:spcAft>
                <a:spcPts val="700"/>
              </a:spcAft>
              <a:buClr>
                <a:srgbClr val="00B589"/>
              </a:buClr>
              <a:buFont typeface="Arial"/>
              <a:buChar char="—"/>
            </a:pPr>
            <a:r>
              <a:rPr sz="950" b="0" i="0">
                <a:solidFill>
                  <a:srgbClr val="102236"/>
                </a:solidFill>
                <a:latin typeface="Arial"/>
              </a:rPr>
              <a:t>Chargeback and refund reports</a:t>
            </a:r>
          </a:p>
          <a:p>
            <a:pPr marL="219456" indent="-219456">
              <a:lnSpc>
                <a:spcPct val="118000"/>
              </a:lnSpc>
              <a:spcAft>
                <a:spcPts val="700"/>
              </a:spcAft>
              <a:buClr>
                <a:srgbClr val="00B589"/>
              </a:buClr>
              <a:buFont typeface="Arial"/>
              <a:buChar char="—"/>
            </a:pPr>
            <a:r>
              <a:rPr sz="950" b="0" i="0">
                <a:solidFill>
                  <a:srgbClr val="102236"/>
                </a:solidFill>
                <a:latin typeface="Arial"/>
              </a:rPr>
              <a:t>Bank statements for the operating account</a:t>
            </a:r>
          </a:p>
        </p:txBody>
      </p:sp>
      <p:sp>
        <p:nvSpPr>
          <p:cNvPr id="11" name="Rounded Rectangle 10"/>
          <p:cNvSpPr/>
          <p:nvPr/>
        </p:nvSpPr>
        <p:spPr>
          <a:xfrm>
            <a:off x="6210147" y="1909953"/>
            <a:ext cx="2547289" cy="1783080"/>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29603" y="2092833"/>
            <a:ext cx="2108377" cy="237744"/>
          </a:xfrm>
          <a:prstGeom prst="rect">
            <a:avLst/>
          </a:prstGeom>
          <a:noFill/>
        </p:spPr>
        <p:txBody>
          <a:bodyPr wrap="square" lIns="0" tIns="0" rIns="0" bIns="0" anchor="t">
            <a:spAutoFit/>
          </a:bodyPr>
          <a:lstStyle/>
          <a:p>
            <a:pPr algn="l">
              <a:lnSpc>
                <a:spcPct val="112000"/>
              </a:lnSpc>
              <a:spcAft>
                <a:spcPts val="0"/>
              </a:spcAft>
            </a:pPr>
            <a:r>
              <a:rPr sz="950" b="1" i="0" spc="130">
                <a:solidFill>
                  <a:srgbClr val="008A69"/>
                </a:solidFill>
                <a:latin typeface="Arial"/>
              </a:rPr>
              <a:t>MERCHANT</a:t>
            </a:r>
          </a:p>
        </p:txBody>
      </p:sp>
      <p:sp>
        <p:nvSpPr>
          <p:cNvPr id="13" name="TextBox 12"/>
          <p:cNvSpPr txBox="1"/>
          <p:nvPr/>
        </p:nvSpPr>
        <p:spPr>
          <a:xfrm>
            <a:off x="6429603" y="2422017"/>
            <a:ext cx="2135809" cy="1097280"/>
          </a:xfrm>
          <a:prstGeom prst="rect">
            <a:avLst/>
          </a:prstGeom>
          <a:noFill/>
        </p:spPr>
        <p:txBody>
          <a:bodyPr wrap="square" lIns="0" rIns="0" tIns="0" bIns="0">
            <a:spAutoFit/>
          </a:bodyPr>
          <a:lstStyle/>
          <a:p>
            <a:pPr marL="219456" indent="-219456">
              <a:lnSpc>
                <a:spcPct val="118000"/>
              </a:lnSpc>
              <a:spcAft>
                <a:spcPts val="700"/>
              </a:spcAft>
              <a:buClr>
                <a:srgbClr val="00B589"/>
              </a:buClr>
              <a:buFont typeface="Arial"/>
              <a:buChar char="—"/>
            </a:pPr>
            <a:r>
              <a:rPr sz="950" b="0" i="0">
                <a:solidFill>
                  <a:srgbClr val="102236"/>
                </a:solidFill>
                <a:latin typeface="Arial"/>
              </a:rPr>
              <a:t>Sample merchant agreements and KYB files (redacted)</a:t>
            </a:r>
          </a:p>
          <a:p>
            <a:pPr marL="219456" indent="-219456">
              <a:lnSpc>
                <a:spcPct val="118000"/>
              </a:lnSpc>
              <a:spcAft>
                <a:spcPts val="700"/>
              </a:spcAft>
              <a:buClr>
                <a:srgbClr val="00B589"/>
              </a:buClr>
              <a:buFont typeface="Arial"/>
              <a:buChar char="—"/>
            </a:pPr>
            <a:r>
              <a:rPr sz="950" b="0" i="0">
                <a:solidFill>
                  <a:srgbClr val="102236"/>
                </a:solidFill>
                <a:latin typeface="Arial"/>
              </a:rPr>
              <a:t>Merchant mix and MCC summary</a:t>
            </a:r>
          </a:p>
          <a:p>
            <a:pPr marL="219456" indent="-219456">
              <a:lnSpc>
                <a:spcPct val="118000"/>
              </a:lnSpc>
              <a:spcAft>
                <a:spcPts val="700"/>
              </a:spcAft>
              <a:buClr>
                <a:srgbClr val="00B589"/>
              </a:buClr>
              <a:buFont typeface="Arial"/>
              <a:buChar char="—"/>
            </a:pPr>
            <a:r>
              <a:rPr sz="950" b="0" i="0">
                <a:solidFill>
                  <a:srgbClr val="102236"/>
                </a:solidFill>
                <a:latin typeface="Arial"/>
              </a:rPr>
              <a:t>Onboarding and monitoring procedures</a:t>
            </a:r>
          </a:p>
        </p:txBody>
      </p:sp>
      <p:sp>
        <p:nvSpPr>
          <p:cNvPr id="14" name="Rounded Rectangle 13"/>
          <p:cNvSpPr/>
          <p:nvPr/>
        </p:nvSpPr>
        <p:spPr>
          <a:xfrm>
            <a:off x="8986037" y="1909953"/>
            <a:ext cx="2547289" cy="1783080"/>
          </a:xfrm>
          <a:prstGeom prst="roundRect">
            <a:avLst>
              <a:gd name="adj" fmla="val 5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205493" y="2092833"/>
            <a:ext cx="2108377" cy="237744"/>
          </a:xfrm>
          <a:prstGeom prst="rect">
            <a:avLst/>
          </a:prstGeom>
          <a:noFill/>
        </p:spPr>
        <p:txBody>
          <a:bodyPr wrap="square" lIns="0" tIns="0" rIns="0" bIns="0" anchor="t">
            <a:spAutoFit/>
          </a:bodyPr>
          <a:lstStyle/>
          <a:p>
            <a:pPr algn="l">
              <a:lnSpc>
                <a:spcPct val="112000"/>
              </a:lnSpc>
              <a:spcAft>
                <a:spcPts val="0"/>
              </a:spcAft>
            </a:pPr>
            <a:r>
              <a:rPr sz="950" b="1" i="0" spc="130">
                <a:solidFill>
                  <a:srgbClr val="008A69"/>
                </a:solidFill>
                <a:latin typeface="Arial"/>
              </a:rPr>
              <a:t>TECHNICAL</a:t>
            </a:r>
          </a:p>
        </p:txBody>
      </p:sp>
      <p:sp>
        <p:nvSpPr>
          <p:cNvPr id="16" name="TextBox 15"/>
          <p:cNvSpPr txBox="1"/>
          <p:nvPr/>
        </p:nvSpPr>
        <p:spPr>
          <a:xfrm>
            <a:off x="9205493" y="2422017"/>
            <a:ext cx="2135809" cy="1097280"/>
          </a:xfrm>
          <a:prstGeom prst="rect">
            <a:avLst/>
          </a:prstGeom>
          <a:noFill/>
        </p:spPr>
        <p:txBody>
          <a:bodyPr wrap="square" lIns="0" rIns="0" tIns="0" bIns="0">
            <a:spAutoFit/>
          </a:bodyPr>
          <a:lstStyle/>
          <a:p>
            <a:pPr marL="219456" indent="-219456">
              <a:lnSpc>
                <a:spcPct val="118000"/>
              </a:lnSpc>
              <a:spcAft>
                <a:spcPts val="700"/>
              </a:spcAft>
              <a:buClr>
                <a:srgbClr val="00B589"/>
              </a:buClr>
              <a:buFont typeface="Arial"/>
              <a:buChar char="—"/>
            </a:pPr>
            <a:r>
              <a:rPr sz="950" b="0" i="0">
                <a:solidFill>
                  <a:srgbClr val="102236"/>
                </a:solidFill>
                <a:latin typeface="Arial"/>
              </a:rPr>
              <a:t>Security architecture document</a:t>
            </a:r>
          </a:p>
          <a:p>
            <a:pPr marL="219456" indent="-219456">
              <a:lnSpc>
                <a:spcPct val="118000"/>
              </a:lnSpc>
              <a:spcAft>
                <a:spcPts val="700"/>
              </a:spcAft>
              <a:buClr>
                <a:srgbClr val="00B589"/>
              </a:buClr>
              <a:buFont typeface="Arial"/>
              <a:buChar char="—"/>
            </a:pPr>
            <a:r>
              <a:rPr sz="950" b="0" i="0">
                <a:solidFill>
                  <a:srgbClr val="102236"/>
                </a:solidFill>
                <a:latin typeface="Arial"/>
              </a:rPr>
              <a:t>PCI SAQ-A plan and ASV scan schedule</a:t>
            </a:r>
          </a:p>
          <a:p>
            <a:pPr marL="219456" indent="-219456">
              <a:lnSpc>
                <a:spcPct val="118000"/>
              </a:lnSpc>
              <a:spcAft>
                <a:spcPts val="700"/>
              </a:spcAft>
              <a:buClr>
                <a:srgbClr val="00B589"/>
              </a:buClr>
              <a:buFont typeface="Arial"/>
              <a:buChar char="—"/>
            </a:pPr>
            <a:r>
              <a:rPr sz="950" b="0" i="0">
                <a:solidFill>
                  <a:srgbClr val="102236"/>
                </a:solidFill>
                <a:latin typeface="Arial"/>
              </a:rPr>
              <a:t>Data-flow diagram and sub-processor list</a:t>
            </a:r>
          </a:p>
        </p:txBody>
      </p:sp>
      <p:cxnSp>
        <p:nvCxnSpPr>
          <p:cNvPr id="17" name="Connector 16"/>
          <p:cNvCxnSpPr/>
          <p:nvPr/>
        </p:nvCxnSpPr>
        <p:spPr>
          <a:xfrm>
            <a:off x="658368" y="3912489"/>
            <a:ext cx="10874959" cy="0"/>
          </a:xfrm>
          <a:prstGeom prst="line">
            <a:avLst/>
          </a:prstGeom>
          <a:ln w="10160">
            <a:solidFill>
              <a:srgbClr val="DFE6E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58368" y="4077081"/>
            <a:ext cx="10874959" cy="365760"/>
          </a:xfrm>
          <a:prstGeom prst="rect">
            <a:avLst/>
          </a:prstGeom>
          <a:noFill/>
        </p:spPr>
        <p:txBody>
          <a:bodyPr wrap="square" lIns="0" tIns="0" rIns="0" bIns="0" anchor="t">
            <a:spAutoFit/>
          </a:bodyPr>
          <a:lstStyle/>
          <a:p>
            <a:pPr algn="l">
              <a:lnSpc>
                <a:spcPct val="125000"/>
              </a:lnSpc>
              <a:spcAft>
                <a:spcPts val="0"/>
              </a:spcAft>
            </a:pPr>
            <a:r>
              <a:rPr sz="1000" b="0" i="0">
                <a:solidFill>
                  <a:srgbClr val="5B6E82"/>
                </a:solidFill>
                <a:latin typeface="Arial"/>
              </a:rPr>
              <a:t>Open item we will address first: the processing history sits with our operating entity; KD PAY LLC is new. We will provide continuity evidence and references so the underwriting risk is clear, not hidden.</a:t>
            </a:r>
          </a:p>
        </p:txBody>
      </p:sp>
      <p:sp>
        <p:nvSpPr>
          <p:cNvPr id="19" name="Rounded Rectangle 18"/>
          <p:cNvSpPr/>
          <p:nvPr/>
        </p:nvSpPr>
        <p:spPr>
          <a:xfrm>
            <a:off x="658368" y="4709160"/>
            <a:ext cx="10874959" cy="960120"/>
          </a:xfrm>
          <a:prstGeom prst="roundRect">
            <a:avLst>
              <a:gd name="adj" fmla="val 5000"/>
            </a:avLst>
          </a:prstGeom>
          <a:solidFill>
            <a:srgbClr val="0A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78407" y="4892040"/>
            <a:ext cx="3657600" cy="219456"/>
          </a:xfrm>
          <a:prstGeom prst="rect">
            <a:avLst/>
          </a:prstGeom>
          <a:noFill/>
        </p:spPr>
        <p:txBody>
          <a:bodyPr wrap="square" lIns="0" tIns="0" rIns="0" bIns="0" anchor="t">
            <a:spAutoFit/>
          </a:bodyPr>
          <a:lstStyle/>
          <a:p>
            <a:pPr algn="l">
              <a:lnSpc>
                <a:spcPct val="112000"/>
              </a:lnSpc>
              <a:spcAft>
                <a:spcPts val="0"/>
              </a:spcAft>
            </a:pPr>
            <a:r>
              <a:rPr sz="900" b="1" i="0" spc="130">
                <a:solidFill>
                  <a:srgbClr val="00B589"/>
                </a:solidFill>
                <a:latin typeface="Arial"/>
              </a:rPr>
              <a:t>WHAT WE NEED FROM YOU</a:t>
            </a:r>
          </a:p>
        </p:txBody>
      </p:sp>
      <p:sp>
        <p:nvSpPr>
          <p:cNvPr id="21" name="TextBox 20"/>
          <p:cNvSpPr txBox="1"/>
          <p:nvPr/>
        </p:nvSpPr>
        <p:spPr>
          <a:xfrm>
            <a:off x="978407" y="5212080"/>
            <a:ext cx="3137306" cy="384048"/>
          </a:xfrm>
          <a:prstGeom prst="rect">
            <a:avLst/>
          </a:prstGeom>
          <a:noFill/>
        </p:spPr>
        <p:txBody>
          <a:bodyPr wrap="square" lIns="0" tIns="0" rIns="0" bIns="0" anchor="t">
            <a:spAutoFit/>
          </a:bodyPr>
          <a:lstStyle/>
          <a:p>
            <a:pPr algn="l">
              <a:lnSpc>
                <a:spcPct val="115000"/>
              </a:lnSpc>
              <a:spcAft>
                <a:spcPts val="0"/>
              </a:spcAft>
            </a:pPr>
            <a:r>
              <a:rPr sz="980" b="0" i="0">
                <a:solidFill>
                  <a:srgbClr val="FFFFFF"/>
                </a:solidFill>
                <a:latin typeface="Arial"/>
              </a:rPr>
              <a:t>Pricing sheet and reserve terms at our volume</a:t>
            </a:r>
          </a:p>
        </p:txBody>
      </p:sp>
      <p:sp>
        <p:nvSpPr>
          <p:cNvPr id="22" name="TextBox 21"/>
          <p:cNvSpPr txBox="1"/>
          <p:nvPr/>
        </p:nvSpPr>
        <p:spPr>
          <a:xfrm>
            <a:off x="4390034" y="5212080"/>
            <a:ext cx="3137306" cy="384048"/>
          </a:xfrm>
          <a:prstGeom prst="rect">
            <a:avLst/>
          </a:prstGeom>
          <a:noFill/>
        </p:spPr>
        <p:txBody>
          <a:bodyPr wrap="square" lIns="0" tIns="0" rIns="0" bIns="0" anchor="t">
            <a:spAutoFit/>
          </a:bodyPr>
          <a:lstStyle/>
          <a:p>
            <a:pPr algn="l">
              <a:lnSpc>
                <a:spcPct val="115000"/>
              </a:lnSpc>
              <a:spcAft>
                <a:spcPts val="0"/>
              </a:spcAft>
            </a:pPr>
            <a:r>
              <a:rPr sz="980" b="0" i="0">
                <a:solidFill>
                  <a:srgbClr val="FFFFFF"/>
                </a:solidFill>
                <a:latin typeface="Arial"/>
              </a:rPr>
              <a:t>Capability and corridor matrix, today and roadmap</a:t>
            </a:r>
          </a:p>
        </p:txBody>
      </p:sp>
      <p:sp>
        <p:nvSpPr>
          <p:cNvPr id="23" name="TextBox 22"/>
          <p:cNvSpPr txBox="1"/>
          <p:nvPr/>
        </p:nvSpPr>
        <p:spPr>
          <a:xfrm>
            <a:off x="7801660" y="5212080"/>
            <a:ext cx="3137306" cy="384048"/>
          </a:xfrm>
          <a:prstGeom prst="rect">
            <a:avLst/>
          </a:prstGeom>
          <a:noFill/>
        </p:spPr>
        <p:txBody>
          <a:bodyPr wrap="square" lIns="0" tIns="0" rIns="0" bIns="0" anchor="t">
            <a:spAutoFit/>
          </a:bodyPr>
          <a:lstStyle/>
          <a:p>
            <a:pPr algn="l">
              <a:lnSpc>
                <a:spcPct val="115000"/>
              </a:lnSpc>
              <a:spcAft>
                <a:spcPts val="0"/>
              </a:spcAft>
            </a:pPr>
            <a:r>
              <a:rPr sz="980" b="0" i="0">
                <a:solidFill>
                  <a:srgbClr val="FFFFFF"/>
                </a:solidFill>
                <a:latin typeface="Arial"/>
              </a:rPr>
              <a:t>Draft term sheet, SLA and settlement timetable</a:t>
            </a:r>
          </a:p>
        </p:txBody>
      </p:sp>
      <p:cxnSp>
        <p:nvCxnSpPr>
          <p:cNvPr id="24" name="Connector 23"/>
          <p:cNvCxnSpPr/>
          <p:nvPr/>
        </p:nvCxnSpPr>
        <p:spPr>
          <a:xfrm>
            <a:off x="658368" y="6327648"/>
            <a:ext cx="10874959" cy="0"/>
          </a:xfrm>
          <a:prstGeom prst="line">
            <a:avLst/>
          </a:prstGeom>
          <a:ln w="7620">
            <a:solidFill>
              <a:srgbClr val="DFE6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58368" y="6419088"/>
            <a:ext cx="8229600" cy="219456"/>
          </a:xfrm>
          <a:prstGeom prst="rect">
            <a:avLst/>
          </a:prstGeom>
          <a:noFill/>
        </p:spPr>
        <p:txBody>
          <a:bodyPr wrap="square" lIns="0" tIns="0" rIns="0" bIns="0" anchor="t">
            <a:spAutoFit/>
          </a:bodyPr>
          <a:lstStyle/>
          <a:p>
            <a:pPr algn="l">
              <a:lnSpc>
                <a:spcPct val="112000"/>
              </a:lnSpc>
              <a:spcAft>
                <a:spcPts val="0"/>
              </a:spcAft>
            </a:pPr>
            <a:r>
              <a:rPr sz="800" b="0" i="0">
                <a:solidFill>
                  <a:srgbClr val="5B6E82"/>
                </a:solidFill>
                <a:latin typeface="Arial"/>
              </a:rPr>
              <a:t>KD PAY LLC  ·  Airwallex partnership proposal  ·  Confidential</a:t>
            </a:r>
          </a:p>
        </p:txBody>
      </p:sp>
      <p:sp>
        <p:nvSpPr>
          <p:cNvPr id="26" name="TextBox 25"/>
          <p:cNvSpPr txBox="1"/>
          <p:nvPr/>
        </p:nvSpPr>
        <p:spPr>
          <a:xfrm>
            <a:off x="10801807" y="6419088"/>
            <a:ext cx="731520" cy="219456"/>
          </a:xfrm>
          <a:prstGeom prst="rect">
            <a:avLst/>
          </a:prstGeom>
          <a:noFill/>
        </p:spPr>
        <p:txBody>
          <a:bodyPr wrap="square" lIns="0" tIns="0" rIns="0" bIns="0" anchor="t">
            <a:spAutoFit/>
          </a:bodyPr>
          <a:lstStyle/>
          <a:p>
            <a:pPr algn="r">
              <a:lnSpc>
                <a:spcPct val="112000"/>
              </a:lnSpc>
              <a:spcAft>
                <a:spcPts val="0"/>
              </a:spcAft>
            </a:pPr>
            <a:r>
              <a:rPr sz="850" b="1" i="0">
                <a:solidFill>
                  <a:srgbClr val="5B6E82"/>
                </a:solidFill>
                <a:latin typeface="Arial"/>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KD PAY LLC — Airwallex partnership proposal</dc:title>
  <dc:subject>Payment platform partnership for Asia-first cross-border merchants</dc:subject>
  <dc:creator>KD PAY LLC</dc:creator>
  <cp:keywords>Airwallex, payments, Asia, cross-border, platform, partnership</cp:keywords>
  <dc:description>18-slide proposal deck. Figures supplied by KD PAY: $800K monthly volume, 0.01% chargeback ratio, operating since 2022. See deck/SOURCES.md for the basis of every claim.</dc:description>
  <cp:lastModifiedBy>KD PAY LLC</cp:lastModifiedBy>
  <cp:revision>1</cp:revision>
  <dcterms:created xsi:type="dcterms:W3CDTF">2013-01-27T09:14:16Z</dcterms:created>
  <dcterms:modified xsi:type="dcterms:W3CDTF">2013-01-27T09:15:58Z</dcterms:modified>
  <cp:category>Partnership proposal</cp:category>
</cp:coreProperties>
</file>