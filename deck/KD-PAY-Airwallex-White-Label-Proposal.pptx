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(45 seconds). We want to run the merchant-facing layer in Asia on your rails — our brand, our merchants, our merchant-level risk; your licence, your acquiring, your settlement. The deck is about the business model, not the software: who does what, how the money works, and what we need from you to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idea on one page. Airwallex keeps every regulated function — you stay the licensed party, you keep settlement, you keep the network relationships. We take the customer-facing side: brand, sales, onboarding ops, support, disputes, reserves. The merchant never has to deal with two companies. If they push: we are not trying to be a processor, we are trying to be your distribution channel in Asia.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three out loud, in this order. Programme approval is the gate — without it nothing else matters. The corridor list is what decides our roadmap; we will not promise a market we cannot service. Commercials can be fixed after the model is agreed, but the reserve terms should reflect the 0.01% record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entity change before they ask: the team and the book are from 2022, the LLC is new. Underwriting will find it, so we frame it first — and slide 17 offers statements and references under NDA. The 'model sought' line is deliberate: we are applying for a white-label programme, we are not claiming we already have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business case, not a product pitch. Every point is something we hear from merchants weekly. Avoid quoting decline percentages unless we have our own data — 'materially higher' is defensible, an invented number is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them directly: which of these corridors can you support today, and which are 6-12 months away? That answer re-orders our roadmap. We deliberately do not promise all of Asia on day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will want to know how we make money, because it tells them whether we will survive. Four lines, all volume-linked. Be explicit that we do not touch float: merchant funds sit in your ledger, not in our bank account. That single sentence removes most of the risk questions about a small partner.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kill the two objections that come with the word white-label: 'are you hiding us from the merchant' and 'are you asking to use our licence'. The answer is no to both. Your name stays in the merchant agreement and on the statement descriptor where regulation requires it — that is what a defensible white-label programme looks like, and it is what we want to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A. Say: we think A is fastest for both of us, but B is a perfectly good starting point if your risk committee needs to hold the record — we can migrate to A later without re-papering merchants. C is the model you already run for marketplaces; we would use it only for the handful of enterprise merchants who need their own account and are happy to be KYC'd twice.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has asked to keep software out of this deck, so keep this high level: three ways in, no architecture. The point for Airwallex is distribution — we already sit next to these merchants. If they ask what is built today, be precise: the integration layer is in build, the merchant base and the operations are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here: these are our take-rate scenarios, not their pricing. The purpose is to show the shape of the business — revenue scales linearly with volume, and our cost to serve is largely fixed. If they ask for a real model, say we will build it with their pricing sheet within a week. That is a much stronger answer than an invented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0.9% figure as 'around' — Visa and Mastercard use different programmes and bands. The point is the ratio, not the exact line. 90x headroom is arithmetic: 0.9 divided by 0.01. Then move straight to reserves: offering to fund them ourselves is what makes a small partner safe to board.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business level: they are checking whether a small partner is a liability on their rails. The strongest sentence is the last one — an honest scope statement beats an inflated claim, and it invites them to tell us which controls their own risk team needs to see. Offer the security architecture document as follow-up rather than walking through it 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Careful with the comparison — say it as a coverage observation, not a criticism of competitors. The honest answer to 'what would make you leave' is: coverage gaps in South Asia, and pricing that does not reflect our dispute record.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not to inflate. The $2M is our ambition, not a forecast — say so. If they ask for a numbered forecast, offer to model it with their pricing sheet and send it within a week; that is a stronger answer than an invented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the two things that unblock everything: written confirmation of the structure, and sandbox access. Replace the bracketed contact details before sending — they are intentionally left as placeholders.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Ending on the entity issue is deliberate: it is the one thing underwriting will find, so we frame it before they do. Say we would rather over-share than have it surface late in the process.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A2B"/>
        </a:solidFill>
        <a:effectLst/>
      </p:bgPr>
    </p:bg>
    <p:spTree>
      <p:nvGrpSpPr>
        <p:cNvPr id="1" name=""/>
        <p:cNvGrpSpPr/>
        <p:nvPr/>
      </p:nvGrpSpPr>
      <p:grpSpPr/>
      <p:sp>
        <p:nvSpPr>
          <p:cNvPr id="2" name="Rectangle 1"/>
          <p:cNvSpPr/>
          <p:nvPr/>
        </p:nvSpPr>
        <p:spPr>
          <a:xfrm>
            <a:off x="658368" y="960120"/>
            <a:ext cx="54864" cy="27889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914400" y="932688"/>
            <a:ext cx="8686800" cy="237744"/>
          </a:xfrm>
          <a:prstGeom prst="rect">
            <a:avLst/>
          </a:prstGeom>
          <a:noFill/>
        </p:spPr>
        <p:txBody>
          <a:bodyPr wrap="square" lIns="0" tIns="0" rIns="0" bIns="0" anchor="t">
            <a:spAutoFit/>
          </a:bodyPr>
          <a:lstStyle/>
          <a:p>
            <a:pPr algn="l">
              <a:lnSpc>
                <a:spcPct val="112000"/>
              </a:lnSpc>
              <a:spcAft>
                <a:spcPts val="0"/>
              </a:spcAft>
            </a:pPr>
            <a:r>
              <a:rPr sz="1000" b="1" i="0" spc="180">
                <a:solidFill>
                  <a:srgbClr val="00B589"/>
                </a:solidFill>
                <a:latin typeface="Arial"/>
              </a:rPr>
              <a:t>PARTNERSHIP PROPOSAL  ·  CONFIDENTIAL</a:t>
            </a:r>
          </a:p>
        </p:txBody>
      </p:sp>
      <p:sp>
        <p:nvSpPr>
          <p:cNvPr id="4" name="TextBox 3"/>
          <p:cNvSpPr txBox="1"/>
          <p:nvPr/>
        </p:nvSpPr>
        <p:spPr>
          <a:xfrm>
            <a:off x="914400" y="1298448"/>
            <a:ext cx="9966960" cy="2194560"/>
          </a:xfrm>
          <a:prstGeom prst="rect">
            <a:avLst/>
          </a:prstGeom>
          <a:noFill/>
        </p:spPr>
        <p:txBody>
          <a:bodyPr wrap="square" lIns="0" tIns="0" rIns="0" bIns="0" anchor="t">
            <a:spAutoFit/>
          </a:bodyPr>
          <a:lstStyle/>
          <a:p>
            <a:pPr algn="l">
              <a:lnSpc>
                <a:spcPct val="108000"/>
              </a:lnSpc>
              <a:spcAft>
                <a:spcPts val="0"/>
              </a:spcAft>
            </a:pPr>
            <a:r>
              <a:rPr sz="4000" b="1" i="0">
                <a:solidFill>
                  <a:srgbClr val="FFFFFF"/>
                </a:solidFill>
                <a:latin typeface="Arial"/>
              </a:rPr>
              <a:t>White-label payments for Asia,</a:t>
            </a:r>
          </a:p>
          <a:p>
            <a:pPr algn="l">
              <a:lnSpc>
                <a:spcPct val="108000"/>
              </a:lnSpc>
              <a:spcAft>
                <a:spcPts val="0"/>
              </a:spcAft>
            </a:pPr>
            <a:r>
              <a:rPr sz="4000" b="1" i="0">
                <a:solidFill>
                  <a:srgbClr val="FFFFFF"/>
                </a:solidFill>
                <a:latin typeface="Arial"/>
              </a:rPr>
              <a:t>on Airwallex rails</a:t>
            </a:r>
          </a:p>
        </p:txBody>
      </p:sp>
      <p:sp>
        <p:nvSpPr>
          <p:cNvPr id="5" name="TextBox 4"/>
          <p:cNvSpPr txBox="1"/>
          <p:nvPr/>
        </p:nvSpPr>
        <p:spPr>
          <a:xfrm>
            <a:off x="914400" y="3493008"/>
            <a:ext cx="9052560" cy="822960"/>
          </a:xfrm>
          <a:prstGeom prst="rect">
            <a:avLst/>
          </a:prstGeom>
          <a:noFill/>
        </p:spPr>
        <p:txBody>
          <a:bodyPr wrap="square" lIns="0" tIns="0" rIns="0" bIns="0" anchor="t">
            <a:spAutoFit/>
          </a:bodyPr>
          <a:lstStyle/>
          <a:p>
            <a:pPr algn="l">
              <a:lnSpc>
                <a:spcPct val="130000"/>
              </a:lnSpc>
              <a:spcAft>
                <a:spcPts val="0"/>
              </a:spcAft>
            </a:pPr>
            <a:r>
              <a:rPr sz="1500" b="0" i="0">
                <a:solidFill>
                  <a:srgbClr val="9FB3C6"/>
                </a:solidFill>
                <a:latin typeface="Arial"/>
              </a:rPr>
              <a:t>KD PAY LLC — proposal to operate the merchant-facing layer as your white-label and merchant-of-record partner.</a:t>
            </a:r>
          </a:p>
        </p:txBody>
      </p:sp>
      <p:cxnSp>
        <p:nvCxnSpPr>
          <p:cNvPr id="6" name="Connector 5"/>
          <p:cNvCxnSpPr/>
          <p:nvPr/>
        </p:nvCxnSpPr>
        <p:spPr>
          <a:xfrm>
            <a:off x="658368" y="4846320"/>
            <a:ext cx="10874959" cy="0"/>
          </a:xfrm>
          <a:prstGeom prst="line">
            <a:avLst/>
          </a:prstGeom>
          <a:ln w="10160">
            <a:solidFill>
              <a:srgbClr val="213B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5084064"/>
            <a:ext cx="2490139" cy="566928"/>
          </a:xfrm>
          <a:prstGeom prst="rect">
            <a:avLst/>
          </a:prstGeom>
          <a:noFill/>
        </p:spPr>
        <p:txBody>
          <a:bodyPr wrap="square" lIns="0" tIns="0" rIns="0" bIns="0" anchor="t">
            <a:spAutoFit/>
          </a:bodyPr>
          <a:lstStyle/>
          <a:p>
            <a:pPr algn="l">
              <a:lnSpc>
                <a:spcPct val="100000"/>
              </a:lnSpc>
              <a:spcAft>
                <a:spcPts val="0"/>
              </a:spcAft>
            </a:pPr>
            <a:r>
              <a:rPr sz="2200" b="1" i="0">
                <a:solidFill>
                  <a:srgbClr val="00B589"/>
                </a:solidFill>
                <a:latin typeface="Arial"/>
              </a:rPr>
              <a:t>$800K</a:t>
            </a:r>
          </a:p>
        </p:txBody>
      </p:sp>
      <p:sp>
        <p:nvSpPr>
          <p:cNvPr id="8" name="TextBox 7"/>
          <p:cNvSpPr txBox="1"/>
          <p:nvPr/>
        </p:nvSpPr>
        <p:spPr>
          <a:xfrm>
            <a:off x="658368" y="5632703"/>
            <a:ext cx="249013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9FB3C6"/>
                </a:solidFill>
                <a:latin typeface="Arial"/>
              </a:rPr>
              <a:t>MONTHLY VOLUME</a:t>
            </a:r>
          </a:p>
        </p:txBody>
      </p:sp>
      <p:sp>
        <p:nvSpPr>
          <p:cNvPr id="9" name="TextBox 8"/>
          <p:cNvSpPr txBox="1"/>
          <p:nvPr/>
        </p:nvSpPr>
        <p:spPr>
          <a:xfrm>
            <a:off x="3377107" y="5084064"/>
            <a:ext cx="2490139" cy="566928"/>
          </a:xfrm>
          <a:prstGeom prst="rect">
            <a:avLst/>
          </a:prstGeom>
          <a:noFill/>
        </p:spPr>
        <p:txBody>
          <a:bodyPr wrap="square" lIns="0" tIns="0" rIns="0" bIns="0" anchor="t">
            <a:spAutoFit/>
          </a:bodyPr>
          <a:lstStyle/>
          <a:p>
            <a:pPr algn="l">
              <a:lnSpc>
                <a:spcPct val="100000"/>
              </a:lnSpc>
              <a:spcAft>
                <a:spcPts val="0"/>
              </a:spcAft>
            </a:pPr>
            <a:r>
              <a:rPr sz="2200" b="1" i="0">
                <a:solidFill>
                  <a:srgbClr val="00B589"/>
                </a:solidFill>
                <a:latin typeface="Arial"/>
              </a:rPr>
              <a:t>0.01%</a:t>
            </a:r>
          </a:p>
        </p:txBody>
      </p:sp>
      <p:sp>
        <p:nvSpPr>
          <p:cNvPr id="10" name="TextBox 9"/>
          <p:cNvSpPr txBox="1"/>
          <p:nvPr/>
        </p:nvSpPr>
        <p:spPr>
          <a:xfrm>
            <a:off x="3377107" y="5632703"/>
            <a:ext cx="249013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9FB3C6"/>
                </a:solidFill>
                <a:latin typeface="Arial"/>
              </a:rPr>
              <a:t>CHARGEBACK RATIO</a:t>
            </a:r>
          </a:p>
        </p:txBody>
      </p:sp>
      <p:sp>
        <p:nvSpPr>
          <p:cNvPr id="11" name="TextBox 10"/>
          <p:cNvSpPr txBox="1"/>
          <p:nvPr/>
        </p:nvSpPr>
        <p:spPr>
          <a:xfrm>
            <a:off x="6095847" y="5084064"/>
            <a:ext cx="2490139" cy="566928"/>
          </a:xfrm>
          <a:prstGeom prst="rect">
            <a:avLst/>
          </a:prstGeom>
          <a:noFill/>
        </p:spPr>
        <p:txBody>
          <a:bodyPr wrap="square" lIns="0" tIns="0" rIns="0" bIns="0" anchor="t">
            <a:spAutoFit/>
          </a:bodyPr>
          <a:lstStyle/>
          <a:p>
            <a:pPr algn="l">
              <a:lnSpc>
                <a:spcPct val="100000"/>
              </a:lnSpc>
              <a:spcAft>
                <a:spcPts val="0"/>
              </a:spcAft>
            </a:pPr>
            <a:r>
              <a:rPr sz="2200" b="1" i="0">
                <a:solidFill>
                  <a:srgbClr val="FFFFFF"/>
                </a:solidFill>
                <a:latin typeface="Arial"/>
              </a:rPr>
              <a:t>2022</a:t>
            </a:r>
          </a:p>
        </p:txBody>
      </p:sp>
      <p:sp>
        <p:nvSpPr>
          <p:cNvPr id="12" name="TextBox 11"/>
          <p:cNvSpPr txBox="1"/>
          <p:nvPr/>
        </p:nvSpPr>
        <p:spPr>
          <a:xfrm>
            <a:off x="6095847" y="5632703"/>
            <a:ext cx="249013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9FB3C6"/>
                </a:solidFill>
                <a:latin typeface="Arial"/>
              </a:rPr>
              <a:t>OPERATING SINCE</a:t>
            </a:r>
          </a:p>
        </p:txBody>
      </p:sp>
      <p:sp>
        <p:nvSpPr>
          <p:cNvPr id="13" name="TextBox 12"/>
          <p:cNvSpPr txBox="1"/>
          <p:nvPr/>
        </p:nvSpPr>
        <p:spPr>
          <a:xfrm>
            <a:off x="8814587" y="5084064"/>
            <a:ext cx="2490139" cy="566928"/>
          </a:xfrm>
          <a:prstGeom prst="rect">
            <a:avLst/>
          </a:prstGeom>
          <a:noFill/>
        </p:spPr>
        <p:txBody>
          <a:bodyPr wrap="square" lIns="0" tIns="0" rIns="0" bIns="0" anchor="t">
            <a:spAutoFit/>
          </a:bodyPr>
          <a:lstStyle/>
          <a:p>
            <a:pPr algn="l">
              <a:lnSpc>
                <a:spcPct val="100000"/>
              </a:lnSpc>
              <a:spcAft>
                <a:spcPts val="0"/>
              </a:spcAft>
            </a:pPr>
            <a:r>
              <a:rPr sz="2200" b="1" i="0">
                <a:solidFill>
                  <a:srgbClr val="FFFFFF"/>
                </a:solidFill>
                <a:latin typeface="Arial"/>
              </a:rPr>
              <a:t>Asia → global</a:t>
            </a:r>
          </a:p>
        </p:txBody>
      </p:sp>
      <p:sp>
        <p:nvSpPr>
          <p:cNvPr id="14" name="TextBox 13"/>
          <p:cNvSpPr txBox="1"/>
          <p:nvPr/>
        </p:nvSpPr>
        <p:spPr>
          <a:xfrm>
            <a:off x="8814587" y="5632703"/>
            <a:ext cx="249013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9FB3C6"/>
                </a:solidFill>
                <a:latin typeface="Arial"/>
              </a:rPr>
              <a:t>CORRIDOR ROADMAP</a:t>
            </a:r>
          </a:p>
        </p:txBody>
      </p:sp>
      <p:sp>
        <p:nvSpPr>
          <p:cNvPr id="15" name="TextBox 14"/>
          <p:cNvSpPr txBox="1"/>
          <p:nvPr/>
        </p:nvSpPr>
        <p:spPr>
          <a:xfrm>
            <a:off x="8607247" y="932688"/>
            <a:ext cx="2926080" cy="237744"/>
          </a:xfrm>
          <a:prstGeom prst="rect">
            <a:avLst/>
          </a:prstGeom>
          <a:noFill/>
        </p:spPr>
        <p:txBody>
          <a:bodyPr wrap="square" lIns="0" tIns="0" rIns="0" bIns="0" anchor="t">
            <a:spAutoFit/>
          </a:bodyPr>
          <a:lstStyle/>
          <a:p>
            <a:pPr algn="r">
              <a:lnSpc>
                <a:spcPct val="112000"/>
              </a:lnSpc>
              <a:spcAft>
                <a:spcPts val="0"/>
              </a:spcAft>
            </a:pPr>
            <a:r>
              <a:rPr sz="1000" b="0" i="0" spc="140">
                <a:solidFill>
                  <a:srgbClr val="9FB3C6"/>
                </a:solidFill>
                <a:latin typeface="Arial"/>
              </a:rPr>
              <a:t>30 OCTOBER 2026</a:t>
            </a:r>
          </a:p>
        </p:txBody>
      </p:sp>
      <p:cxnSp>
        <p:nvCxnSpPr>
          <p:cNvPr id="16" name="Connector 15"/>
          <p:cNvCxnSpPr/>
          <p:nvPr/>
        </p:nvCxnSpPr>
        <p:spPr>
          <a:xfrm>
            <a:off x="658368" y="6327648"/>
            <a:ext cx="10874959" cy="0"/>
          </a:xfrm>
          <a:prstGeom prst="line">
            <a:avLst/>
          </a:prstGeom>
          <a:ln w="7620">
            <a:solidFill>
              <a:srgbClr val="213B5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9FB3C6"/>
                </a:solidFill>
                <a:latin typeface="Arial"/>
              </a:rPr>
              <a:t>KD PAY LLC  ·  White-label partnership proposal  ·  Confidential</a:t>
            </a:r>
          </a:p>
        </p:txBody>
      </p:sp>
      <p:sp>
        <p:nvSpPr>
          <p:cNvPr id="18" name="TextBox 17"/>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9FB3C6"/>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THE PROPOSITION</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You own the rails. We own the merchant.</a:t>
            </a:r>
          </a:p>
        </p:txBody>
      </p:sp>
      <p:sp>
        <p:nvSpPr>
          <p:cNvPr id="4" name="TextBox 3"/>
          <p:cNvSpPr txBox="1"/>
          <p:nvPr/>
        </p:nvSpPr>
        <p:spPr>
          <a:xfrm>
            <a:off x="658368" y="1307592"/>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One partnership, two layers. Nothing about how you underwrite us changes — we become the front office for merchants you would otherwise not reach.</a:t>
            </a:r>
          </a:p>
        </p:txBody>
      </p:sp>
      <p:sp>
        <p:nvSpPr>
          <p:cNvPr id="5" name="Rounded Rectangle 4"/>
          <p:cNvSpPr/>
          <p:nvPr/>
        </p:nvSpPr>
        <p:spPr>
          <a:xfrm>
            <a:off x="658368" y="2100834"/>
            <a:ext cx="3045866" cy="1874519"/>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292858"/>
            <a:ext cx="2588666" cy="201168"/>
          </a:xfrm>
          <a:prstGeom prst="rect">
            <a:avLst/>
          </a:prstGeom>
          <a:noFill/>
        </p:spPr>
        <p:txBody>
          <a:bodyPr wrap="square" lIns="0" tIns="0" rIns="0" bIns="0" anchor="t">
            <a:spAutoFit/>
          </a:bodyPr>
          <a:lstStyle/>
          <a:p>
            <a:pPr algn="l">
              <a:lnSpc>
                <a:spcPct val="112000"/>
              </a:lnSpc>
              <a:spcAft>
                <a:spcPts val="0"/>
              </a:spcAft>
            </a:pPr>
            <a:r>
              <a:rPr sz="850" b="1" i="0" spc="150">
                <a:solidFill>
                  <a:srgbClr val="00B589"/>
                </a:solidFill>
                <a:latin typeface="Arial"/>
              </a:rPr>
              <a:t>AIRWALLEX</a:t>
            </a:r>
          </a:p>
        </p:txBody>
      </p:sp>
      <p:sp>
        <p:nvSpPr>
          <p:cNvPr id="7" name="TextBox 6"/>
          <p:cNvSpPr txBox="1"/>
          <p:nvPr/>
        </p:nvSpPr>
        <p:spPr>
          <a:xfrm>
            <a:off x="896112" y="2558034"/>
            <a:ext cx="2588666" cy="310896"/>
          </a:xfrm>
          <a:prstGeom prst="rect">
            <a:avLst/>
          </a:prstGeom>
          <a:noFill/>
        </p:spPr>
        <p:txBody>
          <a:bodyPr wrap="square" lIns="0" tIns="0" rIns="0" bIns="0" anchor="t">
            <a:spAutoFit/>
          </a:bodyPr>
          <a:lstStyle/>
          <a:p>
            <a:pPr algn="l">
              <a:lnSpc>
                <a:spcPct val="105000"/>
              </a:lnSpc>
              <a:spcAft>
                <a:spcPts val="0"/>
              </a:spcAft>
            </a:pPr>
            <a:r>
              <a:rPr sz="1500" b="1" i="0">
                <a:solidFill>
                  <a:srgbClr val="FFFFFF"/>
                </a:solidFill>
                <a:latin typeface="Arial"/>
              </a:rPr>
              <a:t>The rail</a:t>
            </a:r>
          </a:p>
        </p:txBody>
      </p:sp>
      <p:sp>
        <p:nvSpPr>
          <p:cNvPr id="8" name="TextBox 7"/>
          <p:cNvSpPr txBox="1"/>
          <p:nvPr/>
        </p:nvSpPr>
        <p:spPr>
          <a:xfrm>
            <a:off x="896112" y="2951226"/>
            <a:ext cx="2588666" cy="868680"/>
          </a:xfrm>
          <a:prstGeom prst="rect">
            <a:avLst/>
          </a:prstGeom>
          <a:noFill/>
        </p:spPr>
        <p:txBody>
          <a:bodyPr wrap="square" lIns="0" tIns="0" rIns="0" bIns="0" anchor="t">
            <a:spAutoFit/>
          </a:bodyPr>
          <a:lstStyle/>
          <a:p>
            <a:pPr algn="l">
              <a:lnSpc>
                <a:spcPct val="120000"/>
              </a:lnSpc>
              <a:spcAft>
                <a:spcPts val="0"/>
              </a:spcAft>
            </a:pPr>
            <a:r>
              <a:rPr sz="950" b="0" i="0">
                <a:solidFill>
                  <a:srgbClr val="9FB3C6"/>
                </a:solidFill>
                <a:latin typeface="Arial"/>
              </a:rPr>
              <a:t>Licensing, acquiring, network membership, FX liquidity, settlement and the regulated obligations that sit with a provider.</a:t>
            </a:r>
          </a:p>
        </p:txBody>
      </p:sp>
      <p:cxnSp>
        <p:nvCxnSpPr>
          <p:cNvPr id="9" name="Connector 8"/>
          <p:cNvCxnSpPr/>
          <p:nvPr/>
        </p:nvCxnSpPr>
        <p:spPr>
          <a:xfrm>
            <a:off x="3887114" y="2969514"/>
            <a:ext cx="475488" cy="0"/>
          </a:xfrm>
          <a:prstGeom prst="line">
            <a:avLst/>
          </a:prstGeom>
          <a:ln w="20320" cap="rnd">
            <a:solidFill>
              <a:srgbClr val="00B589"/>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572914" y="2100834"/>
            <a:ext cx="3045866" cy="1874519"/>
          </a:xfrm>
          <a:prstGeom prst="roundRect">
            <a:avLst>
              <a:gd name="adj" fmla="val 5000"/>
            </a:avLst>
          </a:prstGeom>
          <a:solidFill>
            <a:srgbClr val="E7F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572914" y="2100834"/>
            <a:ext cx="3045866" cy="50292"/>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810658" y="2292858"/>
            <a:ext cx="2588666" cy="201168"/>
          </a:xfrm>
          <a:prstGeom prst="rect">
            <a:avLst/>
          </a:prstGeom>
          <a:noFill/>
        </p:spPr>
        <p:txBody>
          <a:bodyPr wrap="square" lIns="0" tIns="0" rIns="0" bIns="0" anchor="t">
            <a:spAutoFit/>
          </a:bodyPr>
          <a:lstStyle/>
          <a:p>
            <a:pPr algn="l">
              <a:lnSpc>
                <a:spcPct val="112000"/>
              </a:lnSpc>
              <a:spcAft>
                <a:spcPts val="0"/>
              </a:spcAft>
            </a:pPr>
            <a:r>
              <a:rPr sz="850" b="1" i="0" spc="150">
                <a:solidFill>
                  <a:srgbClr val="00B589"/>
                </a:solidFill>
                <a:latin typeface="Arial"/>
              </a:rPr>
              <a:t>KD PAY</a:t>
            </a:r>
          </a:p>
        </p:txBody>
      </p:sp>
      <p:sp>
        <p:nvSpPr>
          <p:cNvPr id="13" name="TextBox 12"/>
          <p:cNvSpPr txBox="1"/>
          <p:nvPr/>
        </p:nvSpPr>
        <p:spPr>
          <a:xfrm>
            <a:off x="4810658" y="2558034"/>
            <a:ext cx="2588666" cy="310896"/>
          </a:xfrm>
          <a:prstGeom prst="rect">
            <a:avLst/>
          </a:prstGeom>
          <a:noFill/>
        </p:spPr>
        <p:txBody>
          <a:bodyPr wrap="square" lIns="0" tIns="0" rIns="0" bIns="0" anchor="t">
            <a:spAutoFit/>
          </a:bodyPr>
          <a:lstStyle/>
          <a:p>
            <a:pPr algn="l">
              <a:lnSpc>
                <a:spcPct val="105000"/>
              </a:lnSpc>
              <a:spcAft>
                <a:spcPts val="0"/>
              </a:spcAft>
            </a:pPr>
            <a:r>
              <a:rPr sz="1500" b="1" i="0">
                <a:solidFill>
                  <a:srgbClr val="102236"/>
                </a:solidFill>
                <a:latin typeface="Arial"/>
              </a:rPr>
              <a:t>The merchant layer</a:t>
            </a:r>
          </a:p>
        </p:txBody>
      </p:sp>
      <p:sp>
        <p:nvSpPr>
          <p:cNvPr id="14" name="TextBox 13"/>
          <p:cNvSpPr txBox="1"/>
          <p:nvPr/>
        </p:nvSpPr>
        <p:spPr>
          <a:xfrm>
            <a:off x="4810658" y="2951226"/>
            <a:ext cx="2588666" cy="868680"/>
          </a:xfrm>
          <a:prstGeom prst="rect">
            <a:avLst/>
          </a:prstGeom>
          <a:noFill/>
        </p:spPr>
        <p:txBody>
          <a:bodyPr wrap="square" lIns="0" tIns="0" rIns="0" bIns="0" anchor="t">
            <a:spAutoFit/>
          </a:bodyPr>
          <a:lstStyle/>
          <a:p>
            <a:pPr algn="l">
              <a:lnSpc>
                <a:spcPct val="120000"/>
              </a:lnSpc>
              <a:spcAft>
                <a:spcPts val="0"/>
              </a:spcAft>
            </a:pPr>
            <a:r>
              <a:rPr sz="950" b="0" i="0">
                <a:solidFill>
                  <a:srgbClr val="5B6E82"/>
                </a:solidFill>
                <a:latin typeface="Arial"/>
              </a:rPr>
              <a:t>Brand, sales, onboarding and KYB operations, in-region support, dispute handling and merchant-level reserves.</a:t>
            </a:r>
          </a:p>
        </p:txBody>
      </p:sp>
      <p:cxnSp>
        <p:nvCxnSpPr>
          <p:cNvPr id="15" name="Connector 14"/>
          <p:cNvCxnSpPr/>
          <p:nvPr/>
        </p:nvCxnSpPr>
        <p:spPr>
          <a:xfrm>
            <a:off x="7801660" y="2969514"/>
            <a:ext cx="475488" cy="0"/>
          </a:xfrm>
          <a:prstGeom prst="line">
            <a:avLst/>
          </a:prstGeom>
          <a:ln w="20320" cap="rnd">
            <a:solidFill>
              <a:srgbClr val="00B589"/>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487460" y="2100834"/>
            <a:ext cx="3045866" cy="1874519"/>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25204" y="2292858"/>
            <a:ext cx="2588666" cy="201168"/>
          </a:xfrm>
          <a:prstGeom prst="rect">
            <a:avLst/>
          </a:prstGeom>
          <a:noFill/>
        </p:spPr>
        <p:txBody>
          <a:bodyPr wrap="square" lIns="0" tIns="0" rIns="0" bIns="0" anchor="t">
            <a:spAutoFit/>
          </a:bodyPr>
          <a:lstStyle/>
          <a:p>
            <a:pPr algn="l">
              <a:lnSpc>
                <a:spcPct val="112000"/>
              </a:lnSpc>
              <a:spcAft>
                <a:spcPts val="0"/>
              </a:spcAft>
            </a:pPr>
            <a:r>
              <a:rPr sz="850" b="1" i="0" spc="150">
                <a:solidFill>
                  <a:srgbClr val="00B589"/>
                </a:solidFill>
                <a:latin typeface="Arial"/>
              </a:rPr>
              <a:t>THE MERCHANT</a:t>
            </a:r>
          </a:p>
        </p:txBody>
      </p:sp>
      <p:sp>
        <p:nvSpPr>
          <p:cNvPr id="18" name="TextBox 17"/>
          <p:cNvSpPr txBox="1"/>
          <p:nvPr/>
        </p:nvSpPr>
        <p:spPr>
          <a:xfrm>
            <a:off x="8725204" y="2558034"/>
            <a:ext cx="2588666" cy="310896"/>
          </a:xfrm>
          <a:prstGeom prst="rect">
            <a:avLst/>
          </a:prstGeom>
          <a:noFill/>
        </p:spPr>
        <p:txBody>
          <a:bodyPr wrap="square" lIns="0" tIns="0" rIns="0" bIns="0" anchor="t">
            <a:spAutoFit/>
          </a:bodyPr>
          <a:lstStyle/>
          <a:p>
            <a:pPr algn="l">
              <a:lnSpc>
                <a:spcPct val="105000"/>
              </a:lnSpc>
              <a:spcAft>
                <a:spcPts val="0"/>
              </a:spcAft>
            </a:pPr>
            <a:r>
              <a:rPr sz="1500" b="1" i="0">
                <a:solidFill>
                  <a:srgbClr val="102236"/>
                </a:solidFill>
                <a:latin typeface="Arial"/>
              </a:rPr>
              <a:t>One relationship</a:t>
            </a:r>
          </a:p>
        </p:txBody>
      </p:sp>
      <p:sp>
        <p:nvSpPr>
          <p:cNvPr id="19" name="TextBox 18"/>
          <p:cNvSpPr txBox="1"/>
          <p:nvPr/>
        </p:nvSpPr>
        <p:spPr>
          <a:xfrm>
            <a:off x="8725204" y="2951226"/>
            <a:ext cx="2588666" cy="868680"/>
          </a:xfrm>
          <a:prstGeom prst="rect">
            <a:avLst/>
          </a:prstGeom>
          <a:noFill/>
        </p:spPr>
        <p:txBody>
          <a:bodyPr wrap="square" lIns="0" tIns="0" rIns="0" bIns="0" anchor="t">
            <a:spAutoFit/>
          </a:bodyPr>
          <a:lstStyle/>
          <a:p>
            <a:pPr algn="l">
              <a:lnSpc>
                <a:spcPct val="120000"/>
              </a:lnSpc>
              <a:spcAft>
                <a:spcPts val="0"/>
              </a:spcAft>
            </a:pPr>
            <a:r>
              <a:rPr sz="950" b="0" i="0">
                <a:solidFill>
                  <a:srgbClr val="5B6E82"/>
                </a:solidFill>
                <a:latin typeface="Arial"/>
              </a:rPr>
              <a:t>One contract, one dashboard, local payment methods, and payouts in the currency their bank actually holds.</a:t>
            </a:r>
          </a:p>
        </p:txBody>
      </p:sp>
      <p:sp>
        <p:nvSpPr>
          <p:cNvPr id="20" name="Rounded Rectangle 19"/>
          <p:cNvSpPr/>
          <p:nvPr/>
        </p:nvSpPr>
        <p:spPr>
          <a:xfrm>
            <a:off x="658368" y="4203954"/>
            <a:ext cx="10874959" cy="841248"/>
          </a:xfrm>
          <a:prstGeom prst="roundRect">
            <a:avLst>
              <a:gd name="adj" fmla="val 4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9264" y="4386834"/>
            <a:ext cx="10253167" cy="548640"/>
          </a:xfrm>
          <a:prstGeom prst="rect">
            <a:avLst/>
          </a:prstGeom>
          <a:noFill/>
        </p:spPr>
        <p:txBody>
          <a:bodyPr wrap="square" lIns="0" tIns="0" rIns="0" bIns="0" anchor="t">
            <a:spAutoFit/>
          </a:bodyPr>
          <a:lstStyle/>
          <a:p>
            <a:pPr algn="l">
              <a:lnSpc>
                <a:spcPct val="122000"/>
              </a:lnSpc>
              <a:spcAft>
                <a:spcPts val="0"/>
              </a:spcAft>
            </a:pPr>
            <a:r>
              <a:rPr sz="1280" b="0" i="0">
                <a:solidFill>
                  <a:srgbClr val="FFFFFF"/>
                </a:solidFill>
                <a:latin typeface="Arial"/>
              </a:rPr>
              <a:t>We are not asking to become a PSP. We are asking to rent the rails, put our name in front of the merchant, and carry the merchant-level risk that makes the volume possible.</a:t>
            </a:r>
          </a:p>
        </p:txBody>
      </p:sp>
      <p:sp>
        <p:nvSpPr>
          <p:cNvPr id="22" name="TextBox 21"/>
          <p:cNvSpPr txBox="1"/>
          <p:nvPr/>
        </p:nvSpPr>
        <p:spPr>
          <a:xfrm>
            <a:off x="658368" y="5392674"/>
            <a:ext cx="10874959" cy="219456"/>
          </a:xfrm>
          <a:prstGeom prst="rect">
            <a:avLst/>
          </a:prstGeom>
          <a:noFill/>
        </p:spPr>
        <p:txBody>
          <a:bodyPr wrap="square" lIns="0" tIns="0" rIns="0" bIns="0" anchor="t">
            <a:spAutoFit/>
          </a:bodyPr>
          <a:lstStyle/>
          <a:p>
            <a:pPr algn="l">
              <a:lnSpc>
                <a:spcPct val="112000"/>
              </a:lnSpc>
              <a:spcAft>
                <a:spcPts val="0"/>
              </a:spcAft>
            </a:pPr>
            <a:r>
              <a:rPr sz="900" b="1" i="0" spc="140">
                <a:solidFill>
                  <a:srgbClr val="5B6E82"/>
                </a:solidFill>
                <a:latin typeface="Arial"/>
              </a:rPr>
              <a:t>WHAT THIS GIVES YOU</a:t>
            </a:r>
          </a:p>
        </p:txBody>
      </p:sp>
      <p:sp>
        <p:nvSpPr>
          <p:cNvPr id="23" name="TextBox 22"/>
          <p:cNvSpPr txBox="1"/>
          <p:nvPr/>
        </p:nvSpPr>
        <p:spPr>
          <a:xfrm>
            <a:off x="658368" y="5666994"/>
            <a:ext cx="3240938" cy="237744"/>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Corridor reach</a:t>
            </a:r>
          </a:p>
        </p:txBody>
      </p:sp>
      <p:sp>
        <p:nvSpPr>
          <p:cNvPr id="24" name="TextBox 23"/>
          <p:cNvSpPr txBox="1"/>
          <p:nvPr/>
        </p:nvSpPr>
        <p:spPr>
          <a:xfrm>
            <a:off x="658368" y="5923026"/>
            <a:ext cx="3240938" cy="685800"/>
          </a:xfrm>
          <a:prstGeom prst="rect">
            <a:avLst/>
          </a:prstGeom>
          <a:noFill/>
        </p:spPr>
        <p:txBody>
          <a:bodyPr wrap="square" lIns="0" tIns="0" rIns="0" bIns="0" anchor="t">
            <a:spAutoFit/>
          </a:bodyPr>
          <a:lstStyle/>
          <a:p>
            <a:pPr algn="l">
              <a:lnSpc>
                <a:spcPct val="122000"/>
              </a:lnSpc>
              <a:spcAft>
                <a:spcPts val="0"/>
              </a:spcAft>
            </a:pPr>
            <a:r>
              <a:rPr sz="919" b="0" i="0">
                <a:solidFill>
                  <a:srgbClr val="5B6E82"/>
                </a:solidFill>
                <a:latin typeface="Arial"/>
              </a:rPr>
              <a:t>Verified Asian merchants, underwritten to your standards, without you building a regional sales or support operation.</a:t>
            </a:r>
          </a:p>
        </p:txBody>
      </p:sp>
      <p:sp>
        <p:nvSpPr>
          <p:cNvPr id="25" name="TextBox 24"/>
          <p:cNvSpPr txBox="1"/>
          <p:nvPr/>
        </p:nvSpPr>
        <p:spPr>
          <a:xfrm>
            <a:off x="4283354" y="5666994"/>
            <a:ext cx="3240938" cy="237744"/>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Risk that is already tidy</a:t>
            </a:r>
          </a:p>
        </p:txBody>
      </p:sp>
      <p:sp>
        <p:nvSpPr>
          <p:cNvPr id="26" name="TextBox 25"/>
          <p:cNvSpPr txBox="1"/>
          <p:nvPr/>
        </p:nvSpPr>
        <p:spPr>
          <a:xfrm>
            <a:off x="4283354" y="5923026"/>
            <a:ext cx="3240938" cy="685800"/>
          </a:xfrm>
          <a:prstGeom prst="rect">
            <a:avLst/>
          </a:prstGeom>
          <a:noFill/>
        </p:spPr>
        <p:txBody>
          <a:bodyPr wrap="square" lIns="0" tIns="0" rIns="0" bIns="0" anchor="t">
            <a:spAutoFit/>
          </a:bodyPr>
          <a:lstStyle/>
          <a:p>
            <a:pPr algn="l">
              <a:lnSpc>
                <a:spcPct val="122000"/>
              </a:lnSpc>
              <a:spcAft>
                <a:spcPts val="0"/>
              </a:spcAft>
            </a:pPr>
            <a:r>
              <a:rPr sz="919" b="0" i="0">
                <a:solidFill>
                  <a:srgbClr val="5B6E82"/>
                </a:solidFill>
                <a:latin typeface="Arial"/>
              </a:rPr>
              <a:t>$800K a month at a 0.01% dispute rate, with reserves funded at merchant level before anything reaches you.</a:t>
            </a:r>
          </a:p>
        </p:txBody>
      </p:sp>
      <p:sp>
        <p:nvSpPr>
          <p:cNvPr id="27" name="TextBox 26"/>
          <p:cNvSpPr txBox="1"/>
          <p:nvPr/>
        </p:nvSpPr>
        <p:spPr>
          <a:xfrm>
            <a:off x="7908340" y="5666994"/>
            <a:ext cx="3240938" cy="237744"/>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One counterparty</a:t>
            </a:r>
          </a:p>
        </p:txBody>
      </p:sp>
      <p:sp>
        <p:nvSpPr>
          <p:cNvPr id="28" name="TextBox 27"/>
          <p:cNvSpPr txBox="1"/>
          <p:nvPr/>
        </p:nvSpPr>
        <p:spPr>
          <a:xfrm>
            <a:off x="7908340" y="5923026"/>
            <a:ext cx="3240938" cy="685800"/>
          </a:xfrm>
          <a:prstGeom prst="rect">
            <a:avLst/>
          </a:prstGeom>
          <a:noFill/>
        </p:spPr>
        <p:txBody>
          <a:bodyPr wrap="square" lIns="0" tIns="0" rIns="0" bIns="0" anchor="t">
            <a:spAutoFit/>
          </a:bodyPr>
          <a:lstStyle/>
          <a:p>
            <a:pPr algn="l">
              <a:lnSpc>
                <a:spcPct val="122000"/>
              </a:lnSpc>
              <a:spcAft>
                <a:spcPts val="0"/>
              </a:spcAft>
            </a:pPr>
            <a:r>
              <a:rPr sz="919" b="0" i="0">
                <a:solidFill>
                  <a:srgbClr val="5B6E82"/>
                </a:solidFill>
                <a:latin typeface="Arial"/>
              </a:rPr>
              <a:t>A single US entity on your paper, one KYB file, one reconciliation, one escalation path — instead of hundreds of SMBs.</a:t>
            </a:r>
          </a:p>
        </p:txBody>
      </p:sp>
      <p:cxnSp>
        <p:nvCxnSpPr>
          <p:cNvPr id="29" name="Connector 28"/>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31" name="TextBox 30"/>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THE ASK</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Three things, and what you get back</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Everything else in this deck supports this page.</a:t>
            </a:r>
          </a:p>
        </p:txBody>
      </p:sp>
      <p:sp>
        <p:nvSpPr>
          <p:cNvPr id="5" name="Rounded Rectangle 4"/>
          <p:cNvSpPr/>
          <p:nvPr/>
        </p:nvSpPr>
        <p:spPr>
          <a:xfrm>
            <a:off x="658368" y="1928241"/>
            <a:ext cx="3472586" cy="224028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129409"/>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01</a:t>
            </a:r>
          </a:p>
        </p:txBody>
      </p:sp>
      <p:sp>
        <p:nvSpPr>
          <p:cNvPr id="7" name="TextBox 6"/>
          <p:cNvSpPr txBox="1"/>
          <p:nvPr/>
        </p:nvSpPr>
        <p:spPr>
          <a:xfrm>
            <a:off x="896112" y="2367153"/>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Programme approval</a:t>
            </a:r>
          </a:p>
        </p:txBody>
      </p:sp>
      <p:sp>
        <p:nvSpPr>
          <p:cNvPr id="8" name="TextBox 7"/>
          <p:cNvSpPr txBox="1"/>
          <p:nvPr/>
        </p:nvSpPr>
        <p:spPr>
          <a:xfrm>
            <a:off x="896112" y="2747772"/>
            <a:ext cx="2997098" cy="1256156"/>
          </a:xfrm>
          <a:prstGeom prst="rect">
            <a:avLst/>
          </a:prstGeom>
          <a:noFill/>
        </p:spPr>
        <p:txBody>
          <a:bodyPr wrap="square" lIns="0" tIns="0" rIns="0" bIns="0" anchor="t">
            <a:spAutoFit/>
          </a:bodyPr>
          <a:lstStyle/>
          <a:p>
            <a:pPr algn="l">
              <a:lnSpc>
                <a:spcPct val="122000"/>
              </a:lnSpc>
              <a:spcAft>
                <a:spcPts val="0"/>
              </a:spcAft>
            </a:pPr>
            <a:r>
              <a:rPr sz="1080" b="0" i="0">
                <a:solidFill>
                  <a:srgbClr val="5B6E82"/>
                </a:solidFill>
                <a:latin typeface="Arial"/>
              </a:rPr>
              <a:t>A white-label or merchant-of-record programme at launch, so the merchant contracts with KD PAY and we carry merchant-level risk and first-line support.</a:t>
            </a:r>
          </a:p>
        </p:txBody>
      </p:sp>
      <p:sp>
        <p:nvSpPr>
          <p:cNvPr id="9" name="Rounded Rectangle 8"/>
          <p:cNvSpPr/>
          <p:nvPr/>
        </p:nvSpPr>
        <p:spPr>
          <a:xfrm>
            <a:off x="4359554" y="1928241"/>
            <a:ext cx="3472586" cy="224028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97298" y="2129409"/>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02</a:t>
            </a:r>
          </a:p>
        </p:txBody>
      </p:sp>
      <p:sp>
        <p:nvSpPr>
          <p:cNvPr id="11" name="TextBox 10"/>
          <p:cNvSpPr txBox="1"/>
          <p:nvPr/>
        </p:nvSpPr>
        <p:spPr>
          <a:xfrm>
            <a:off x="4597298" y="2367153"/>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Corridor commitment</a:t>
            </a:r>
          </a:p>
        </p:txBody>
      </p:sp>
      <p:sp>
        <p:nvSpPr>
          <p:cNvPr id="12" name="TextBox 11"/>
          <p:cNvSpPr txBox="1"/>
          <p:nvPr/>
        </p:nvSpPr>
        <p:spPr>
          <a:xfrm>
            <a:off x="4597298" y="2747772"/>
            <a:ext cx="2997098" cy="1256156"/>
          </a:xfrm>
          <a:prstGeom prst="rect">
            <a:avLst/>
          </a:prstGeom>
          <a:noFill/>
        </p:spPr>
        <p:txBody>
          <a:bodyPr wrap="square" lIns="0" tIns="0" rIns="0" bIns="0" anchor="t">
            <a:spAutoFit/>
          </a:bodyPr>
          <a:lstStyle/>
          <a:p>
            <a:pPr algn="l">
              <a:lnSpc>
                <a:spcPct val="122000"/>
              </a:lnSpc>
              <a:spcAft>
                <a:spcPts val="0"/>
              </a:spcAft>
            </a:pPr>
            <a:r>
              <a:rPr sz="1080" b="0" i="0">
                <a:solidFill>
                  <a:srgbClr val="5B6E82"/>
                </a:solidFill>
                <a:latin typeface="Arial"/>
              </a:rPr>
              <a:t>Written confirmation of which Asian corridors are live today, which are 6–12 months out, and which local payment methods exist in each.</a:t>
            </a:r>
          </a:p>
        </p:txBody>
      </p:sp>
      <p:sp>
        <p:nvSpPr>
          <p:cNvPr id="13" name="Rounded Rectangle 12"/>
          <p:cNvSpPr/>
          <p:nvPr/>
        </p:nvSpPr>
        <p:spPr>
          <a:xfrm>
            <a:off x="8060740" y="1928241"/>
            <a:ext cx="3472586" cy="224028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98484" y="2129409"/>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03</a:t>
            </a:r>
          </a:p>
        </p:txBody>
      </p:sp>
      <p:sp>
        <p:nvSpPr>
          <p:cNvPr id="15" name="TextBox 14"/>
          <p:cNvSpPr txBox="1"/>
          <p:nvPr/>
        </p:nvSpPr>
        <p:spPr>
          <a:xfrm>
            <a:off x="8298484" y="2367153"/>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Commercials and support</a:t>
            </a:r>
          </a:p>
        </p:txBody>
      </p:sp>
      <p:sp>
        <p:nvSpPr>
          <p:cNvPr id="16" name="TextBox 15"/>
          <p:cNvSpPr txBox="1"/>
          <p:nvPr/>
        </p:nvSpPr>
        <p:spPr>
          <a:xfrm>
            <a:off x="8298484" y="2747772"/>
            <a:ext cx="2997098" cy="1256156"/>
          </a:xfrm>
          <a:prstGeom prst="rect">
            <a:avLst/>
          </a:prstGeom>
          <a:noFill/>
        </p:spPr>
        <p:txBody>
          <a:bodyPr wrap="square" lIns="0" tIns="0" rIns="0" bIns="0" anchor="t">
            <a:spAutoFit/>
          </a:bodyPr>
          <a:lstStyle/>
          <a:p>
            <a:pPr algn="l">
              <a:lnSpc>
                <a:spcPct val="122000"/>
              </a:lnSpc>
              <a:spcAft>
                <a:spcPts val="0"/>
              </a:spcAft>
            </a:pPr>
            <a:r>
              <a:rPr sz="1080" b="0" i="0">
                <a:solidFill>
                  <a:srgbClr val="5B6E82"/>
                </a:solidFill>
                <a:latin typeface="Arial"/>
              </a:rPr>
              <a:t>Pricing at $800K/month and at growth volume, reserve terms that reflect a 0.01% record, and a named partner manager plus solutions engineer.</a:t>
            </a:r>
          </a:p>
        </p:txBody>
      </p:sp>
      <p:sp>
        <p:nvSpPr>
          <p:cNvPr id="17" name="Rounded Rectangle 16"/>
          <p:cNvSpPr/>
          <p:nvPr/>
        </p:nvSpPr>
        <p:spPr>
          <a:xfrm>
            <a:off x="658368" y="4378833"/>
            <a:ext cx="10874959" cy="841248"/>
          </a:xfrm>
          <a:prstGeom prst="roundRect">
            <a:avLst>
              <a:gd name="adj" fmla="val 5000"/>
            </a:avLst>
          </a:prstGeom>
          <a:solidFill>
            <a:srgbClr val="E7F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4525137"/>
            <a:ext cx="3108960" cy="219456"/>
          </a:xfrm>
          <a:prstGeom prst="rect">
            <a:avLst/>
          </a:prstGeom>
          <a:noFill/>
        </p:spPr>
        <p:txBody>
          <a:bodyPr wrap="square" lIns="0" tIns="0" rIns="0" bIns="0" anchor="t">
            <a:spAutoFit/>
          </a:bodyPr>
          <a:lstStyle/>
          <a:p>
            <a:pPr algn="l">
              <a:lnSpc>
                <a:spcPct val="112000"/>
              </a:lnSpc>
              <a:spcAft>
                <a:spcPts val="0"/>
              </a:spcAft>
            </a:pPr>
            <a:r>
              <a:rPr sz="950" b="1" i="0" spc="140">
                <a:solidFill>
                  <a:srgbClr val="008A69"/>
                </a:solidFill>
                <a:latin typeface="Arial"/>
              </a:rPr>
              <a:t>WHAT WE BRING</a:t>
            </a:r>
          </a:p>
        </p:txBody>
      </p:sp>
      <p:sp>
        <p:nvSpPr>
          <p:cNvPr id="19" name="TextBox 18"/>
          <p:cNvSpPr txBox="1"/>
          <p:nvPr/>
        </p:nvSpPr>
        <p:spPr>
          <a:xfrm>
            <a:off x="932688" y="4799457"/>
            <a:ext cx="10326319" cy="365760"/>
          </a:xfrm>
          <a:prstGeom prst="rect">
            <a:avLst/>
          </a:prstGeom>
          <a:noFill/>
        </p:spPr>
        <p:txBody>
          <a:bodyPr wrap="square" lIns="0" tIns="0" rIns="0" bIns="0" anchor="t">
            <a:spAutoFit/>
          </a:bodyPr>
          <a:lstStyle/>
          <a:p>
            <a:pPr algn="l">
              <a:lnSpc>
                <a:spcPct val="120000"/>
              </a:lnSpc>
              <a:spcAft>
                <a:spcPts val="0"/>
              </a:spcAft>
            </a:pPr>
            <a:r>
              <a:rPr sz="1080" b="0" i="0">
                <a:solidFill>
                  <a:srgbClr val="102236"/>
                </a:solidFill>
                <a:latin typeface="Arial"/>
              </a:rPr>
              <a:t>Entity pack and KYB file in week one  ·  sandbox integration in 14 days  ·  first live transaction in 8 weeks  ·  20 pre-screened pilot merchants.</a:t>
            </a:r>
          </a:p>
        </p:txBody>
      </p:sp>
      <p:sp>
        <p:nvSpPr>
          <p:cNvPr id="20" name="TextBox 19"/>
          <p:cNvSpPr txBox="1"/>
          <p:nvPr/>
        </p:nvSpPr>
        <p:spPr>
          <a:xfrm>
            <a:off x="658368" y="5549265"/>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WHY THIS IS WORTH YOUR TIME NOW</a:t>
            </a:r>
          </a:p>
        </p:txBody>
      </p:sp>
      <p:sp>
        <p:nvSpPr>
          <p:cNvPr id="21" name="TextBox 20"/>
          <p:cNvSpPr txBox="1"/>
          <p:nvPr/>
        </p:nvSpPr>
        <p:spPr>
          <a:xfrm>
            <a:off x="658368" y="5823585"/>
            <a:ext cx="3213506" cy="411480"/>
          </a:xfrm>
          <a:prstGeom prst="rect">
            <a:avLst/>
          </a:prstGeom>
          <a:noFill/>
        </p:spPr>
        <p:txBody>
          <a:bodyPr wrap="square" lIns="0" rIns="0" tIns="0" bIns="0">
            <a:spAutoFit/>
          </a:bodyPr>
          <a:lstStyle/>
          <a:p>
            <a:pPr algn="l">
              <a:lnSpc>
                <a:spcPct val="125000"/>
              </a:lnSpc>
            </a:pPr>
            <a:r>
              <a:rPr sz="930" b="1" i="0">
                <a:solidFill>
                  <a:srgbClr val="102236"/>
                </a:solidFill>
                <a:latin typeface="Arial"/>
              </a:rPr>
              <a:t>A corridor, not a campaign. </a:t>
            </a:r>
            <a:r>
              <a:rPr sz="930" b="0" i="0">
                <a:solidFill>
                  <a:srgbClr val="5B6E82"/>
                </a:solidFill>
                <a:latin typeface="Arial"/>
              </a:rPr>
              <a:t>One partner bringing verified Asian merchants into your rails.</a:t>
            </a:r>
          </a:p>
        </p:txBody>
      </p:sp>
      <p:sp>
        <p:nvSpPr>
          <p:cNvPr id="22" name="TextBox 21"/>
          <p:cNvSpPr txBox="1"/>
          <p:nvPr/>
        </p:nvSpPr>
        <p:spPr>
          <a:xfrm>
            <a:off x="4283354" y="5823585"/>
            <a:ext cx="3213506" cy="411480"/>
          </a:xfrm>
          <a:prstGeom prst="rect">
            <a:avLst/>
          </a:prstGeom>
          <a:noFill/>
        </p:spPr>
        <p:txBody>
          <a:bodyPr wrap="square" lIns="0" rIns="0" tIns="0" bIns="0">
            <a:spAutoFit/>
          </a:bodyPr>
          <a:lstStyle/>
          <a:p>
            <a:pPr algn="l">
              <a:lnSpc>
                <a:spcPct val="125000"/>
              </a:lnSpc>
            </a:pPr>
            <a:r>
              <a:rPr sz="930" b="1" i="0">
                <a:solidFill>
                  <a:srgbClr val="102236"/>
                </a:solidFill>
                <a:latin typeface="Arial"/>
              </a:rPr>
              <a:t>Small and clean. </a:t>
            </a:r>
            <a:r>
              <a:rPr sz="930" b="0" i="0">
                <a:solidFill>
                  <a:srgbClr val="5B6E82"/>
                </a:solidFill>
                <a:latin typeface="Arial"/>
              </a:rPr>
              <a:t>$800K a month at 0.01% chargebacks — enough to prove the model.</a:t>
            </a:r>
          </a:p>
        </p:txBody>
      </p:sp>
      <p:sp>
        <p:nvSpPr>
          <p:cNvPr id="23" name="TextBox 22"/>
          <p:cNvSpPr txBox="1"/>
          <p:nvPr/>
        </p:nvSpPr>
        <p:spPr>
          <a:xfrm>
            <a:off x="7908340" y="5823585"/>
            <a:ext cx="3213506" cy="411480"/>
          </a:xfrm>
          <a:prstGeom prst="rect">
            <a:avLst/>
          </a:prstGeom>
          <a:noFill/>
        </p:spPr>
        <p:txBody>
          <a:bodyPr wrap="square" lIns="0" rIns="0" tIns="0" bIns="0">
            <a:spAutoFit/>
          </a:bodyPr>
          <a:lstStyle/>
          <a:p>
            <a:pPr algn="l">
              <a:lnSpc>
                <a:spcPct val="125000"/>
              </a:lnSpc>
            </a:pPr>
            <a:r>
              <a:rPr sz="930" b="1" i="0">
                <a:solidFill>
                  <a:srgbClr val="102236"/>
                </a:solidFill>
                <a:latin typeface="Arial"/>
              </a:rPr>
              <a:t>Built to your contracts. </a:t>
            </a:r>
            <a:r>
              <a:rPr sz="930" b="0" i="0">
                <a:solidFill>
                  <a:srgbClr val="5B6E82"/>
                </a:solidFill>
                <a:latin typeface="Arial"/>
              </a:rPr>
              <a:t>Real onboarding, real reconciliation, real evidence.</a:t>
            </a:r>
          </a:p>
        </p:txBody>
      </p:sp>
      <p:cxnSp>
        <p:nvCxnSpPr>
          <p:cNvPr id="24" name="Connector 23"/>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26" name="TextBox 25"/>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COMPANY</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Who we are</a:t>
            </a:r>
          </a:p>
        </p:txBody>
      </p:sp>
      <p:sp>
        <p:nvSpPr>
          <p:cNvPr id="4" name="TextBox 3"/>
          <p:cNvSpPr txBox="1"/>
          <p:nvPr/>
        </p:nvSpPr>
        <p:spPr>
          <a:xfrm>
            <a:off x="658368" y="1554480"/>
            <a:ext cx="5989320" cy="924687"/>
          </a:xfrm>
          <a:prstGeom prst="rect">
            <a:avLst/>
          </a:prstGeom>
          <a:noFill/>
        </p:spPr>
        <p:txBody>
          <a:bodyPr wrap="square" lIns="0" tIns="0" rIns="0" bIns="0" anchor="t">
            <a:spAutoFit/>
          </a:bodyPr>
          <a:lstStyle/>
          <a:p>
            <a:pPr algn="l">
              <a:lnSpc>
                <a:spcPct val="135000"/>
              </a:lnSpc>
              <a:spcAft>
                <a:spcPts val="0"/>
              </a:spcAft>
            </a:pPr>
            <a:r>
              <a:rPr sz="1350" b="0" i="0">
                <a:solidFill>
                  <a:srgbClr val="102236"/>
                </a:solidFill>
                <a:latin typeface="Arial"/>
              </a:rPr>
              <a:t>KD PAY LLC is a US-registered payment company for Asian merchants that sell to buyers anywhere. We own the merchant relationship: onboarding, local acquiring partnerships, payouts, disputes and reconciliation.</a:t>
            </a:r>
          </a:p>
        </p:txBody>
      </p:sp>
      <p:sp>
        <p:nvSpPr>
          <p:cNvPr id="5" name="TextBox 4"/>
          <p:cNvSpPr txBox="1"/>
          <p:nvPr/>
        </p:nvSpPr>
        <p:spPr>
          <a:xfrm>
            <a:off x="658368" y="2643759"/>
            <a:ext cx="5989320" cy="2468880"/>
          </a:xfrm>
          <a:prstGeom prst="rect">
            <a:avLst/>
          </a:prstGeom>
          <a:noFill/>
        </p:spPr>
        <p:txBody>
          <a:bodyPr wrap="square" lIns="0" rIns="0" tIns="0" bIns="0">
            <a:spAutoFit/>
          </a:bodyPr>
          <a:lstStyle/>
          <a:p>
            <a:pPr marL="219456" indent="-219456">
              <a:lnSpc>
                <a:spcPct val="116000"/>
              </a:lnSpc>
              <a:spcAft>
                <a:spcPts val="800"/>
              </a:spcAft>
              <a:buClr>
                <a:srgbClr val="00B589"/>
              </a:buClr>
              <a:buFont typeface="Arial"/>
              <a:buChar char="—"/>
            </a:pPr>
            <a:r>
              <a:rPr sz="1120" b="1" i="0">
                <a:solidFill>
                  <a:srgbClr val="102236"/>
                </a:solidFill>
                <a:latin typeface="Arial"/>
              </a:rPr>
              <a:t>Operating history. </a:t>
            </a:r>
            <a:r>
              <a:rPr sz="1120" b="0" i="0">
                <a:solidFill>
                  <a:srgbClr val="102236"/>
                </a:solidFill>
                <a:latin typeface="Arial"/>
              </a:rPr>
              <a:t>Since 2022 through our operating company. KD PAY LLC is the new contracting and processing entity, registered October 2026.</a:t>
            </a:r>
          </a:p>
          <a:p>
            <a:pPr marL="219456" indent="-219456">
              <a:lnSpc>
                <a:spcPct val="116000"/>
              </a:lnSpc>
              <a:spcAft>
                <a:spcPts val="800"/>
              </a:spcAft>
              <a:buClr>
                <a:srgbClr val="00B589"/>
              </a:buClr>
              <a:buFont typeface="Arial"/>
              <a:buChar char="—"/>
            </a:pPr>
            <a:r>
              <a:rPr sz="1120" b="1" i="0">
                <a:solidFill>
                  <a:srgbClr val="102236"/>
                </a:solidFill>
                <a:latin typeface="Arial"/>
              </a:rPr>
              <a:t>Today. </a:t>
            </a:r>
            <a:r>
              <a:rPr sz="1120" b="0" i="0">
                <a:solidFill>
                  <a:srgbClr val="102236"/>
                </a:solidFill>
                <a:latin typeface="Arial"/>
              </a:rPr>
              <a:t>We process through private merchant accounts at incumbent providers — B2B and B2C, card-not-present, USD-first.</a:t>
            </a:r>
          </a:p>
          <a:p>
            <a:pPr marL="219456" indent="-219456">
              <a:lnSpc>
                <a:spcPct val="116000"/>
              </a:lnSpc>
              <a:spcAft>
                <a:spcPts val="800"/>
              </a:spcAft>
              <a:buClr>
                <a:srgbClr val="00B589"/>
              </a:buClr>
              <a:buFont typeface="Arial"/>
              <a:buChar char="—"/>
            </a:pPr>
            <a:r>
              <a:rPr sz="1120" b="1" i="0">
                <a:solidFill>
                  <a:srgbClr val="102236"/>
                </a:solidFill>
                <a:latin typeface="Arial"/>
              </a:rPr>
              <a:t>Why change now. </a:t>
            </a:r>
            <a:r>
              <a:rPr sz="1120" b="0" i="0">
                <a:solidFill>
                  <a:srgbClr val="102236"/>
                </a:solidFill>
                <a:latin typeface="Arial"/>
              </a:rPr>
              <a:t>Private accounts cannot deliver Asian coverage, local payment methods or the economics that let us scale. We want one platform relationship instead of nine.</a:t>
            </a:r>
          </a:p>
          <a:p>
            <a:pPr marL="219456" indent="-219456">
              <a:lnSpc>
                <a:spcPct val="116000"/>
              </a:lnSpc>
              <a:spcAft>
                <a:spcPts val="800"/>
              </a:spcAft>
              <a:buClr>
                <a:srgbClr val="00B589"/>
              </a:buClr>
              <a:buFont typeface="Arial"/>
              <a:buChar char="—"/>
            </a:pPr>
            <a:r>
              <a:rPr sz="1120" b="1" i="0">
                <a:solidFill>
                  <a:srgbClr val="102236"/>
                </a:solidFill>
                <a:latin typeface="Arial"/>
              </a:rPr>
              <a:t>How we work. </a:t>
            </a:r>
            <a:r>
              <a:rPr sz="1120" b="0" i="0">
                <a:solidFill>
                  <a:srgbClr val="102236"/>
                </a:solidFill>
                <a:latin typeface="Arial"/>
              </a:rPr>
              <a:t>A small team that ships, against a written specification. We run merchant operations ourselves — we are not a reseller passing tickets upstream.</a:t>
            </a:r>
          </a:p>
        </p:txBody>
      </p:sp>
      <p:cxnSp>
        <p:nvCxnSpPr>
          <p:cNvPr id="6" name="Connector 5"/>
          <p:cNvCxnSpPr/>
          <p:nvPr/>
        </p:nvCxnSpPr>
        <p:spPr>
          <a:xfrm>
            <a:off x="658368" y="4818888"/>
            <a:ext cx="5715000" cy="0"/>
          </a:xfrm>
          <a:prstGeom prst="line">
            <a:avLst/>
          </a:prstGeom>
          <a:ln w="10160">
            <a:solidFill>
              <a:srgbClr val="DFE6E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4777740"/>
            <a:ext cx="100584" cy="100584"/>
          </a:xfrm>
          <a:prstGeom prst="roundRect">
            <a:avLst>
              <a:gd name="adj" fmla="val 50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4965192"/>
            <a:ext cx="1630680" cy="201168"/>
          </a:xfrm>
          <a:prstGeom prst="rect">
            <a:avLst/>
          </a:prstGeom>
          <a:noFill/>
        </p:spPr>
        <p:txBody>
          <a:bodyPr wrap="square" lIns="0" tIns="0" rIns="0" bIns="0" anchor="t">
            <a:spAutoFit/>
          </a:bodyPr>
          <a:lstStyle/>
          <a:p>
            <a:pPr algn="l">
              <a:lnSpc>
                <a:spcPct val="112000"/>
              </a:lnSpc>
              <a:spcAft>
                <a:spcPts val="0"/>
              </a:spcAft>
            </a:pPr>
            <a:r>
              <a:rPr sz="850" b="1" i="0" spc="110">
                <a:solidFill>
                  <a:srgbClr val="008A69"/>
                </a:solidFill>
                <a:latin typeface="Arial"/>
              </a:rPr>
              <a:t>2022</a:t>
            </a:r>
          </a:p>
        </p:txBody>
      </p:sp>
      <p:sp>
        <p:nvSpPr>
          <p:cNvPr id="9" name="TextBox 8"/>
          <p:cNvSpPr txBox="1"/>
          <p:nvPr/>
        </p:nvSpPr>
        <p:spPr>
          <a:xfrm>
            <a:off x="658368" y="5166360"/>
            <a:ext cx="1630680" cy="365760"/>
          </a:xfrm>
          <a:prstGeom prst="rect">
            <a:avLst/>
          </a:prstGeom>
          <a:noFill/>
        </p:spPr>
        <p:txBody>
          <a:bodyPr wrap="square" lIns="0" tIns="0" rIns="0" bIns="0" anchor="t">
            <a:spAutoFit/>
          </a:bodyPr>
          <a:lstStyle/>
          <a:p>
            <a:pPr algn="l">
              <a:lnSpc>
                <a:spcPct val="118000"/>
              </a:lnSpc>
              <a:spcAft>
                <a:spcPts val="0"/>
              </a:spcAft>
            </a:pPr>
            <a:r>
              <a:rPr sz="919" b="0" i="0">
                <a:solidFill>
                  <a:srgbClr val="5B6E82"/>
                </a:solidFill>
                <a:latin typeface="Arial"/>
              </a:rPr>
              <a:t>Trading starts</a:t>
            </a:r>
          </a:p>
        </p:txBody>
      </p:sp>
      <p:sp>
        <p:nvSpPr>
          <p:cNvPr id="10" name="Rounded Rectangle 9"/>
          <p:cNvSpPr/>
          <p:nvPr/>
        </p:nvSpPr>
        <p:spPr>
          <a:xfrm>
            <a:off x="2563368" y="4777740"/>
            <a:ext cx="100584" cy="100584"/>
          </a:xfrm>
          <a:prstGeom prst="roundRect">
            <a:avLst>
              <a:gd name="adj" fmla="val 50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563368" y="4965192"/>
            <a:ext cx="1630680" cy="201168"/>
          </a:xfrm>
          <a:prstGeom prst="rect">
            <a:avLst/>
          </a:prstGeom>
          <a:noFill/>
        </p:spPr>
        <p:txBody>
          <a:bodyPr wrap="square" lIns="0" tIns="0" rIns="0" bIns="0" anchor="t">
            <a:spAutoFit/>
          </a:bodyPr>
          <a:lstStyle/>
          <a:p>
            <a:pPr algn="l">
              <a:lnSpc>
                <a:spcPct val="112000"/>
              </a:lnSpc>
              <a:spcAft>
                <a:spcPts val="0"/>
              </a:spcAft>
            </a:pPr>
            <a:r>
              <a:rPr sz="850" b="1" i="0" spc="110">
                <a:solidFill>
                  <a:srgbClr val="008A69"/>
                </a:solidFill>
                <a:latin typeface="Arial"/>
              </a:rPr>
              <a:t>OCT 2026</a:t>
            </a:r>
          </a:p>
        </p:txBody>
      </p:sp>
      <p:sp>
        <p:nvSpPr>
          <p:cNvPr id="12" name="TextBox 11"/>
          <p:cNvSpPr txBox="1"/>
          <p:nvPr/>
        </p:nvSpPr>
        <p:spPr>
          <a:xfrm>
            <a:off x="2563368" y="5166360"/>
            <a:ext cx="1630680" cy="365760"/>
          </a:xfrm>
          <a:prstGeom prst="rect">
            <a:avLst/>
          </a:prstGeom>
          <a:noFill/>
        </p:spPr>
        <p:txBody>
          <a:bodyPr wrap="square" lIns="0" tIns="0" rIns="0" bIns="0" anchor="t">
            <a:spAutoFit/>
          </a:bodyPr>
          <a:lstStyle/>
          <a:p>
            <a:pPr algn="l">
              <a:lnSpc>
                <a:spcPct val="118000"/>
              </a:lnSpc>
              <a:spcAft>
                <a:spcPts val="0"/>
              </a:spcAft>
            </a:pPr>
            <a:r>
              <a:rPr sz="919" b="0" i="0">
                <a:solidFill>
                  <a:srgbClr val="5B6E82"/>
                </a:solidFill>
                <a:latin typeface="Arial"/>
              </a:rPr>
              <a:t>KD PAY LLC registered</a:t>
            </a:r>
          </a:p>
        </p:txBody>
      </p:sp>
      <p:sp>
        <p:nvSpPr>
          <p:cNvPr id="13" name="Rounded Rectangle 12"/>
          <p:cNvSpPr/>
          <p:nvPr/>
        </p:nvSpPr>
        <p:spPr>
          <a:xfrm>
            <a:off x="4468368" y="4777740"/>
            <a:ext cx="100584" cy="100584"/>
          </a:xfrm>
          <a:prstGeom prst="roundRect">
            <a:avLst>
              <a:gd name="adj" fmla="val 50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68368" y="4965192"/>
            <a:ext cx="1630680" cy="201168"/>
          </a:xfrm>
          <a:prstGeom prst="rect">
            <a:avLst/>
          </a:prstGeom>
          <a:noFill/>
        </p:spPr>
        <p:txBody>
          <a:bodyPr wrap="square" lIns="0" tIns="0" rIns="0" bIns="0" anchor="t">
            <a:spAutoFit/>
          </a:bodyPr>
          <a:lstStyle/>
          <a:p>
            <a:pPr algn="l">
              <a:lnSpc>
                <a:spcPct val="112000"/>
              </a:lnSpc>
              <a:spcAft>
                <a:spcPts val="0"/>
              </a:spcAft>
            </a:pPr>
            <a:r>
              <a:rPr sz="850" b="1" i="0" spc="110">
                <a:solidFill>
                  <a:srgbClr val="008A69"/>
                </a:solidFill>
                <a:latin typeface="Arial"/>
              </a:rPr>
              <a:t>NEXT</a:t>
            </a:r>
          </a:p>
        </p:txBody>
      </p:sp>
      <p:sp>
        <p:nvSpPr>
          <p:cNvPr id="15" name="TextBox 14"/>
          <p:cNvSpPr txBox="1"/>
          <p:nvPr/>
        </p:nvSpPr>
        <p:spPr>
          <a:xfrm>
            <a:off x="4468368" y="5166360"/>
            <a:ext cx="1630680" cy="365760"/>
          </a:xfrm>
          <a:prstGeom prst="rect">
            <a:avLst/>
          </a:prstGeom>
          <a:noFill/>
        </p:spPr>
        <p:txBody>
          <a:bodyPr wrap="square" lIns="0" tIns="0" rIns="0" bIns="0" anchor="t">
            <a:spAutoFit/>
          </a:bodyPr>
          <a:lstStyle/>
          <a:p>
            <a:pPr algn="l">
              <a:lnSpc>
                <a:spcPct val="118000"/>
              </a:lnSpc>
              <a:spcAft>
                <a:spcPts val="0"/>
              </a:spcAft>
            </a:pPr>
            <a:r>
              <a:rPr sz="919" b="0" i="0">
                <a:solidFill>
                  <a:srgbClr val="5B6E82"/>
                </a:solidFill>
                <a:latin typeface="Arial"/>
              </a:rPr>
              <a:t>White-label launch</a:t>
            </a:r>
          </a:p>
        </p:txBody>
      </p:sp>
      <p:sp>
        <p:nvSpPr>
          <p:cNvPr id="16" name="Rounded Rectangle 15"/>
          <p:cNvSpPr/>
          <p:nvPr/>
        </p:nvSpPr>
        <p:spPr>
          <a:xfrm>
            <a:off x="7150607" y="1508760"/>
            <a:ext cx="4382719" cy="411480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24927" y="1737360"/>
            <a:ext cx="3834079" cy="219456"/>
          </a:xfrm>
          <a:prstGeom prst="rect">
            <a:avLst/>
          </a:prstGeom>
          <a:noFill/>
        </p:spPr>
        <p:txBody>
          <a:bodyPr wrap="square" lIns="0" tIns="0" rIns="0" bIns="0" anchor="t">
            <a:spAutoFit/>
          </a:bodyPr>
          <a:lstStyle/>
          <a:p>
            <a:pPr algn="l">
              <a:lnSpc>
                <a:spcPct val="112000"/>
              </a:lnSpc>
              <a:spcAft>
                <a:spcPts val="0"/>
              </a:spcAft>
            </a:pPr>
            <a:r>
              <a:rPr sz="950" b="1" i="0" spc="140">
                <a:solidFill>
                  <a:srgbClr val="5B6E82"/>
                </a:solidFill>
                <a:latin typeface="Arial"/>
              </a:rPr>
              <a:t>AT A GLANCE</a:t>
            </a:r>
          </a:p>
        </p:txBody>
      </p:sp>
      <p:sp>
        <p:nvSpPr>
          <p:cNvPr id="18" name="TextBox 17"/>
          <p:cNvSpPr txBox="1"/>
          <p:nvPr/>
        </p:nvSpPr>
        <p:spPr>
          <a:xfrm>
            <a:off x="7424927" y="207568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LEGAL ENTITY</a:t>
            </a:r>
          </a:p>
        </p:txBody>
      </p:sp>
      <p:sp>
        <p:nvSpPr>
          <p:cNvPr id="19" name="TextBox 18"/>
          <p:cNvSpPr txBox="1"/>
          <p:nvPr/>
        </p:nvSpPr>
        <p:spPr>
          <a:xfrm>
            <a:off x="7424927" y="2258568"/>
            <a:ext cx="3834079" cy="274320"/>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KD PAY LLC (US)</a:t>
            </a:r>
          </a:p>
        </p:txBody>
      </p:sp>
      <p:sp>
        <p:nvSpPr>
          <p:cNvPr id="20" name="TextBox 19"/>
          <p:cNvSpPr txBox="1"/>
          <p:nvPr/>
        </p:nvSpPr>
        <p:spPr>
          <a:xfrm>
            <a:off x="7424927" y="257860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OPERATING SINCE</a:t>
            </a:r>
          </a:p>
        </p:txBody>
      </p:sp>
      <p:sp>
        <p:nvSpPr>
          <p:cNvPr id="21" name="TextBox 20"/>
          <p:cNvSpPr txBox="1"/>
          <p:nvPr/>
        </p:nvSpPr>
        <p:spPr>
          <a:xfrm>
            <a:off x="7424927" y="2761488"/>
            <a:ext cx="3834079" cy="274320"/>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2022</a:t>
            </a:r>
          </a:p>
        </p:txBody>
      </p:sp>
      <p:sp>
        <p:nvSpPr>
          <p:cNvPr id="22" name="TextBox 21"/>
          <p:cNvSpPr txBox="1"/>
          <p:nvPr/>
        </p:nvSpPr>
        <p:spPr>
          <a:xfrm>
            <a:off x="7424927" y="308152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MODEL SOUGHT</a:t>
            </a:r>
          </a:p>
        </p:txBody>
      </p:sp>
      <p:sp>
        <p:nvSpPr>
          <p:cNvPr id="23" name="TextBox 22"/>
          <p:cNvSpPr txBox="1"/>
          <p:nvPr/>
        </p:nvSpPr>
        <p:spPr>
          <a:xfrm>
            <a:off x="7424927" y="3264408"/>
            <a:ext cx="3834079" cy="274320"/>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White-label / merchant of record</a:t>
            </a:r>
          </a:p>
        </p:txBody>
      </p:sp>
      <p:sp>
        <p:nvSpPr>
          <p:cNvPr id="24" name="TextBox 23"/>
          <p:cNvSpPr txBox="1"/>
          <p:nvPr/>
        </p:nvSpPr>
        <p:spPr>
          <a:xfrm>
            <a:off x="7424927" y="358444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MONTHLY VOLUME</a:t>
            </a:r>
          </a:p>
        </p:txBody>
      </p:sp>
      <p:sp>
        <p:nvSpPr>
          <p:cNvPr id="25" name="TextBox 24"/>
          <p:cNvSpPr txBox="1"/>
          <p:nvPr/>
        </p:nvSpPr>
        <p:spPr>
          <a:xfrm>
            <a:off x="7424927" y="3767328"/>
            <a:ext cx="3834079" cy="274320"/>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 $800,000</a:t>
            </a:r>
          </a:p>
        </p:txBody>
      </p:sp>
      <p:sp>
        <p:nvSpPr>
          <p:cNvPr id="26" name="TextBox 25"/>
          <p:cNvSpPr txBox="1"/>
          <p:nvPr/>
        </p:nvSpPr>
        <p:spPr>
          <a:xfrm>
            <a:off x="7424927" y="408736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CHARGEBACK RATIO</a:t>
            </a:r>
          </a:p>
        </p:txBody>
      </p:sp>
      <p:sp>
        <p:nvSpPr>
          <p:cNvPr id="27" name="TextBox 26"/>
          <p:cNvSpPr txBox="1"/>
          <p:nvPr/>
        </p:nvSpPr>
        <p:spPr>
          <a:xfrm>
            <a:off x="7424927" y="4270248"/>
            <a:ext cx="3834079" cy="274320"/>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0.01%</a:t>
            </a:r>
          </a:p>
        </p:txBody>
      </p:sp>
      <p:sp>
        <p:nvSpPr>
          <p:cNvPr id="28" name="TextBox 27"/>
          <p:cNvSpPr txBox="1"/>
          <p:nvPr/>
        </p:nvSpPr>
        <p:spPr>
          <a:xfrm>
            <a:off x="7424927" y="459028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MERCHANT MIX</a:t>
            </a:r>
          </a:p>
        </p:txBody>
      </p:sp>
      <p:sp>
        <p:nvSpPr>
          <p:cNvPr id="29" name="TextBox 28"/>
          <p:cNvSpPr txBox="1"/>
          <p:nvPr/>
        </p:nvSpPr>
        <p:spPr>
          <a:xfrm>
            <a:off x="7424927" y="4773168"/>
            <a:ext cx="3834079" cy="274320"/>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B2B and B2C, card-not-present</a:t>
            </a:r>
          </a:p>
        </p:txBody>
      </p:sp>
      <p:sp>
        <p:nvSpPr>
          <p:cNvPr id="30" name="TextBox 29"/>
          <p:cNvSpPr txBox="1"/>
          <p:nvPr/>
        </p:nvSpPr>
        <p:spPr>
          <a:xfrm>
            <a:off x="7424927" y="5093207"/>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TARGET MARKETS</a:t>
            </a:r>
          </a:p>
        </p:txBody>
      </p:sp>
      <p:sp>
        <p:nvSpPr>
          <p:cNvPr id="31" name="TextBox 30"/>
          <p:cNvSpPr txBox="1"/>
          <p:nvPr/>
        </p:nvSpPr>
        <p:spPr>
          <a:xfrm>
            <a:off x="7424927" y="5276088"/>
            <a:ext cx="3834079" cy="274320"/>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Asia, EU/UK, US, LatAm</a:t>
            </a:r>
          </a:p>
        </p:txBody>
      </p:sp>
      <p:cxnSp>
        <p:nvCxnSpPr>
          <p:cNvPr id="32" name="Connector 31"/>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34" name="TextBox 33"/>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THE OPPORTUNITY</a:t>
            </a:r>
          </a:p>
        </p:txBody>
      </p:sp>
      <p:sp>
        <p:nvSpPr>
          <p:cNvPr id="3" name="TextBox 2"/>
          <p:cNvSpPr txBox="1"/>
          <p:nvPr/>
        </p:nvSpPr>
        <p:spPr>
          <a:xfrm>
            <a:off x="658368" y="749808"/>
            <a:ext cx="10874959" cy="850392"/>
          </a:xfrm>
          <a:prstGeom prst="rect">
            <a:avLst/>
          </a:prstGeom>
          <a:noFill/>
        </p:spPr>
        <p:txBody>
          <a:bodyPr wrap="square" lIns="0" tIns="0" rIns="0" bIns="0" anchor="t">
            <a:spAutoFit/>
          </a:bodyPr>
          <a:lstStyle/>
          <a:p>
            <a:pPr algn="l">
              <a:lnSpc>
                <a:spcPct val="102000"/>
              </a:lnSpc>
              <a:spcAft>
                <a:spcPts val="0"/>
              </a:spcAft>
            </a:pPr>
            <a:r>
              <a:rPr sz="2700" b="1" i="0">
                <a:solidFill>
                  <a:srgbClr val="102236"/>
                </a:solidFill>
                <a:latin typeface="Arial"/>
              </a:rPr>
              <a:t>Asian merchants can sell globally. They cannot get paid globally.</a:t>
            </a:r>
          </a:p>
        </p:txBody>
      </p:sp>
      <p:sp>
        <p:nvSpPr>
          <p:cNvPr id="4" name="TextBox 3"/>
          <p:cNvSpPr txBox="1"/>
          <p:nvPr/>
        </p:nvSpPr>
        <p:spPr>
          <a:xfrm>
            <a:off x="658368" y="1680667"/>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The constraint is not demand. It is acceptance infrastructure — and it is why merchants leave their current providers.</a:t>
            </a:r>
          </a:p>
        </p:txBody>
      </p:sp>
      <p:sp>
        <p:nvSpPr>
          <p:cNvPr id="5" name="Rounded Rectangle 4"/>
          <p:cNvSpPr/>
          <p:nvPr/>
        </p:nvSpPr>
        <p:spPr>
          <a:xfrm>
            <a:off x="658368" y="2537917"/>
            <a:ext cx="2547289" cy="239572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58368" y="2537917"/>
            <a:ext cx="2547289" cy="457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59536" y="2720797"/>
            <a:ext cx="2144953" cy="457200"/>
          </a:xfrm>
          <a:prstGeom prst="rect">
            <a:avLst/>
          </a:prstGeom>
          <a:noFill/>
        </p:spPr>
        <p:txBody>
          <a:bodyPr wrap="square" lIns="0" tIns="0" rIns="0" bIns="0" anchor="t">
            <a:spAutoFit/>
          </a:bodyPr>
          <a:lstStyle/>
          <a:p>
            <a:pPr algn="l">
              <a:lnSpc>
                <a:spcPct val="105000"/>
              </a:lnSpc>
              <a:spcAft>
                <a:spcPts val="0"/>
              </a:spcAft>
            </a:pPr>
            <a:r>
              <a:rPr sz="1250" b="1" i="0">
                <a:solidFill>
                  <a:srgbClr val="102236"/>
                </a:solidFill>
                <a:latin typeface="Arial"/>
              </a:rPr>
              <a:t>No local entity</a:t>
            </a:r>
          </a:p>
        </p:txBody>
      </p:sp>
      <p:sp>
        <p:nvSpPr>
          <p:cNvPr id="8" name="TextBox 7"/>
          <p:cNvSpPr txBox="1"/>
          <p:nvPr/>
        </p:nvSpPr>
        <p:spPr>
          <a:xfrm>
            <a:off x="859536" y="3177997"/>
            <a:ext cx="2144953" cy="1005840"/>
          </a:xfrm>
          <a:prstGeom prst="rect">
            <a:avLst/>
          </a:prstGeom>
          <a:noFill/>
        </p:spPr>
        <p:txBody>
          <a:bodyPr wrap="square" lIns="0" tIns="0" rIns="0" bIns="0" anchor="t">
            <a:spAutoFit/>
          </a:bodyPr>
          <a:lstStyle/>
          <a:p>
            <a:pPr algn="l">
              <a:lnSpc>
                <a:spcPct val="128000"/>
              </a:lnSpc>
              <a:spcAft>
                <a:spcPts val="0"/>
              </a:spcAft>
            </a:pPr>
            <a:r>
              <a:rPr sz="1000" b="0" i="0">
                <a:solidFill>
                  <a:srgbClr val="5B6E82"/>
                </a:solidFill>
                <a:latin typeface="Arial"/>
              </a:rPr>
              <a:t>A merchant in Dhaka cannot open a local acquiring relationship. Offshore accounts mean materially higher declines.</a:t>
            </a:r>
          </a:p>
        </p:txBody>
      </p:sp>
      <p:cxnSp>
        <p:nvCxnSpPr>
          <p:cNvPr id="9" name="Connector 8"/>
          <p:cNvCxnSpPr/>
          <p:nvPr/>
        </p:nvCxnSpPr>
        <p:spPr>
          <a:xfrm>
            <a:off x="859536" y="4256989"/>
            <a:ext cx="2144953" cy="0"/>
          </a:xfrm>
          <a:prstGeom prst="line">
            <a:avLst/>
          </a:prstGeom>
          <a:ln w="8890">
            <a:solidFill>
              <a:srgbClr val="DFE6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9536" y="4366717"/>
            <a:ext cx="2144953" cy="384048"/>
          </a:xfrm>
          <a:prstGeom prst="rect">
            <a:avLst/>
          </a:prstGeom>
          <a:noFill/>
        </p:spPr>
        <p:txBody>
          <a:bodyPr wrap="square" lIns="0" tIns="0" rIns="0" bIns="0" anchor="t">
            <a:spAutoFit/>
          </a:bodyPr>
          <a:lstStyle/>
          <a:p>
            <a:pPr algn="l">
              <a:lnSpc>
                <a:spcPct val="115000"/>
              </a:lnSpc>
              <a:spcAft>
                <a:spcPts val="0"/>
              </a:spcAft>
            </a:pPr>
            <a:r>
              <a:rPr sz="880" b="1" i="0">
                <a:solidFill>
                  <a:srgbClr val="008A69"/>
                </a:solidFill>
                <a:latin typeface="Arial"/>
              </a:rPr>
              <a:t>Declines on the cross-border attempt</a:t>
            </a:r>
          </a:p>
        </p:txBody>
      </p:sp>
      <p:sp>
        <p:nvSpPr>
          <p:cNvPr id="11" name="Rounded Rectangle 10"/>
          <p:cNvSpPr/>
          <p:nvPr/>
        </p:nvSpPr>
        <p:spPr>
          <a:xfrm>
            <a:off x="3434257" y="2537917"/>
            <a:ext cx="2547289" cy="239572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34257" y="2537917"/>
            <a:ext cx="2547289" cy="457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35425" y="2720797"/>
            <a:ext cx="2144953" cy="457200"/>
          </a:xfrm>
          <a:prstGeom prst="rect">
            <a:avLst/>
          </a:prstGeom>
          <a:noFill/>
        </p:spPr>
        <p:txBody>
          <a:bodyPr wrap="square" lIns="0" tIns="0" rIns="0" bIns="0" anchor="t">
            <a:spAutoFit/>
          </a:bodyPr>
          <a:lstStyle/>
          <a:p>
            <a:pPr algn="l">
              <a:lnSpc>
                <a:spcPct val="105000"/>
              </a:lnSpc>
              <a:spcAft>
                <a:spcPts val="0"/>
              </a:spcAft>
            </a:pPr>
            <a:r>
              <a:rPr sz="1250" b="1" i="0">
                <a:solidFill>
                  <a:srgbClr val="102236"/>
                </a:solidFill>
                <a:latin typeface="Arial"/>
              </a:rPr>
              <a:t>Currency and settlement</a:t>
            </a:r>
          </a:p>
        </p:txBody>
      </p:sp>
      <p:sp>
        <p:nvSpPr>
          <p:cNvPr id="14" name="TextBox 13"/>
          <p:cNvSpPr txBox="1"/>
          <p:nvPr/>
        </p:nvSpPr>
        <p:spPr>
          <a:xfrm>
            <a:off x="3635425" y="3177997"/>
            <a:ext cx="2144953" cy="1005840"/>
          </a:xfrm>
          <a:prstGeom prst="rect">
            <a:avLst/>
          </a:prstGeom>
          <a:noFill/>
        </p:spPr>
        <p:txBody>
          <a:bodyPr wrap="square" lIns="0" tIns="0" rIns="0" bIns="0" anchor="t">
            <a:spAutoFit/>
          </a:bodyPr>
          <a:lstStyle/>
          <a:p>
            <a:pPr algn="l">
              <a:lnSpc>
                <a:spcPct val="128000"/>
              </a:lnSpc>
              <a:spcAft>
                <a:spcPts val="0"/>
              </a:spcAft>
            </a:pPr>
            <a:r>
              <a:rPr sz="1000" b="0" i="0">
                <a:solidFill>
                  <a:srgbClr val="5B6E82"/>
                </a:solidFill>
                <a:latin typeface="Arial"/>
              </a:rPr>
              <a:t>Paid in USD, converted twice, settled in 5–10 days. The FX margin is invisible until someone reconciles.</a:t>
            </a:r>
          </a:p>
        </p:txBody>
      </p:sp>
      <p:cxnSp>
        <p:nvCxnSpPr>
          <p:cNvPr id="15" name="Connector 14"/>
          <p:cNvCxnSpPr/>
          <p:nvPr/>
        </p:nvCxnSpPr>
        <p:spPr>
          <a:xfrm>
            <a:off x="3635425" y="4256989"/>
            <a:ext cx="2144954" cy="0"/>
          </a:xfrm>
          <a:prstGeom prst="line">
            <a:avLst/>
          </a:prstGeom>
          <a:ln w="8890">
            <a:solidFill>
              <a:srgbClr val="DFE6E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35425" y="4366717"/>
            <a:ext cx="2144953" cy="384048"/>
          </a:xfrm>
          <a:prstGeom prst="rect">
            <a:avLst/>
          </a:prstGeom>
          <a:noFill/>
        </p:spPr>
        <p:txBody>
          <a:bodyPr wrap="square" lIns="0" tIns="0" rIns="0" bIns="0" anchor="t">
            <a:spAutoFit/>
          </a:bodyPr>
          <a:lstStyle/>
          <a:p>
            <a:pPr algn="l">
              <a:lnSpc>
                <a:spcPct val="115000"/>
              </a:lnSpc>
              <a:spcAft>
                <a:spcPts val="0"/>
              </a:spcAft>
            </a:pPr>
            <a:r>
              <a:rPr sz="880" b="1" i="0">
                <a:solidFill>
                  <a:srgbClr val="008A69"/>
                </a:solidFill>
                <a:latin typeface="Arial"/>
              </a:rPr>
              <a:t>Double conversion, invisible margin</a:t>
            </a:r>
          </a:p>
        </p:txBody>
      </p:sp>
      <p:sp>
        <p:nvSpPr>
          <p:cNvPr id="17" name="Rounded Rectangle 16"/>
          <p:cNvSpPr/>
          <p:nvPr/>
        </p:nvSpPr>
        <p:spPr>
          <a:xfrm>
            <a:off x="6210147" y="2537917"/>
            <a:ext cx="2547289" cy="239572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10147" y="2537917"/>
            <a:ext cx="2547289" cy="457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11315" y="2720797"/>
            <a:ext cx="2144953" cy="457200"/>
          </a:xfrm>
          <a:prstGeom prst="rect">
            <a:avLst/>
          </a:prstGeom>
          <a:noFill/>
        </p:spPr>
        <p:txBody>
          <a:bodyPr wrap="square" lIns="0" tIns="0" rIns="0" bIns="0" anchor="t">
            <a:spAutoFit/>
          </a:bodyPr>
          <a:lstStyle/>
          <a:p>
            <a:pPr algn="l">
              <a:lnSpc>
                <a:spcPct val="105000"/>
              </a:lnSpc>
              <a:spcAft>
                <a:spcPts val="0"/>
              </a:spcAft>
            </a:pPr>
            <a:r>
              <a:rPr sz="1250" b="1" i="0">
                <a:solidFill>
                  <a:srgbClr val="102236"/>
                </a:solidFill>
                <a:latin typeface="Arial"/>
              </a:rPr>
              <a:t>Local methods missing</a:t>
            </a:r>
          </a:p>
        </p:txBody>
      </p:sp>
      <p:sp>
        <p:nvSpPr>
          <p:cNvPr id="20" name="TextBox 19"/>
          <p:cNvSpPr txBox="1"/>
          <p:nvPr/>
        </p:nvSpPr>
        <p:spPr>
          <a:xfrm>
            <a:off x="6411315" y="3177997"/>
            <a:ext cx="2144953" cy="1005840"/>
          </a:xfrm>
          <a:prstGeom prst="rect">
            <a:avLst/>
          </a:prstGeom>
          <a:noFill/>
        </p:spPr>
        <p:txBody>
          <a:bodyPr wrap="square" lIns="0" tIns="0" rIns="0" bIns="0" anchor="t">
            <a:spAutoFit/>
          </a:bodyPr>
          <a:lstStyle/>
          <a:p>
            <a:pPr algn="l">
              <a:lnSpc>
                <a:spcPct val="128000"/>
              </a:lnSpc>
              <a:spcAft>
                <a:spcPts val="0"/>
              </a:spcAft>
            </a:pPr>
            <a:r>
              <a:rPr sz="1000" b="0" i="0">
                <a:solidFill>
                  <a:srgbClr val="5B6E82"/>
                </a:solidFill>
                <a:latin typeface="Arial"/>
              </a:rPr>
              <a:t>Bank transfer, wallets and local schemes are how Asia pays. No single gateway covers three markets well.</a:t>
            </a:r>
          </a:p>
        </p:txBody>
      </p:sp>
      <p:cxnSp>
        <p:nvCxnSpPr>
          <p:cNvPr id="21" name="Connector 20"/>
          <p:cNvCxnSpPr/>
          <p:nvPr/>
        </p:nvCxnSpPr>
        <p:spPr>
          <a:xfrm>
            <a:off x="6411315" y="4256989"/>
            <a:ext cx="2144954" cy="0"/>
          </a:xfrm>
          <a:prstGeom prst="line">
            <a:avLst/>
          </a:prstGeom>
          <a:ln w="8890">
            <a:solidFill>
              <a:srgbClr val="DFE6E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11315" y="4366717"/>
            <a:ext cx="2144953" cy="384048"/>
          </a:xfrm>
          <a:prstGeom prst="rect">
            <a:avLst/>
          </a:prstGeom>
          <a:noFill/>
        </p:spPr>
        <p:txBody>
          <a:bodyPr wrap="square" lIns="0" tIns="0" rIns="0" bIns="0" anchor="t">
            <a:spAutoFit/>
          </a:bodyPr>
          <a:lstStyle/>
          <a:p>
            <a:pPr algn="l">
              <a:lnSpc>
                <a:spcPct val="115000"/>
              </a:lnSpc>
              <a:spcAft>
                <a:spcPts val="0"/>
              </a:spcAft>
            </a:pPr>
            <a:r>
              <a:rPr sz="880" b="1" i="0">
                <a:solidFill>
                  <a:srgbClr val="008A69"/>
                </a:solidFill>
                <a:latin typeface="Arial"/>
              </a:rPr>
              <a:t>Abandonment at the payment step</a:t>
            </a:r>
          </a:p>
        </p:txBody>
      </p:sp>
      <p:sp>
        <p:nvSpPr>
          <p:cNvPr id="23" name="Rounded Rectangle 22"/>
          <p:cNvSpPr/>
          <p:nvPr/>
        </p:nvSpPr>
        <p:spPr>
          <a:xfrm>
            <a:off x="8986037" y="2537917"/>
            <a:ext cx="2547289" cy="239572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986037" y="2537917"/>
            <a:ext cx="2547289" cy="457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87205" y="2720797"/>
            <a:ext cx="2144953" cy="457200"/>
          </a:xfrm>
          <a:prstGeom prst="rect">
            <a:avLst/>
          </a:prstGeom>
          <a:noFill/>
        </p:spPr>
        <p:txBody>
          <a:bodyPr wrap="square" lIns="0" tIns="0" rIns="0" bIns="0" anchor="t">
            <a:spAutoFit/>
          </a:bodyPr>
          <a:lstStyle/>
          <a:p>
            <a:pPr algn="l">
              <a:lnSpc>
                <a:spcPct val="105000"/>
              </a:lnSpc>
              <a:spcAft>
                <a:spcPts val="0"/>
              </a:spcAft>
            </a:pPr>
            <a:r>
              <a:rPr sz="1250" b="1" i="0">
                <a:solidFill>
                  <a:srgbClr val="102236"/>
                </a:solidFill>
                <a:latin typeface="Arial"/>
              </a:rPr>
              <a:t>Onboarding friction</a:t>
            </a:r>
          </a:p>
        </p:txBody>
      </p:sp>
      <p:sp>
        <p:nvSpPr>
          <p:cNvPr id="26" name="TextBox 25"/>
          <p:cNvSpPr txBox="1"/>
          <p:nvPr/>
        </p:nvSpPr>
        <p:spPr>
          <a:xfrm>
            <a:off x="9187205" y="3177997"/>
            <a:ext cx="2144953" cy="1005840"/>
          </a:xfrm>
          <a:prstGeom prst="rect">
            <a:avLst/>
          </a:prstGeom>
          <a:noFill/>
        </p:spPr>
        <p:txBody>
          <a:bodyPr wrap="square" lIns="0" tIns="0" rIns="0" bIns="0" anchor="t">
            <a:spAutoFit/>
          </a:bodyPr>
          <a:lstStyle/>
          <a:p>
            <a:pPr algn="l">
              <a:lnSpc>
                <a:spcPct val="128000"/>
              </a:lnSpc>
              <a:spcAft>
                <a:spcPts val="0"/>
              </a:spcAft>
            </a:pPr>
            <a:r>
              <a:rPr sz="1000" b="0" i="0">
                <a:solidFill>
                  <a:srgbClr val="5B6E82"/>
                </a:solidFill>
                <a:latin typeface="Arial"/>
              </a:rPr>
              <a:t>Every provider repeats KYB, demands reserves, takes weeks. Merchants give up or route volume elsewhere.</a:t>
            </a:r>
          </a:p>
        </p:txBody>
      </p:sp>
      <p:cxnSp>
        <p:nvCxnSpPr>
          <p:cNvPr id="27" name="Connector 26"/>
          <p:cNvCxnSpPr/>
          <p:nvPr/>
        </p:nvCxnSpPr>
        <p:spPr>
          <a:xfrm>
            <a:off x="9187205" y="4256989"/>
            <a:ext cx="2144954" cy="0"/>
          </a:xfrm>
          <a:prstGeom prst="line">
            <a:avLst/>
          </a:prstGeom>
          <a:ln w="8890">
            <a:solidFill>
              <a:srgbClr val="DFE6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187205" y="4366717"/>
            <a:ext cx="2144953" cy="384048"/>
          </a:xfrm>
          <a:prstGeom prst="rect">
            <a:avLst/>
          </a:prstGeom>
          <a:noFill/>
        </p:spPr>
        <p:txBody>
          <a:bodyPr wrap="square" lIns="0" tIns="0" rIns="0" bIns="0" anchor="t">
            <a:spAutoFit/>
          </a:bodyPr>
          <a:lstStyle/>
          <a:p>
            <a:pPr algn="l">
              <a:lnSpc>
                <a:spcPct val="115000"/>
              </a:lnSpc>
              <a:spcAft>
                <a:spcPts val="0"/>
              </a:spcAft>
            </a:pPr>
            <a:r>
              <a:rPr sz="880" b="1" i="0">
                <a:solidFill>
                  <a:srgbClr val="008A69"/>
                </a:solidFill>
                <a:latin typeface="Arial"/>
              </a:rPr>
              <a:t>Weeks of underwriting, repeated</a:t>
            </a:r>
          </a:p>
        </p:txBody>
      </p:sp>
      <p:sp>
        <p:nvSpPr>
          <p:cNvPr id="29" name="Rounded Rectangle 28"/>
          <p:cNvSpPr/>
          <p:nvPr/>
        </p:nvSpPr>
        <p:spPr>
          <a:xfrm>
            <a:off x="658368" y="5079949"/>
            <a:ext cx="10874959" cy="777240"/>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78407" y="5235397"/>
            <a:ext cx="10234879" cy="530352"/>
          </a:xfrm>
          <a:prstGeom prst="rect">
            <a:avLst/>
          </a:prstGeom>
          <a:noFill/>
        </p:spPr>
        <p:txBody>
          <a:bodyPr wrap="square" lIns="0" tIns="0" rIns="0" bIns="0" anchor="t">
            <a:spAutoFit/>
          </a:bodyPr>
          <a:lstStyle/>
          <a:p>
            <a:pPr algn="l">
              <a:lnSpc>
                <a:spcPct val="120000"/>
              </a:lnSpc>
              <a:spcAft>
                <a:spcPts val="0"/>
              </a:spcAft>
            </a:pPr>
            <a:r>
              <a:rPr sz="1300" b="0" i="0">
                <a:solidFill>
                  <a:srgbClr val="FFFFFF"/>
                </a:solidFill>
                <a:latin typeface="Arial"/>
              </a:rPr>
              <a:t>Merchants do not need another dashboard. They need one relationship that accepts money where their buyers are, and pays them where they bank.</a:t>
            </a:r>
          </a:p>
        </p:txBody>
      </p:sp>
      <p:cxnSp>
        <p:nvCxnSpPr>
          <p:cNvPr id="31" name="Connector 30"/>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33" name="TextBox 32"/>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GO-TO-MARKET</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Asia first, then the world</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Density in a few corridors beats thin coverage everywhere. A corridor opens only when you confirm coverage.</a:t>
            </a:r>
          </a:p>
        </p:txBody>
      </p:sp>
      <p:sp>
        <p:nvSpPr>
          <p:cNvPr id="5" name="Rounded Rectangle 4"/>
          <p:cNvSpPr/>
          <p:nvPr/>
        </p:nvSpPr>
        <p:spPr>
          <a:xfrm>
            <a:off x="658368" y="1836801"/>
            <a:ext cx="4663440" cy="9418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86968" y="1937385"/>
            <a:ext cx="4206240" cy="201168"/>
          </a:xfrm>
          <a:prstGeom prst="rect">
            <a:avLst/>
          </a:prstGeom>
          <a:noFill/>
        </p:spPr>
        <p:txBody>
          <a:bodyPr wrap="square" lIns="0" tIns="0" rIns="0" bIns="0" anchor="t">
            <a:spAutoFit/>
          </a:bodyPr>
          <a:lstStyle/>
          <a:p>
            <a:pPr algn="l">
              <a:lnSpc>
                <a:spcPct val="112000"/>
              </a:lnSpc>
              <a:spcAft>
                <a:spcPts val="0"/>
              </a:spcAft>
            </a:pPr>
            <a:r>
              <a:rPr sz="919" b="1" i="0" spc="120">
                <a:solidFill>
                  <a:srgbClr val="008A69"/>
                </a:solidFill>
                <a:latin typeface="Arial"/>
              </a:rPr>
              <a:t>SOUTH ASIA</a:t>
            </a:r>
          </a:p>
        </p:txBody>
      </p:sp>
      <p:sp>
        <p:nvSpPr>
          <p:cNvPr id="7" name="TextBox 6"/>
          <p:cNvSpPr txBox="1"/>
          <p:nvPr/>
        </p:nvSpPr>
        <p:spPr>
          <a:xfrm>
            <a:off x="886968" y="2156841"/>
            <a:ext cx="4206240"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Bangladesh · India · Pakistan · Sri Lanka</a:t>
            </a:r>
          </a:p>
        </p:txBody>
      </p:sp>
      <p:sp>
        <p:nvSpPr>
          <p:cNvPr id="8" name="TextBox 7"/>
          <p:cNvSpPr txBox="1"/>
          <p:nvPr/>
        </p:nvSpPr>
        <p:spPr>
          <a:xfrm>
            <a:off x="886968" y="2431161"/>
            <a:ext cx="4206240" cy="256032"/>
          </a:xfrm>
          <a:prstGeom prst="rect">
            <a:avLst/>
          </a:prstGeom>
          <a:noFill/>
        </p:spPr>
        <p:txBody>
          <a:bodyPr wrap="square" lIns="0" tIns="0" rIns="0" bIns="0" anchor="t">
            <a:spAutoFit/>
          </a:bodyPr>
          <a:lstStyle/>
          <a:p>
            <a:pPr algn="l">
              <a:lnSpc>
                <a:spcPct val="112000"/>
              </a:lnSpc>
              <a:spcAft>
                <a:spcPts val="0"/>
              </a:spcAft>
            </a:pPr>
            <a:r>
              <a:rPr sz="880" b="0" i="0">
                <a:solidFill>
                  <a:srgbClr val="5B6E82"/>
                </a:solidFill>
                <a:latin typeface="Arial"/>
              </a:rPr>
              <a:t>Cards, local bank transfer, wallets — the largest underserved merchant base</a:t>
            </a:r>
          </a:p>
        </p:txBody>
      </p:sp>
      <p:sp>
        <p:nvSpPr>
          <p:cNvPr id="9" name="Rounded Rectangle 8"/>
          <p:cNvSpPr/>
          <p:nvPr/>
        </p:nvSpPr>
        <p:spPr>
          <a:xfrm>
            <a:off x="658368" y="2870073"/>
            <a:ext cx="4663440" cy="9418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86968" y="2970657"/>
            <a:ext cx="4206240" cy="201168"/>
          </a:xfrm>
          <a:prstGeom prst="rect">
            <a:avLst/>
          </a:prstGeom>
          <a:noFill/>
        </p:spPr>
        <p:txBody>
          <a:bodyPr wrap="square" lIns="0" tIns="0" rIns="0" bIns="0" anchor="t">
            <a:spAutoFit/>
          </a:bodyPr>
          <a:lstStyle/>
          <a:p>
            <a:pPr algn="l">
              <a:lnSpc>
                <a:spcPct val="112000"/>
              </a:lnSpc>
              <a:spcAft>
                <a:spcPts val="0"/>
              </a:spcAft>
            </a:pPr>
            <a:r>
              <a:rPr sz="919" b="1" i="0" spc="120">
                <a:solidFill>
                  <a:srgbClr val="008A69"/>
                </a:solidFill>
                <a:latin typeface="Arial"/>
              </a:rPr>
              <a:t>SOUTH-EAST ASIA</a:t>
            </a:r>
          </a:p>
        </p:txBody>
      </p:sp>
      <p:sp>
        <p:nvSpPr>
          <p:cNvPr id="11" name="TextBox 10"/>
          <p:cNvSpPr txBox="1"/>
          <p:nvPr/>
        </p:nvSpPr>
        <p:spPr>
          <a:xfrm>
            <a:off x="886968" y="3190113"/>
            <a:ext cx="4206240"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Singapore · Malaysia · Indonesia · Philippines</a:t>
            </a:r>
          </a:p>
        </p:txBody>
      </p:sp>
      <p:sp>
        <p:nvSpPr>
          <p:cNvPr id="12" name="TextBox 11"/>
          <p:cNvSpPr txBox="1"/>
          <p:nvPr/>
        </p:nvSpPr>
        <p:spPr>
          <a:xfrm>
            <a:off x="886968" y="3464433"/>
            <a:ext cx="4206240" cy="256032"/>
          </a:xfrm>
          <a:prstGeom prst="rect">
            <a:avLst/>
          </a:prstGeom>
          <a:noFill/>
        </p:spPr>
        <p:txBody>
          <a:bodyPr wrap="square" lIns="0" tIns="0" rIns="0" bIns="0" anchor="t">
            <a:spAutoFit/>
          </a:bodyPr>
          <a:lstStyle/>
          <a:p>
            <a:pPr algn="l">
              <a:lnSpc>
                <a:spcPct val="112000"/>
              </a:lnSpc>
              <a:spcAft>
                <a:spcPts val="0"/>
              </a:spcAft>
            </a:pPr>
            <a:r>
              <a:rPr sz="880" b="0" i="0">
                <a:solidFill>
                  <a:srgbClr val="5B6E82"/>
                </a:solidFill>
                <a:latin typeface="Arial"/>
              </a:rPr>
              <a:t>Cards plus FPX, DuitNow, QRIS, GCash, GrabPay-class wallets</a:t>
            </a:r>
          </a:p>
        </p:txBody>
      </p:sp>
      <p:sp>
        <p:nvSpPr>
          <p:cNvPr id="13" name="Rounded Rectangle 12"/>
          <p:cNvSpPr/>
          <p:nvPr/>
        </p:nvSpPr>
        <p:spPr>
          <a:xfrm>
            <a:off x="658368" y="3903345"/>
            <a:ext cx="4663440" cy="9418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86968" y="4003929"/>
            <a:ext cx="4206240" cy="201168"/>
          </a:xfrm>
          <a:prstGeom prst="rect">
            <a:avLst/>
          </a:prstGeom>
          <a:noFill/>
        </p:spPr>
        <p:txBody>
          <a:bodyPr wrap="square" lIns="0" tIns="0" rIns="0" bIns="0" anchor="t">
            <a:spAutoFit/>
          </a:bodyPr>
          <a:lstStyle/>
          <a:p>
            <a:pPr algn="l">
              <a:lnSpc>
                <a:spcPct val="112000"/>
              </a:lnSpc>
              <a:spcAft>
                <a:spcPts val="0"/>
              </a:spcAft>
            </a:pPr>
            <a:r>
              <a:rPr sz="919" b="1" i="0" spc="120">
                <a:solidFill>
                  <a:srgbClr val="008A69"/>
                </a:solidFill>
                <a:latin typeface="Arial"/>
              </a:rPr>
              <a:t>EAST ASIA</a:t>
            </a:r>
          </a:p>
        </p:txBody>
      </p:sp>
      <p:sp>
        <p:nvSpPr>
          <p:cNvPr id="15" name="TextBox 14"/>
          <p:cNvSpPr txBox="1"/>
          <p:nvPr/>
        </p:nvSpPr>
        <p:spPr>
          <a:xfrm>
            <a:off x="886968" y="4223384"/>
            <a:ext cx="4206240"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Hong Kong · Japan</a:t>
            </a:r>
          </a:p>
        </p:txBody>
      </p:sp>
      <p:sp>
        <p:nvSpPr>
          <p:cNvPr id="16" name="TextBox 15"/>
          <p:cNvSpPr txBox="1"/>
          <p:nvPr/>
        </p:nvSpPr>
        <p:spPr>
          <a:xfrm>
            <a:off x="886968" y="4497705"/>
            <a:ext cx="4206240" cy="256032"/>
          </a:xfrm>
          <a:prstGeom prst="rect">
            <a:avLst/>
          </a:prstGeom>
          <a:noFill/>
        </p:spPr>
        <p:txBody>
          <a:bodyPr wrap="square" lIns="0" tIns="0" rIns="0" bIns="0" anchor="t">
            <a:spAutoFit/>
          </a:bodyPr>
          <a:lstStyle/>
          <a:p>
            <a:pPr algn="l">
              <a:lnSpc>
                <a:spcPct val="112000"/>
              </a:lnSpc>
              <a:spcAft>
                <a:spcPts val="0"/>
              </a:spcAft>
            </a:pPr>
            <a:r>
              <a:rPr sz="880" b="0" i="0">
                <a:solidFill>
                  <a:srgbClr val="5B6E82"/>
                </a:solidFill>
                <a:latin typeface="Arial"/>
              </a:rPr>
              <a:t>Cards and wallets; strongest buyer-side card acceptance</a:t>
            </a:r>
          </a:p>
        </p:txBody>
      </p:sp>
      <p:sp>
        <p:nvSpPr>
          <p:cNvPr id="17" name="Rounded Rectangle 16"/>
          <p:cNvSpPr/>
          <p:nvPr/>
        </p:nvSpPr>
        <p:spPr>
          <a:xfrm>
            <a:off x="658368" y="4936617"/>
            <a:ext cx="4663440" cy="941832"/>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86968" y="5037201"/>
            <a:ext cx="4206240" cy="201168"/>
          </a:xfrm>
          <a:prstGeom prst="rect">
            <a:avLst/>
          </a:prstGeom>
          <a:noFill/>
        </p:spPr>
        <p:txBody>
          <a:bodyPr wrap="square" lIns="0" tIns="0" rIns="0" bIns="0" anchor="t">
            <a:spAutoFit/>
          </a:bodyPr>
          <a:lstStyle/>
          <a:p>
            <a:pPr algn="l">
              <a:lnSpc>
                <a:spcPct val="112000"/>
              </a:lnSpc>
              <a:spcAft>
                <a:spcPts val="0"/>
              </a:spcAft>
            </a:pPr>
            <a:r>
              <a:rPr sz="919" b="1" i="0" spc="120">
                <a:solidFill>
                  <a:srgbClr val="00B589"/>
                </a:solidFill>
                <a:latin typeface="Arial"/>
              </a:rPr>
              <a:t>PHASE 3</a:t>
            </a:r>
          </a:p>
        </p:txBody>
      </p:sp>
      <p:sp>
        <p:nvSpPr>
          <p:cNvPr id="19" name="TextBox 18"/>
          <p:cNvSpPr txBox="1"/>
          <p:nvPr/>
        </p:nvSpPr>
        <p:spPr>
          <a:xfrm>
            <a:off x="886968" y="5256656"/>
            <a:ext cx="4206240" cy="237744"/>
          </a:xfrm>
          <a:prstGeom prst="rect">
            <a:avLst/>
          </a:prstGeom>
          <a:noFill/>
        </p:spPr>
        <p:txBody>
          <a:bodyPr wrap="square" lIns="0" tIns="0" rIns="0" bIns="0" anchor="t">
            <a:spAutoFit/>
          </a:bodyPr>
          <a:lstStyle/>
          <a:p>
            <a:pPr algn="l">
              <a:lnSpc>
                <a:spcPct val="112000"/>
              </a:lnSpc>
              <a:spcAft>
                <a:spcPts val="0"/>
              </a:spcAft>
            </a:pPr>
            <a:r>
              <a:rPr sz="1030" b="1" i="0">
                <a:solidFill>
                  <a:srgbClr val="FFFFFF"/>
                </a:solidFill>
                <a:latin typeface="Arial"/>
              </a:rPr>
              <a:t>EU / UK · US / Canada · Brazil / Mexico</a:t>
            </a:r>
          </a:p>
        </p:txBody>
      </p:sp>
      <p:sp>
        <p:nvSpPr>
          <p:cNvPr id="20" name="TextBox 19"/>
          <p:cNvSpPr txBox="1"/>
          <p:nvPr/>
        </p:nvSpPr>
        <p:spPr>
          <a:xfrm>
            <a:off x="886968" y="5530977"/>
            <a:ext cx="4206240" cy="256032"/>
          </a:xfrm>
          <a:prstGeom prst="rect">
            <a:avLst/>
          </a:prstGeom>
          <a:noFill/>
        </p:spPr>
        <p:txBody>
          <a:bodyPr wrap="square" lIns="0" tIns="0" rIns="0" bIns="0" anchor="t">
            <a:spAutoFit/>
          </a:bodyPr>
          <a:lstStyle/>
          <a:p>
            <a:pPr algn="l">
              <a:lnSpc>
                <a:spcPct val="112000"/>
              </a:lnSpc>
              <a:spcAft>
                <a:spcPts val="0"/>
              </a:spcAft>
            </a:pPr>
            <a:r>
              <a:rPr sz="880" b="0" i="0">
                <a:solidFill>
                  <a:srgbClr val="9FB3C6"/>
                </a:solidFill>
                <a:latin typeface="Arial"/>
              </a:rPr>
              <a:t>SCA-ready 3DS2 for EEA; local rails where available</a:t>
            </a:r>
          </a:p>
        </p:txBody>
      </p:sp>
      <p:sp>
        <p:nvSpPr>
          <p:cNvPr id="21" name="TextBox 20"/>
          <p:cNvSpPr txBox="1"/>
          <p:nvPr/>
        </p:nvSpPr>
        <p:spPr>
          <a:xfrm>
            <a:off x="5733288" y="1928241"/>
            <a:ext cx="5800039" cy="274320"/>
          </a:xfrm>
          <a:prstGeom prst="rect">
            <a:avLst/>
          </a:prstGeom>
          <a:noFill/>
        </p:spPr>
        <p:txBody>
          <a:bodyPr wrap="square" lIns="0" tIns="0" rIns="0" bIns="0" anchor="t">
            <a:spAutoFit/>
          </a:bodyPr>
          <a:lstStyle/>
          <a:p>
            <a:pPr algn="l">
              <a:lnSpc>
                <a:spcPct val="112000"/>
              </a:lnSpc>
              <a:spcAft>
                <a:spcPts val="0"/>
              </a:spcAft>
            </a:pPr>
            <a:r>
              <a:rPr sz="950" b="1" i="0" spc="140">
                <a:solidFill>
                  <a:srgbClr val="5B6E82"/>
                </a:solidFill>
                <a:latin typeface="Arial"/>
              </a:rPr>
              <a:t>WHY THIS ORDER</a:t>
            </a:r>
          </a:p>
        </p:txBody>
      </p:sp>
      <p:sp>
        <p:nvSpPr>
          <p:cNvPr id="22" name="TextBox 21"/>
          <p:cNvSpPr txBox="1"/>
          <p:nvPr/>
        </p:nvSpPr>
        <p:spPr>
          <a:xfrm>
            <a:off x="5733288" y="2275713"/>
            <a:ext cx="5800039" cy="2377440"/>
          </a:xfrm>
          <a:prstGeom prst="rect">
            <a:avLst/>
          </a:prstGeom>
          <a:noFill/>
        </p:spPr>
        <p:txBody>
          <a:bodyPr wrap="square" lIns="0" rIns="0" tIns="0" bIns="0">
            <a:spAutoFit/>
          </a:bodyPr>
          <a:lstStyle/>
          <a:p>
            <a:pPr marL="219456" indent="-219456">
              <a:lnSpc>
                <a:spcPct val="116000"/>
              </a:lnSpc>
              <a:spcAft>
                <a:spcPts val="1000"/>
              </a:spcAft>
              <a:buClr>
                <a:srgbClr val="00B589"/>
              </a:buClr>
              <a:buFont typeface="Arial"/>
              <a:buChar char="—"/>
            </a:pPr>
            <a:r>
              <a:rPr sz="1100" b="1" i="0">
                <a:solidFill>
                  <a:srgbClr val="102236"/>
                </a:solidFill>
                <a:latin typeface="Arial"/>
              </a:rPr>
              <a:t>Wedge: </a:t>
            </a:r>
            <a:r>
              <a:rPr sz="1100" b="0" i="0">
                <a:solidFill>
                  <a:srgbClr val="102236"/>
                </a:solidFill>
                <a:latin typeface="Arial"/>
              </a:rPr>
              <a:t>Asian merchants invoicing Western buyers in USD. The buyer's card is the rail; the merchant's bank account is the problem we solve.</a:t>
            </a:r>
          </a:p>
          <a:p>
            <a:pPr marL="219456" indent="-219456">
              <a:lnSpc>
                <a:spcPct val="116000"/>
              </a:lnSpc>
              <a:spcAft>
                <a:spcPts val="1000"/>
              </a:spcAft>
              <a:buClr>
                <a:srgbClr val="00B589"/>
              </a:buClr>
              <a:buFont typeface="Arial"/>
              <a:buChar char="—"/>
            </a:pPr>
            <a:r>
              <a:rPr sz="1100" b="1" i="0">
                <a:solidFill>
                  <a:srgbClr val="102236"/>
                </a:solidFill>
                <a:latin typeface="Arial"/>
              </a:rPr>
              <a:t>Density: </a:t>
            </a:r>
            <a:r>
              <a:rPr sz="1100" b="0" i="0">
                <a:solidFill>
                  <a:srgbClr val="102236"/>
                </a:solidFill>
                <a:latin typeface="Arial"/>
              </a:rPr>
              <a:t>A corridor is only worth opening when we can support the methods buyers actually use, not just cards.</a:t>
            </a:r>
          </a:p>
          <a:p>
            <a:pPr marL="219456" indent="-219456">
              <a:lnSpc>
                <a:spcPct val="116000"/>
              </a:lnSpc>
              <a:spcAft>
                <a:spcPts val="1000"/>
              </a:spcAft>
              <a:buClr>
                <a:srgbClr val="00B589"/>
              </a:buClr>
              <a:buFont typeface="Arial"/>
              <a:buChar char="—"/>
            </a:pPr>
            <a:r>
              <a:rPr sz="1100" b="1" i="0">
                <a:solidFill>
                  <a:srgbClr val="102236"/>
                </a:solidFill>
                <a:latin typeface="Arial"/>
              </a:rPr>
              <a:t>Dependency: </a:t>
            </a:r>
            <a:r>
              <a:rPr sz="1100" b="0" i="0">
                <a:solidFill>
                  <a:srgbClr val="102236"/>
                </a:solidFill>
                <a:latin typeface="Arial"/>
              </a:rPr>
              <a:t>Each corridor depends on your licensing and local acquiring. We plan around your coverage map, not our wish list.</a:t>
            </a:r>
          </a:p>
          <a:p>
            <a:pPr marL="219456" indent="-219456">
              <a:lnSpc>
                <a:spcPct val="116000"/>
              </a:lnSpc>
              <a:spcAft>
                <a:spcPts val="1000"/>
              </a:spcAft>
              <a:buClr>
                <a:srgbClr val="00B589"/>
              </a:buClr>
              <a:buFont typeface="Arial"/>
              <a:buChar char="—"/>
            </a:pPr>
            <a:r>
              <a:rPr sz="1100" b="1" i="0">
                <a:solidFill>
                  <a:srgbClr val="102236"/>
                </a:solidFill>
                <a:latin typeface="Arial"/>
              </a:rPr>
              <a:t>Expansion: </a:t>
            </a:r>
            <a:r>
              <a:rPr sz="1100" b="0" i="0">
                <a:solidFill>
                  <a:srgbClr val="102236"/>
                </a:solidFill>
                <a:latin typeface="Arial"/>
              </a:rPr>
              <a:t>EU/UK, US and LatAm come once SCA and 3DS2 flows are proven — not before.</a:t>
            </a:r>
          </a:p>
        </p:txBody>
      </p:sp>
      <p:cxnSp>
        <p:nvCxnSpPr>
          <p:cNvPr id="23" name="Connector 22"/>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25" name="TextBox 24"/>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BUSINESS MODEL</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Four lines of revenue, one merchant relationship</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A platform business that earns on volume, not on licences or one-off fees.</a:t>
            </a:r>
          </a:p>
        </p:txBody>
      </p:sp>
      <p:sp>
        <p:nvSpPr>
          <p:cNvPr id="5" name="Rounded Rectangle 4"/>
          <p:cNvSpPr/>
          <p:nvPr/>
        </p:nvSpPr>
        <p:spPr>
          <a:xfrm>
            <a:off x="658368" y="1909953"/>
            <a:ext cx="2604439" cy="196596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111121"/>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01</a:t>
            </a:r>
          </a:p>
        </p:txBody>
      </p:sp>
      <p:sp>
        <p:nvSpPr>
          <p:cNvPr id="7" name="TextBox 6"/>
          <p:cNvSpPr txBox="1"/>
          <p:nvPr/>
        </p:nvSpPr>
        <p:spPr>
          <a:xfrm>
            <a:off x="896112" y="2348865"/>
            <a:ext cx="212895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Take rate on volume</a:t>
            </a:r>
          </a:p>
        </p:txBody>
      </p:sp>
      <p:sp>
        <p:nvSpPr>
          <p:cNvPr id="8" name="TextBox 7"/>
          <p:cNvSpPr txBox="1"/>
          <p:nvPr/>
        </p:nvSpPr>
        <p:spPr>
          <a:xfrm>
            <a:off x="896112" y="2729484"/>
            <a:ext cx="2128951" cy="981836"/>
          </a:xfrm>
          <a:prstGeom prst="rect">
            <a:avLst/>
          </a:prstGeom>
          <a:noFill/>
        </p:spPr>
        <p:txBody>
          <a:bodyPr wrap="square" lIns="0" tIns="0" rIns="0" bIns="0" anchor="t">
            <a:spAutoFit/>
          </a:bodyPr>
          <a:lstStyle/>
          <a:p>
            <a:pPr algn="l">
              <a:lnSpc>
                <a:spcPct val="122000"/>
              </a:lnSpc>
              <a:spcAft>
                <a:spcPts val="0"/>
              </a:spcAft>
            </a:pPr>
            <a:r>
              <a:rPr sz="960" b="0" i="0">
                <a:solidFill>
                  <a:srgbClr val="5B6E82"/>
                </a:solidFill>
                <a:latin typeface="Arial"/>
              </a:rPr>
              <a:t>Our margin over your cost of acceptance. Grows with the book, not with headcount.</a:t>
            </a:r>
          </a:p>
        </p:txBody>
      </p:sp>
      <p:sp>
        <p:nvSpPr>
          <p:cNvPr id="9" name="Rounded Rectangle 8"/>
          <p:cNvSpPr/>
          <p:nvPr/>
        </p:nvSpPr>
        <p:spPr>
          <a:xfrm>
            <a:off x="3414598" y="1909953"/>
            <a:ext cx="2604439" cy="196596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652342" y="2111121"/>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02</a:t>
            </a:r>
          </a:p>
        </p:txBody>
      </p:sp>
      <p:sp>
        <p:nvSpPr>
          <p:cNvPr id="11" name="TextBox 10"/>
          <p:cNvSpPr txBox="1"/>
          <p:nvPr/>
        </p:nvSpPr>
        <p:spPr>
          <a:xfrm>
            <a:off x="3652342" y="2348865"/>
            <a:ext cx="212895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FX on settlement</a:t>
            </a:r>
          </a:p>
        </p:txBody>
      </p:sp>
      <p:sp>
        <p:nvSpPr>
          <p:cNvPr id="12" name="TextBox 11"/>
          <p:cNvSpPr txBox="1"/>
          <p:nvPr/>
        </p:nvSpPr>
        <p:spPr>
          <a:xfrm>
            <a:off x="3652342" y="2729484"/>
            <a:ext cx="2128951" cy="981836"/>
          </a:xfrm>
          <a:prstGeom prst="rect">
            <a:avLst/>
          </a:prstGeom>
          <a:noFill/>
        </p:spPr>
        <p:txBody>
          <a:bodyPr wrap="square" lIns="0" tIns="0" rIns="0" bIns="0" anchor="t">
            <a:spAutoFit/>
          </a:bodyPr>
          <a:lstStyle/>
          <a:p>
            <a:pPr algn="l">
              <a:lnSpc>
                <a:spcPct val="122000"/>
              </a:lnSpc>
              <a:spcAft>
                <a:spcPts val="0"/>
              </a:spcAft>
            </a:pPr>
            <a:r>
              <a:rPr sz="960" b="0" i="0">
                <a:solidFill>
                  <a:srgbClr val="5B6E82"/>
                </a:solidFill>
                <a:latin typeface="Arial"/>
              </a:rPr>
              <a:t>Merchants want to be paid in the currency their bank holds; the spread is priced into the conversion.</a:t>
            </a:r>
          </a:p>
        </p:txBody>
      </p:sp>
      <p:sp>
        <p:nvSpPr>
          <p:cNvPr id="13" name="Rounded Rectangle 12"/>
          <p:cNvSpPr/>
          <p:nvPr/>
        </p:nvSpPr>
        <p:spPr>
          <a:xfrm>
            <a:off x="6170828" y="1909953"/>
            <a:ext cx="2604439" cy="196596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8572" y="2111121"/>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03</a:t>
            </a:r>
          </a:p>
        </p:txBody>
      </p:sp>
      <p:sp>
        <p:nvSpPr>
          <p:cNvPr id="15" name="TextBox 14"/>
          <p:cNvSpPr txBox="1"/>
          <p:nvPr/>
        </p:nvSpPr>
        <p:spPr>
          <a:xfrm>
            <a:off x="6408572" y="2348865"/>
            <a:ext cx="212895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Platform subscription</a:t>
            </a:r>
          </a:p>
        </p:txBody>
      </p:sp>
      <p:sp>
        <p:nvSpPr>
          <p:cNvPr id="16" name="TextBox 15"/>
          <p:cNvSpPr txBox="1"/>
          <p:nvPr/>
        </p:nvSpPr>
        <p:spPr>
          <a:xfrm>
            <a:off x="6408572" y="2729484"/>
            <a:ext cx="2128951" cy="981836"/>
          </a:xfrm>
          <a:prstGeom prst="rect">
            <a:avLst/>
          </a:prstGeom>
          <a:noFill/>
        </p:spPr>
        <p:txBody>
          <a:bodyPr wrap="square" lIns="0" tIns="0" rIns="0" bIns="0" anchor="t">
            <a:spAutoFit/>
          </a:bodyPr>
          <a:lstStyle/>
          <a:p>
            <a:pPr algn="l">
              <a:lnSpc>
                <a:spcPct val="122000"/>
              </a:lnSpc>
              <a:spcAft>
                <a:spcPts val="0"/>
              </a:spcAft>
            </a:pPr>
            <a:r>
              <a:rPr sz="960" b="0" i="0">
                <a:solidFill>
                  <a:srgbClr val="5B6E82"/>
                </a:solidFill>
                <a:latin typeface="Arial"/>
              </a:rPr>
              <a:t>A monthly fee per merchant for the dashboard, invoicing, payouts and support.</a:t>
            </a:r>
          </a:p>
        </p:txBody>
      </p:sp>
      <p:sp>
        <p:nvSpPr>
          <p:cNvPr id="17" name="Rounded Rectangle 16"/>
          <p:cNvSpPr/>
          <p:nvPr/>
        </p:nvSpPr>
        <p:spPr>
          <a:xfrm>
            <a:off x="8927058" y="1909953"/>
            <a:ext cx="2604439" cy="196596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64802" y="2111121"/>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04</a:t>
            </a:r>
          </a:p>
        </p:txBody>
      </p:sp>
      <p:sp>
        <p:nvSpPr>
          <p:cNvPr id="19" name="TextBox 18"/>
          <p:cNvSpPr txBox="1"/>
          <p:nvPr/>
        </p:nvSpPr>
        <p:spPr>
          <a:xfrm>
            <a:off x="9164802" y="2348865"/>
            <a:ext cx="212895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Service fees</a:t>
            </a:r>
          </a:p>
        </p:txBody>
      </p:sp>
      <p:sp>
        <p:nvSpPr>
          <p:cNvPr id="20" name="TextBox 19"/>
          <p:cNvSpPr txBox="1"/>
          <p:nvPr/>
        </p:nvSpPr>
        <p:spPr>
          <a:xfrm>
            <a:off x="9164802" y="2729484"/>
            <a:ext cx="2128951" cy="981836"/>
          </a:xfrm>
          <a:prstGeom prst="rect">
            <a:avLst/>
          </a:prstGeom>
          <a:noFill/>
        </p:spPr>
        <p:txBody>
          <a:bodyPr wrap="square" lIns="0" tIns="0" rIns="0" bIns="0" anchor="t">
            <a:spAutoFit/>
          </a:bodyPr>
          <a:lstStyle/>
          <a:p>
            <a:pPr algn="l">
              <a:lnSpc>
                <a:spcPct val="122000"/>
              </a:lnSpc>
              <a:spcAft>
                <a:spcPts val="0"/>
              </a:spcAft>
            </a:pPr>
            <a:r>
              <a:rPr sz="960" b="0" i="0">
                <a:solidFill>
                  <a:srgbClr val="5B6E82"/>
                </a:solidFill>
                <a:latin typeface="Arial"/>
              </a:rPr>
              <a:t>Dispute handling, chargeback representation, faster payouts, premium onboarding.</a:t>
            </a:r>
          </a:p>
        </p:txBody>
      </p:sp>
      <p:sp>
        <p:nvSpPr>
          <p:cNvPr id="21" name="Rounded Rectangle 20"/>
          <p:cNvSpPr/>
          <p:nvPr/>
        </p:nvSpPr>
        <p:spPr>
          <a:xfrm>
            <a:off x="658368" y="3967353"/>
            <a:ext cx="10874959" cy="932688"/>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9264" y="4131945"/>
            <a:ext cx="2926080" cy="219456"/>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WHY THIS SURVIVES SCALE</a:t>
            </a:r>
          </a:p>
        </p:txBody>
      </p:sp>
      <p:sp>
        <p:nvSpPr>
          <p:cNvPr id="23" name="TextBox 22"/>
          <p:cNvSpPr txBox="1"/>
          <p:nvPr/>
        </p:nvSpPr>
        <p:spPr>
          <a:xfrm>
            <a:off x="969264" y="4378833"/>
            <a:ext cx="10253167" cy="457200"/>
          </a:xfrm>
          <a:prstGeom prst="rect">
            <a:avLst/>
          </a:prstGeom>
          <a:noFill/>
        </p:spPr>
        <p:txBody>
          <a:bodyPr wrap="square" lIns="0" tIns="0" rIns="0" bIns="0" anchor="t">
            <a:spAutoFit/>
          </a:bodyPr>
          <a:lstStyle/>
          <a:p>
            <a:pPr algn="l">
              <a:lnSpc>
                <a:spcPct val="122000"/>
              </a:lnSpc>
              <a:spcAft>
                <a:spcPts val="0"/>
              </a:spcAft>
            </a:pPr>
            <a:r>
              <a:rPr sz="1120" b="0" i="0">
                <a:solidFill>
                  <a:srgbClr val="FFFFFF"/>
                </a:solidFill>
                <a:latin typeface="Arial"/>
              </a:rPr>
              <a:t>Revenue per merchant grows with their volume while our cost to serve is fixed. That is why one book of hundreds of Asian SMBs is worth more to us — and to you — than the same number of separate applications.</a:t>
            </a:r>
          </a:p>
        </p:txBody>
      </p:sp>
      <p:sp>
        <p:nvSpPr>
          <p:cNvPr id="24" name="TextBox 23"/>
          <p:cNvSpPr txBox="1"/>
          <p:nvPr/>
        </p:nvSpPr>
        <p:spPr>
          <a:xfrm>
            <a:off x="658368" y="5247513"/>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HOW THE PRICING CONVERSATION SHOULD GO</a:t>
            </a:r>
          </a:p>
        </p:txBody>
      </p:sp>
      <p:sp>
        <p:nvSpPr>
          <p:cNvPr id="25" name="TextBox 24"/>
          <p:cNvSpPr txBox="1"/>
          <p:nvPr/>
        </p:nvSpPr>
        <p:spPr>
          <a:xfrm>
            <a:off x="658368" y="5540121"/>
            <a:ext cx="2462707" cy="237744"/>
          </a:xfrm>
          <a:prstGeom prst="rect">
            <a:avLst/>
          </a:prstGeom>
          <a:noFill/>
        </p:spPr>
        <p:txBody>
          <a:bodyPr wrap="square" lIns="0" tIns="0" rIns="0" bIns="0" anchor="t">
            <a:spAutoFit/>
          </a:bodyPr>
          <a:lstStyle/>
          <a:p>
            <a:pPr algn="l">
              <a:lnSpc>
                <a:spcPct val="100000"/>
              </a:lnSpc>
              <a:spcAft>
                <a:spcPts val="0"/>
              </a:spcAft>
            </a:pPr>
            <a:r>
              <a:rPr sz="1250" b="1" i="0">
                <a:solidFill>
                  <a:srgbClr val="008A69"/>
                </a:solidFill>
                <a:latin typeface="Arial"/>
              </a:rPr>
              <a:t>$800K → $2M</a:t>
            </a:r>
          </a:p>
        </p:txBody>
      </p:sp>
      <p:sp>
        <p:nvSpPr>
          <p:cNvPr id="26" name="TextBox 25"/>
          <p:cNvSpPr txBox="1"/>
          <p:nvPr/>
        </p:nvSpPr>
        <p:spPr>
          <a:xfrm>
            <a:off x="658368" y="5851017"/>
            <a:ext cx="2462707" cy="41148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our volume, before any new merchant</a:t>
            </a:r>
          </a:p>
        </p:txBody>
      </p:sp>
      <p:sp>
        <p:nvSpPr>
          <p:cNvPr id="27" name="TextBox 26"/>
          <p:cNvSpPr txBox="1"/>
          <p:nvPr/>
        </p:nvSpPr>
        <p:spPr>
          <a:xfrm>
            <a:off x="3377107" y="5540121"/>
            <a:ext cx="2462707" cy="237744"/>
          </a:xfrm>
          <a:prstGeom prst="rect">
            <a:avLst/>
          </a:prstGeom>
          <a:noFill/>
        </p:spPr>
        <p:txBody>
          <a:bodyPr wrap="square" lIns="0" tIns="0" rIns="0" bIns="0" anchor="t">
            <a:spAutoFit/>
          </a:bodyPr>
          <a:lstStyle/>
          <a:p>
            <a:pPr algn="l">
              <a:lnSpc>
                <a:spcPct val="100000"/>
              </a:lnSpc>
              <a:spcAft>
                <a:spcPts val="0"/>
              </a:spcAft>
            </a:pPr>
            <a:r>
              <a:rPr sz="1250" b="1" i="0">
                <a:solidFill>
                  <a:srgbClr val="008A69"/>
                </a:solidFill>
                <a:latin typeface="Arial"/>
              </a:rPr>
              <a:t>Take rate 2.0% → 1.5%</a:t>
            </a:r>
          </a:p>
        </p:txBody>
      </p:sp>
      <p:sp>
        <p:nvSpPr>
          <p:cNvPr id="28" name="TextBox 27"/>
          <p:cNvSpPr txBox="1"/>
          <p:nvPr/>
        </p:nvSpPr>
        <p:spPr>
          <a:xfrm>
            <a:off x="3377107" y="5851017"/>
            <a:ext cx="2462707" cy="41148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our price falls as the book grows</a:t>
            </a:r>
          </a:p>
        </p:txBody>
      </p:sp>
      <p:sp>
        <p:nvSpPr>
          <p:cNvPr id="29" name="TextBox 28"/>
          <p:cNvSpPr txBox="1"/>
          <p:nvPr/>
        </p:nvSpPr>
        <p:spPr>
          <a:xfrm>
            <a:off x="6095847" y="5540121"/>
            <a:ext cx="2462707" cy="237744"/>
          </a:xfrm>
          <a:prstGeom prst="rect">
            <a:avLst/>
          </a:prstGeom>
          <a:noFill/>
        </p:spPr>
        <p:txBody>
          <a:bodyPr wrap="square" lIns="0" tIns="0" rIns="0" bIns="0" anchor="t">
            <a:spAutoFit/>
          </a:bodyPr>
          <a:lstStyle/>
          <a:p>
            <a:pPr algn="l">
              <a:lnSpc>
                <a:spcPct val="100000"/>
              </a:lnSpc>
              <a:spcAft>
                <a:spcPts val="0"/>
              </a:spcAft>
            </a:pPr>
            <a:r>
              <a:rPr sz="1250" b="1" i="0">
                <a:solidFill>
                  <a:srgbClr val="008A69"/>
                </a:solidFill>
                <a:latin typeface="Arial"/>
              </a:rPr>
              <a:t>$16K → $30K</a:t>
            </a:r>
          </a:p>
        </p:txBody>
      </p:sp>
      <p:sp>
        <p:nvSpPr>
          <p:cNvPr id="30" name="TextBox 29"/>
          <p:cNvSpPr txBox="1"/>
          <p:nvPr/>
        </p:nvSpPr>
        <p:spPr>
          <a:xfrm>
            <a:off x="6095847" y="5851017"/>
            <a:ext cx="2462707" cy="41148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monthly gross revenue at those two points</a:t>
            </a:r>
          </a:p>
        </p:txBody>
      </p:sp>
      <p:sp>
        <p:nvSpPr>
          <p:cNvPr id="31" name="TextBox 30"/>
          <p:cNvSpPr txBox="1"/>
          <p:nvPr/>
        </p:nvSpPr>
        <p:spPr>
          <a:xfrm>
            <a:off x="8814587" y="5540121"/>
            <a:ext cx="2462707" cy="237744"/>
          </a:xfrm>
          <a:prstGeom prst="rect">
            <a:avLst/>
          </a:prstGeom>
          <a:noFill/>
        </p:spPr>
        <p:txBody>
          <a:bodyPr wrap="square" lIns="0" tIns="0" rIns="0" bIns="0" anchor="t">
            <a:spAutoFit/>
          </a:bodyPr>
          <a:lstStyle/>
          <a:p>
            <a:pPr algn="l">
              <a:lnSpc>
                <a:spcPct val="100000"/>
              </a:lnSpc>
              <a:spcAft>
                <a:spcPts val="0"/>
              </a:spcAft>
            </a:pPr>
            <a:r>
              <a:rPr sz="1250" b="1" i="0">
                <a:solidFill>
                  <a:srgbClr val="008A69"/>
                </a:solidFill>
                <a:latin typeface="Arial"/>
              </a:rPr>
              <a:t>Fixed cost base</a:t>
            </a:r>
          </a:p>
        </p:txBody>
      </p:sp>
      <p:sp>
        <p:nvSpPr>
          <p:cNvPr id="32" name="TextBox 31"/>
          <p:cNvSpPr txBox="1"/>
          <p:nvPr/>
        </p:nvSpPr>
        <p:spPr>
          <a:xfrm>
            <a:off x="8814587" y="5851017"/>
            <a:ext cx="2462707" cy="41148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only support and operations scale</a:t>
            </a:r>
          </a:p>
        </p:txBody>
      </p:sp>
      <p:cxnSp>
        <p:nvCxnSpPr>
          <p:cNvPr id="33" name="Connector 32"/>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35" name="TextBox 34"/>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WHITE-LABEL</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The merchant sees one company. You stay the rail.</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White-label is a product feature, not a way of hiding you. Here is exactly what changes hands.</a:t>
            </a:r>
          </a:p>
        </p:txBody>
      </p:sp>
      <p:sp>
        <p:nvSpPr>
          <p:cNvPr id="5" name="TextBox 4"/>
          <p:cNvSpPr txBox="1"/>
          <p:nvPr/>
        </p:nvSpPr>
        <p:spPr>
          <a:xfrm>
            <a:off x="658368" y="1864233"/>
            <a:ext cx="5806440"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WHAT THE MERCHANT EXPERIENCES</a:t>
            </a:r>
          </a:p>
        </p:txBody>
      </p:sp>
      <p:sp>
        <p:nvSpPr>
          <p:cNvPr id="6" name="Rounded Rectangle 5"/>
          <p:cNvSpPr/>
          <p:nvPr/>
        </p:nvSpPr>
        <p:spPr>
          <a:xfrm>
            <a:off x="658368" y="2147697"/>
            <a:ext cx="5806440" cy="65836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77824" y="2239137"/>
            <a:ext cx="5367527" cy="219456"/>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Login and dashboard</a:t>
            </a:r>
          </a:p>
        </p:txBody>
      </p:sp>
      <p:sp>
        <p:nvSpPr>
          <p:cNvPr id="8" name="TextBox 7"/>
          <p:cNvSpPr txBox="1"/>
          <p:nvPr/>
        </p:nvSpPr>
        <p:spPr>
          <a:xfrm>
            <a:off x="877824" y="2476881"/>
            <a:ext cx="5367527" cy="274320"/>
          </a:xfrm>
          <a:prstGeom prst="rect">
            <a:avLst/>
          </a:prstGeom>
          <a:noFill/>
        </p:spPr>
        <p:txBody>
          <a:bodyPr wrap="square" lIns="0" tIns="0" rIns="0" bIns="0" anchor="t">
            <a:spAutoFit/>
          </a:bodyPr>
          <a:lstStyle/>
          <a:p>
            <a:pPr algn="l">
              <a:lnSpc>
                <a:spcPct val="115000"/>
              </a:lnSpc>
              <a:spcAft>
                <a:spcPts val="0"/>
              </a:spcAft>
            </a:pPr>
            <a:r>
              <a:rPr sz="900" b="0" i="0">
                <a:solidFill>
                  <a:srgbClr val="5B6E82"/>
                </a:solidFill>
                <a:latin typeface="Arial"/>
              </a:rPr>
              <a:t>Our brand, our domain, our design — not a portal with someone else's logo.</a:t>
            </a:r>
          </a:p>
        </p:txBody>
      </p:sp>
      <p:sp>
        <p:nvSpPr>
          <p:cNvPr id="9" name="Rounded Rectangle 8"/>
          <p:cNvSpPr/>
          <p:nvPr/>
        </p:nvSpPr>
        <p:spPr>
          <a:xfrm>
            <a:off x="658368" y="2888361"/>
            <a:ext cx="5806440" cy="65836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2979801"/>
            <a:ext cx="5367527" cy="219456"/>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Checkout and receipts</a:t>
            </a:r>
          </a:p>
        </p:txBody>
      </p:sp>
      <p:sp>
        <p:nvSpPr>
          <p:cNvPr id="11" name="TextBox 10"/>
          <p:cNvSpPr txBox="1"/>
          <p:nvPr/>
        </p:nvSpPr>
        <p:spPr>
          <a:xfrm>
            <a:off x="877824" y="3217545"/>
            <a:ext cx="5367527" cy="274320"/>
          </a:xfrm>
          <a:prstGeom prst="rect">
            <a:avLst/>
          </a:prstGeom>
          <a:noFill/>
        </p:spPr>
        <p:txBody>
          <a:bodyPr wrap="square" lIns="0" tIns="0" rIns="0" bIns="0" anchor="t">
            <a:spAutoFit/>
          </a:bodyPr>
          <a:lstStyle/>
          <a:p>
            <a:pPr algn="l">
              <a:lnSpc>
                <a:spcPct val="115000"/>
              </a:lnSpc>
              <a:spcAft>
                <a:spcPts val="0"/>
              </a:spcAft>
            </a:pPr>
            <a:r>
              <a:rPr sz="900" b="0" i="0">
                <a:solidFill>
                  <a:srgbClr val="5B6E82"/>
                </a:solidFill>
                <a:latin typeface="Arial"/>
              </a:rPr>
              <a:t>Our name on the payment page, our receipts, our invoice template.</a:t>
            </a:r>
          </a:p>
        </p:txBody>
      </p:sp>
      <p:sp>
        <p:nvSpPr>
          <p:cNvPr id="12" name="Rounded Rectangle 11"/>
          <p:cNvSpPr/>
          <p:nvPr/>
        </p:nvSpPr>
        <p:spPr>
          <a:xfrm>
            <a:off x="658368" y="3629025"/>
            <a:ext cx="5806440" cy="65836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3720465"/>
            <a:ext cx="5367527" cy="219456"/>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Support</a:t>
            </a:r>
          </a:p>
        </p:txBody>
      </p:sp>
      <p:sp>
        <p:nvSpPr>
          <p:cNvPr id="14" name="TextBox 13"/>
          <p:cNvSpPr txBox="1"/>
          <p:nvPr/>
        </p:nvSpPr>
        <p:spPr>
          <a:xfrm>
            <a:off x="877824" y="3958209"/>
            <a:ext cx="5367527" cy="274320"/>
          </a:xfrm>
          <a:prstGeom prst="rect">
            <a:avLst/>
          </a:prstGeom>
          <a:noFill/>
        </p:spPr>
        <p:txBody>
          <a:bodyPr wrap="square" lIns="0" tIns="0" rIns="0" bIns="0" anchor="t">
            <a:spAutoFit/>
          </a:bodyPr>
          <a:lstStyle/>
          <a:p>
            <a:pPr algn="l">
              <a:lnSpc>
                <a:spcPct val="115000"/>
              </a:lnSpc>
              <a:spcAft>
                <a:spcPts val="0"/>
              </a:spcAft>
            </a:pPr>
            <a:r>
              <a:rPr sz="900" b="0" i="0">
                <a:solidFill>
                  <a:srgbClr val="5B6E82"/>
                </a:solidFill>
                <a:latin typeface="Arial"/>
              </a:rPr>
              <a:t>Our team answers, in-region and in the merchant's time zone.</a:t>
            </a:r>
          </a:p>
        </p:txBody>
      </p:sp>
      <p:sp>
        <p:nvSpPr>
          <p:cNvPr id="15" name="Rounded Rectangle 14"/>
          <p:cNvSpPr/>
          <p:nvPr/>
        </p:nvSpPr>
        <p:spPr>
          <a:xfrm>
            <a:off x="658368" y="4369689"/>
            <a:ext cx="5806440" cy="65836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4461129"/>
            <a:ext cx="5367527" cy="219456"/>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Statements and payouts</a:t>
            </a:r>
          </a:p>
        </p:txBody>
      </p:sp>
      <p:sp>
        <p:nvSpPr>
          <p:cNvPr id="17" name="TextBox 16"/>
          <p:cNvSpPr txBox="1"/>
          <p:nvPr/>
        </p:nvSpPr>
        <p:spPr>
          <a:xfrm>
            <a:off x="877824" y="4698873"/>
            <a:ext cx="5367527" cy="274320"/>
          </a:xfrm>
          <a:prstGeom prst="rect">
            <a:avLst/>
          </a:prstGeom>
          <a:noFill/>
        </p:spPr>
        <p:txBody>
          <a:bodyPr wrap="square" lIns="0" tIns="0" rIns="0" bIns="0" anchor="t">
            <a:spAutoFit/>
          </a:bodyPr>
          <a:lstStyle/>
          <a:p>
            <a:pPr algn="l">
              <a:lnSpc>
                <a:spcPct val="115000"/>
              </a:lnSpc>
              <a:spcAft>
                <a:spcPts val="0"/>
              </a:spcAft>
            </a:pPr>
            <a:r>
              <a:rPr sz="900" b="0" i="0">
                <a:solidFill>
                  <a:srgbClr val="5B6E82"/>
                </a:solidFill>
                <a:latin typeface="Arial"/>
              </a:rPr>
              <a:t>Our statement format, our payout schedule, our reconciliation view.</a:t>
            </a:r>
          </a:p>
        </p:txBody>
      </p:sp>
      <p:sp>
        <p:nvSpPr>
          <p:cNvPr id="18" name="Rounded Rectangle 17"/>
          <p:cNvSpPr/>
          <p:nvPr/>
        </p:nvSpPr>
        <p:spPr>
          <a:xfrm>
            <a:off x="7031736" y="1864233"/>
            <a:ext cx="4501591" cy="2121408"/>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306055" y="2074545"/>
            <a:ext cx="3952951"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WHAT STAYS YOURS</a:t>
            </a:r>
          </a:p>
        </p:txBody>
      </p:sp>
      <p:sp>
        <p:nvSpPr>
          <p:cNvPr id="20" name="TextBox 19"/>
          <p:cNvSpPr txBox="1"/>
          <p:nvPr/>
        </p:nvSpPr>
        <p:spPr>
          <a:xfrm>
            <a:off x="7306055" y="2385441"/>
            <a:ext cx="3952951" cy="365760"/>
          </a:xfrm>
          <a:prstGeom prst="rect">
            <a:avLst/>
          </a:prstGeom>
          <a:noFill/>
        </p:spPr>
        <p:txBody>
          <a:bodyPr wrap="square" lIns="0" tIns="0" rIns="0" bIns="0" anchor="t">
            <a:spAutoFit/>
          </a:bodyPr>
          <a:lstStyle/>
          <a:p>
            <a:pPr algn="l">
              <a:lnSpc>
                <a:spcPct val="118000"/>
              </a:lnSpc>
              <a:spcAft>
                <a:spcPts val="0"/>
              </a:spcAft>
            </a:pPr>
            <a:r>
              <a:rPr sz="950" b="0" i="0">
                <a:solidFill>
                  <a:srgbClr val="FFFFFF"/>
                </a:solidFill>
                <a:latin typeface="Arial"/>
              </a:rPr>
              <a:t>The licence and the network relationships</a:t>
            </a:r>
          </a:p>
        </p:txBody>
      </p:sp>
      <p:sp>
        <p:nvSpPr>
          <p:cNvPr id="21" name="TextBox 20"/>
          <p:cNvSpPr txBox="1"/>
          <p:nvPr/>
        </p:nvSpPr>
        <p:spPr>
          <a:xfrm>
            <a:off x="7306055" y="2769489"/>
            <a:ext cx="3952951" cy="365760"/>
          </a:xfrm>
          <a:prstGeom prst="rect">
            <a:avLst/>
          </a:prstGeom>
          <a:noFill/>
        </p:spPr>
        <p:txBody>
          <a:bodyPr wrap="square" lIns="0" tIns="0" rIns="0" bIns="0" anchor="t">
            <a:spAutoFit/>
          </a:bodyPr>
          <a:lstStyle/>
          <a:p>
            <a:pPr algn="l">
              <a:lnSpc>
                <a:spcPct val="118000"/>
              </a:lnSpc>
              <a:spcAft>
                <a:spcPts val="0"/>
              </a:spcAft>
            </a:pPr>
            <a:r>
              <a:rPr sz="950" b="0" i="0">
                <a:solidFill>
                  <a:srgbClr val="FFFFFF"/>
                </a:solidFill>
                <a:latin typeface="Arial"/>
              </a:rPr>
              <a:t>Acquiring, scheme and settlement obligations</a:t>
            </a:r>
          </a:p>
        </p:txBody>
      </p:sp>
      <p:sp>
        <p:nvSpPr>
          <p:cNvPr id="22" name="TextBox 21"/>
          <p:cNvSpPr txBox="1"/>
          <p:nvPr/>
        </p:nvSpPr>
        <p:spPr>
          <a:xfrm>
            <a:off x="7306055" y="3153537"/>
            <a:ext cx="3952951" cy="365760"/>
          </a:xfrm>
          <a:prstGeom prst="rect">
            <a:avLst/>
          </a:prstGeom>
          <a:noFill/>
        </p:spPr>
        <p:txBody>
          <a:bodyPr wrap="square" lIns="0" tIns="0" rIns="0" bIns="0" anchor="t">
            <a:spAutoFit/>
          </a:bodyPr>
          <a:lstStyle/>
          <a:p>
            <a:pPr algn="l">
              <a:lnSpc>
                <a:spcPct val="118000"/>
              </a:lnSpc>
              <a:spcAft>
                <a:spcPts val="0"/>
              </a:spcAft>
            </a:pPr>
            <a:r>
              <a:rPr sz="950" b="0" i="0">
                <a:solidFill>
                  <a:srgbClr val="FFFFFF"/>
                </a:solidFill>
                <a:latin typeface="Arial"/>
              </a:rPr>
              <a:t>Your name in the merchant agreement</a:t>
            </a:r>
          </a:p>
        </p:txBody>
      </p:sp>
      <p:sp>
        <p:nvSpPr>
          <p:cNvPr id="23" name="TextBox 22"/>
          <p:cNvSpPr txBox="1"/>
          <p:nvPr/>
        </p:nvSpPr>
        <p:spPr>
          <a:xfrm>
            <a:off x="7306055" y="3537585"/>
            <a:ext cx="3952951" cy="365760"/>
          </a:xfrm>
          <a:prstGeom prst="rect">
            <a:avLst/>
          </a:prstGeom>
          <a:noFill/>
        </p:spPr>
        <p:txBody>
          <a:bodyPr wrap="square" lIns="0" tIns="0" rIns="0" bIns="0" anchor="t">
            <a:spAutoFit/>
          </a:bodyPr>
          <a:lstStyle/>
          <a:p>
            <a:pPr algn="l">
              <a:lnSpc>
                <a:spcPct val="118000"/>
              </a:lnSpc>
              <a:spcAft>
                <a:spcPts val="0"/>
              </a:spcAft>
            </a:pPr>
            <a:r>
              <a:rPr sz="950" b="0" i="0">
                <a:solidFill>
                  <a:srgbClr val="FFFFFF"/>
                </a:solidFill>
                <a:latin typeface="Arial"/>
              </a:rPr>
              <a:t>The statement descriptor, where regulation requires it</a:t>
            </a:r>
          </a:p>
        </p:txBody>
      </p:sp>
      <p:sp>
        <p:nvSpPr>
          <p:cNvPr id="24" name="Rounded Rectangle 23"/>
          <p:cNvSpPr/>
          <p:nvPr/>
        </p:nvSpPr>
        <p:spPr>
          <a:xfrm>
            <a:off x="7031736" y="4214241"/>
            <a:ext cx="4501591" cy="1481328"/>
          </a:xfrm>
          <a:prstGeom prst="roundRect">
            <a:avLst>
              <a:gd name="adj" fmla="val 5000"/>
            </a:avLst>
          </a:prstGeom>
          <a:solidFill>
            <a:srgbClr val="E7F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06055" y="4397121"/>
            <a:ext cx="3952951"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8A69"/>
                </a:solidFill>
                <a:latin typeface="Arial"/>
              </a:rPr>
              <a:t>WHAT WE NEVER ASK FOR</a:t>
            </a:r>
          </a:p>
        </p:txBody>
      </p:sp>
      <p:sp>
        <p:nvSpPr>
          <p:cNvPr id="26" name="TextBox 25"/>
          <p:cNvSpPr txBox="1"/>
          <p:nvPr/>
        </p:nvSpPr>
        <p:spPr>
          <a:xfrm>
            <a:off x="7306055" y="4708017"/>
            <a:ext cx="3952951" cy="274320"/>
          </a:xfrm>
          <a:prstGeom prst="rect">
            <a:avLst/>
          </a:prstGeom>
          <a:noFill/>
        </p:spPr>
        <p:txBody>
          <a:bodyPr wrap="square" lIns="0" tIns="0" rIns="0" bIns="0" anchor="t">
            <a:spAutoFit/>
          </a:bodyPr>
          <a:lstStyle/>
          <a:p>
            <a:pPr algn="l">
              <a:lnSpc>
                <a:spcPct val="110000"/>
              </a:lnSpc>
              <a:spcAft>
                <a:spcPts val="0"/>
              </a:spcAft>
            </a:pPr>
            <a:r>
              <a:rPr sz="980" b="0" i="0">
                <a:solidFill>
                  <a:srgbClr val="102236"/>
                </a:solidFill>
                <a:latin typeface="Arial"/>
              </a:rPr>
              <a:t>×  Your brand</a:t>
            </a:r>
          </a:p>
        </p:txBody>
      </p:sp>
      <p:sp>
        <p:nvSpPr>
          <p:cNvPr id="27" name="TextBox 26"/>
          <p:cNvSpPr txBox="1"/>
          <p:nvPr/>
        </p:nvSpPr>
        <p:spPr>
          <a:xfrm>
            <a:off x="7306055" y="5000625"/>
            <a:ext cx="3952951" cy="274320"/>
          </a:xfrm>
          <a:prstGeom prst="rect">
            <a:avLst/>
          </a:prstGeom>
          <a:noFill/>
        </p:spPr>
        <p:txBody>
          <a:bodyPr wrap="square" lIns="0" tIns="0" rIns="0" bIns="0" anchor="t">
            <a:spAutoFit/>
          </a:bodyPr>
          <a:lstStyle/>
          <a:p>
            <a:pPr algn="l">
              <a:lnSpc>
                <a:spcPct val="110000"/>
              </a:lnSpc>
              <a:spcAft>
                <a:spcPts val="0"/>
              </a:spcAft>
            </a:pPr>
            <a:r>
              <a:rPr sz="980" b="0" i="0">
                <a:solidFill>
                  <a:srgbClr val="102236"/>
                </a:solidFill>
                <a:latin typeface="Arial"/>
              </a:rPr>
              <a:t>×  Your balance sheet</a:t>
            </a:r>
          </a:p>
        </p:txBody>
      </p:sp>
      <p:sp>
        <p:nvSpPr>
          <p:cNvPr id="28" name="TextBox 27"/>
          <p:cNvSpPr txBox="1"/>
          <p:nvPr/>
        </p:nvSpPr>
        <p:spPr>
          <a:xfrm>
            <a:off x="7306055" y="5293233"/>
            <a:ext cx="3952951" cy="274320"/>
          </a:xfrm>
          <a:prstGeom prst="rect">
            <a:avLst/>
          </a:prstGeom>
          <a:noFill/>
        </p:spPr>
        <p:txBody>
          <a:bodyPr wrap="square" lIns="0" tIns="0" rIns="0" bIns="0" anchor="t">
            <a:spAutoFit/>
          </a:bodyPr>
          <a:lstStyle/>
          <a:p>
            <a:pPr algn="l">
              <a:lnSpc>
                <a:spcPct val="110000"/>
              </a:lnSpc>
              <a:spcAft>
                <a:spcPts val="0"/>
              </a:spcAft>
            </a:pPr>
            <a:r>
              <a:rPr sz="980" b="0" i="0">
                <a:solidFill>
                  <a:srgbClr val="102236"/>
                </a:solidFill>
                <a:latin typeface="Arial"/>
              </a:rPr>
              <a:t>×  Your regulatory cover</a:t>
            </a:r>
          </a:p>
        </p:txBody>
      </p:sp>
      <p:cxnSp>
        <p:nvCxnSpPr>
          <p:cNvPr id="29" name="Connector 28"/>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31" name="TextBox 30"/>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STRUCTURE</a:t>
            </a:r>
          </a:p>
        </p:txBody>
      </p:sp>
      <p:sp>
        <p:nvSpPr>
          <p:cNvPr id="3" name="TextBox 2"/>
          <p:cNvSpPr txBox="1"/>
          <p:nvPr/>
        </p:nvSpPr>
        <p:spPr>
          <a:xfrm>
            <a:off x="658368" y="749808"/>
            <a:ext cx="10874959" cy="480060"/>
          </a:xfrm>
          <a:prstGeom prst="rect">
            <a:avLst/>
          </a:prstGeom>
          <a:noFill/>
        </p:spPr>
        <p:txBody>
          <a:bodyPr wrap="square" lIns="0" tIns="0" rIns="0" bIns="0" anchor="t">
            <a:spAutoFit/>
          </a:bodyPr>
          <a:lstStyle/>
          <a:p>
            <a:pPr algn="l">
              <a:lnSpc>
                <a:spcPct val="102000"/>
              </a:lnSpc>
              <a:spcAft>
                <a:spcPts val="0"/>
              </a:spcAft>
            </a:pPr>
            <a:r>
              <a:rPr sz="2700" b="1" i="0">
                <a:solidFill>
                  <a:srgbClr val="102236"/>
                </a:solidFill>
                <a:latin typeface="Arial"/>
              </a:rPr>
              <a:t>Three ways to sign this — and why we recommend the first</a:t>
            </a:r>
          </a:p>
        </p:txBody>
      </p:sp>
      <p:sp>
        <p:nvSpPr>
          <p:cNvPr id="4" name="TextBox 3"/>
          <p:cNvSpPr txBox="1"/>
          <p:nvPr/>
        </p:nvSpPr>
        <p:spPr>
          <a:xfrm>
            <a:off x="658368" y="1260957"/>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All three need your underwriting approval. The words 'merchant of record' are contractual, so nothing here is claimed until it is signed.</a:t>
            </a:r>
          </a:p>
        </p:txBody>
      </p:sp>
      <p:sp>
        <p:nvSpPr>
          <p:cNvPr id="5" name="TextBox 4"/>
          <p:cNvSpPr txBox="1"/>
          <p:nvPr/>
        </p:nvSpPr>
        <p:spPr>
          <a:xfrm>
            <a:off x="658368" y="2026767"/>
            <a:ext cx="2228388" cy="310896"/>
          </a:xfrm>
          <a:prstGeom prst="rect">
            <a:avLst/>
          </a:prstGeom>
          <a:noFill/>
        </p:spPr>
        <p:txBody>
          <a:bodyPr wrap="square" lIns="0" tIns="0" rIns="0" bIns="0" anchor="t">
            <a:spAutoFit/>
          </a:bodyPr>
          <a:lstStyle/>
          <a:p>
            <a:pPr algn="l">
              <a:lnSpc>
                <a:spcPct val="112000"/>
              </a:lnSpc>
              <a:spcAft>
                <a:spcPts val="0"/>
              </a:spcAft>
            </a:pPr>
            <a:r>
              <a:rPr sz="860" b="1" i="0" spc="90">
                <a:solidFill>
                  <a:srgbClr val="5B6E82"/>
                </a:solidFill>
                <a:latin typeface="Arial"/>
              </a:rPr>
              <a:t>STRUCTURE</a:t>
            </a:r>
          </a:p>
        </p:txBody>
      </p:sp>
      <p:sp>
        <p:nvSpPr>
          <p:cNvPr id="6" name="TextBox 5"/>
          <p:cNvSpPr txBox="1"/>
          <p:nvPr/>
        </p:nvSpPr>
        <p:spPr>
          <a:xfrm>
            <a:off x="2996484" y="2026767"/>
            <a:ext cx="2772136" cy="310896"/>
          </a:xfrm>
          <a:prstGeom prst="rect">
            <a:avLst/>
          </a:prstGeom>
          <a:noFill/>
        </p:spPr>
        <p:txBody>
          <a:bodyPr wrap="square" lIns="0" tIns="0" rIns="0" bIns="0" anchor="t">
            <a:spAutoFit/>
          </a:bodyPr>
          <a:lstStyle/>
          <a:p>
            <a:pPr algn="l">
              <a:lnSpc>
                <a:spcPct val="112000"/>
              </a:lnSpc>
              <a:spcAft>
                <a:spcPts val="0"/>
              </a:spcAft>
            </a:pPr>
            <a:r>
              <a:rPr sz="860" b="1" i="0" spc="90">
                <a:solidFill>
                  <a:srgbClr val="5B6E82"/>
                </a:solidFill>
                <a:latin typeface="Arial"/>
              </a:rPr>
              <a:t>A · WHITE-LABEL, KD PAY AS MOR</a:t>
            </a:r>
          </a:p>
        </p:txBody>
      </p:sp>
      <p:sp>
        <p:nvSpPr>
          <p:cNvPr id="7" name="TextBox 6"/>
          <p:cNvSpPr txBox="1"/>
          <p:nvPr/>
        </p:nvSpPr>
        <p:spPr>
          <a:xfrm>
            <a:off x="5878348" y="2026767"/>
            <a:ext cx="2717761" cy="310896"/>
          </a:xfrm>
          <a:prstGeom prst="rect">
            <a:avLst/>
          </a:prstGeom>
          <a:noFill/>
        </p:spPr>
        <p:txBody>
          <a:bodyPr wrap="square" lIns="0" tIns="0" rIns="0" bIns="0" anchor="t">
            <a:spAutoFit/>
          </a:bodyPr>
          <a:lstStyle/>
          <a:p>
            <a:pPr algn="l">
              <a:lnSpc>
                <a:spcPct val="112000"/>
              </a:lnSpc>
              <a:spcAft>
                <a:spcPts val="0"/>
              </a:spcAft>
            </a:pPr>
            <a:r>
              <a:rPr sz="860" b="1" i="0" spc="90">
                <a:solidFill>
                  <a:srgbClr val="5B6E82"/>
                </a:solidFill>
                <a:latin typeface="Arial"/>
              </a:rPr>
              <a:t>B · WHITE-LABEL, AIRWALLEX AS MOR</a:t>
            </a:r>
          </a:p>
        </p:txBody>
      </p:sp>
      <p:sp>
        <p:nvSpPr>
          <p:cNvPr id="8" name="TextBox 7"/>
          <p:cNvSpPr txBox="1"/>
          <p:nvPr/>
        </p:nvSpPr>
        <p:spPr>
          <a:xfrm>
            <a:off x="8705837" y="2026767"/>
            <a:ext cx="2717761" cy="310896"/>
          </a:xfrm>
          <a:prstGeom prst="rect">
            <a:avLst/>
          </a:prstGeom>
          <a:noFill/>
        </p:spPr>
        <p:txBody>
          <a:bodyPr wrap="square" lIns="0" tIns="0" rIns="0" bIns="0" anchor="t">
            <a:spAutoFit/>
          </a:bodyPr>
          <a:lstStyle/>
          <a:p>
            <a:pPr algn="l">
              <a:lnSpc>
                <a:spcPct val="112000"/>
              </a:lnSpc>
              <a:spcAft>
                <a:spcPts val="0"/>
              </a:spcAft>
            </a:pPr>
            <a:r>
              <a:rPr sz="860" b="1" i="0" spc="90">
                <a:solidFill>
                  <a:srgbClr val="5B6E82"/>
                </a:solidFill>
                <a:latin typeface="Arial"/>
              </a:rPr>
              <a:t>C · CONNECTED ACCOUNTS</a:t>
            </a:r>
          </a:p>
        </p:txBody>
      </p:sp>
      <p:cxnSp>
        <p:nvCxnSpPr>
          <p:cNvPr id="9" name="Connector 8"/>
          <p:cNvCxnSpPr/>
          <p:nvPr/>
        </p:nvCxnSpPr>
        <p:spPr>
          <a:xfrm>
            <a:off x="658368" y="2319375"/>
            <a:ext cx="10874959" cy="0"/>
          </a:xfrm>
          <a:prstGeom prst="line">
            <a:avLst/>
          </a:prstGeom>
          <a:ln w="11430">
            <a:solidFill>
              <a:srgbClr val="DFE6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465679"/>
            <a:ext cx="2191812" cy="329184"/>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Merchant contracts with</a:t>
            </a:r>
          </a:p>
        </p:txBody>
      </p:sp>
      <p:sp>
        <p:nvSpPr>
          <p:cNvPr id="11" name="TextBox 10"/>
          <p:cNvSpPr txBox="1"/>
          <p:nvPr/>
        </p:nvSpPr>
        <p:spPr>
          <a:xfrm>
            <a:off x="2996484" y="2465679"/>
            <a:ext cx="2735560"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KD PAY, on our paper</a:t>
            </a:r>
          </a:p>
        </p:txBody>
      </p:sp>
      <p:sp>
        <p:nvSpPr>
          <p:cNvPr id="12" name="TextBox 11"/>
          <p:cNvSpPr txBox="1"/>
          <p:nvPr/>
        </p:nvSpPr>
        <p:spPr>
          <a:xfrm>
            <a:off x="5878348" y="2465679"/>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KD PAY, on your paper</a:t>
            </a:r>
          </a:p>
        </p:txBody>
      </p:sp>
      <p:sp>
        <p:nvSpPr>
          <p:cNvPr id="13" name="TextBox 12"/>
          <p:cNvSpPr txBox="1"/>
          <p:nvPr/>
        </p:nvSpPr>
        <p:spPr>
          <a:xfrm>
            <a:off x="8705837" y="2465679"/>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The merchant directly</a:t>
            </a:r>
          </a:p>
        </p:txBody>
      </p:sp>
      <p:sp>
        <p:nvSpPr>
          <p:cNvPr id="14" name="Rounded Rectangle 13"/>
          <p:cNvSpPr/>
          <p:nvPr/>
        </p:nvSpPr>
        <p:spPr>
          <a:xfrm>
            <a:off x="585216" y="2794863"/>
            <a:ext cx="11021263" cy="475488"/>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2941167"/>
            <a:ext cx="2191812" cy="329184"/>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Merchant of record</a:t>
            </a:r>
          </a:p>
        </p:txBody>
      </p:sp>
      <p:sp>
        <p:nvSpPr>
          <p:cNvPr id="16" name="TextBox 15"/>
          <p:cNvSpPr txBox="1"/>
          <p:nvPr/>
        </p:nvSpPr>
        <p:spPr>
          <a:xfrm>
            <a:off x="2996484" y="2941167"/>
            <a:ext cx="2735560"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KD PAY (proposed)</a:t>
            </a:r>
          </a:p>
        </p:txBody>
      </p:sp>
      <p:sp>
        <p:nvSpPr>
          <p:cNvPr id="17" name="TextBox 16"/>
          <p:cNvSpPr txBox="1"/>
          <p:nvPr/>
        </p:nvSpPr>
        <p:spPr>
          <a:xfrm>
            <a:off x="5878348" y="2941167"/>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Airwallex</a:t>
            </a:r>
          </a:p>
        </p:txBody>
      </p:sp>
      <p:sp>
        <p:nvSpPr>
          <p:cNvPr id="18" name="TextBox 17"/>
          <p:cNvSpPr txBox="1"/>
          <p:nvPr/>
        </p:nvSpPr>
        <p:spPr>
          <a:xfrm>
            <a:off x="8705837" y="2941167"/>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The merchant</a:t>
            </a:r>
          </a:p>
        </p:txBody>
      </p:sp>
      <p:sp>
        <p:nvSpPr>
          <p:cNvPr id="19" name="TextBox 18"/>
          <p:cNvSpPr txBox="1"/>
          <p:nvPr/>
        </p:nvSpPr>
        <p:spPr>
          <a:xfrm>
            <a:off x="658368" y="3416655"/>
            <a:ext cx="2191812" cy="329184"/>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Who KYBs merchants</a:t>
            </a:r>
          </a:p>
        </p:txBody>
      </p:sp>
      <p:sp>
        <p:nvSpPr>
          <p:cNvPr id="20" name="TextBox 19"/>
          <p:cNvSpPr txBox="1"/>
          <p:nvPr/>
        </p:nvSpPr>
        <p:spPr>
          <a:xfrm>
            <a:off x="2996484" y="3416655"/>
            <a:ext cx="2735560"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Our ops team, to your standards</a:t>
            </a:r>
          </a:p>
        </p:txBody>
      </p:sp>
      <p:sp>
        <p:nvSpPr>
          <p:cNvPr id="21" name="TextBox 20"/>
          <p:cNvSpPr txBox="1"/>
          <p:nvPr/>
        </p:nvSpPr>
        <p:spPr>
          <a:xfrm>
            <a:off x="5878348" y="3416655"/>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Your team, we front it</a:t>
            </a:r>
          </a:p>
        </p:txBody>
      </p:sp>
      <p:sp>
        <p:nvSpPr>
          <p:cNvPr id="22" name="TextBox 21"/>
          <p:cNvSpPr txBox="1"/>
          <p:nvPr/>
        </p:nvSpPr>
        <p:spPr>
          <a:xfrm>
            <a:off x="8705837" y="3416655"/>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Your team, per merchant</a:t>
            </a:r>
          </a:p>
        </p:txBody>
      </p:sp>
      <p:sp>
        <p:nvSpPr>
          <p:cNvPr id="23" name="Rounded Rectangle 22"/>
          <p:cNvSpPr/>
          <p:nvPr/>
        </p:nvSpPr>
        <p:spPr>
          <a:xfrm>
            <a:off x="585216" y="3745839"/>
            <a:ext cx="11021263" cy="475488"/>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3892143"/>
            <a:ext cx="2191812" cy="329184"/>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Who holds funds</a:t>
            </a:r>
          </a:p>
        </p:txBody>
      </p:sp>
      <p:sp>
        <p:nvSpPr>
          <p:cNvPr id="25" name="TextBox 24"/>
          <p:cNvSpPr txBox="1"/>
          <p:nvPr/>
        </p:nvSpPr>
        <p:spPr>
          <a:xfrm>
            <a:off x="2996484" y="3892143"/>
            <a:ext cx="2735560"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Your ledger + our reserve</a:t>
            </a:r>
          </a:p>
        </p:txBody>
      </p:sp>
      <p:sp>
        <p:nvSpPr>
          <p:cNvPr id="26" name="TextBox 25"/>
          <p:cNvSpPr txBox="1"/>
          <p:nvPr/>
        </p:nvSpPr>
        <p:spPr>
          <a:xfrm>
            <a:off x="5878348" y="3892143"/>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Your ledger</a:t>
            </a:r>
          </a:p>
        </p:txBody>
      </p:sp>
      <p:sp>
        <p:nvSpPr>
          <p:cNvPr id="27" name="TextBox 26"/>
          <p:cNvSpPr txBox="1"/>
          <p:nvPr/>
        </p:nvSpPr>
        <p:spPr>
          <a:xfrm>
            <a:off x="8705837" y="3892143"/>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Merchant's own wallet</a:t>
            </a:r>
          </a:p>
        </p:txBody>
      </p:sp>
      <p:sp>
        <p:nvSpPr>
          <p:cNvPr id="28" name="TextBox 27"/>
          <p:cNvSpPr txBox="1"/>
          <p:nvPr/>
        </p:nvSpPr>
        <p:spPr>
          <a:xfrm>
            <a:off x="658368" y="4367631"/>
            <a:ext cx="2191812" cy="329184"/>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Chargeback and fraud loss</a:t>
            </a:r>
          </a:p>
        </p:txBody>
      </p:sp>
      <p:sp>
        <p:nvSpPr>
          <p:cNvPr id="29" name="TextBox 28"/>
          <p:cNvSpPr txBox="1"/>
          <p:nvPr/>
        </p:nvSpPr>
        <p:spPr>
          <a:xfrm>
            <a:off x="2996484" y="4367631"/>
            <a:ext cx="2735560"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KD PAY</a:t>
            </a:r>
          </a:p>
        </p:txBody>
      </p:sp>
      <p:sp>
        <p:nvSpPr>
          <p:cNvPr id="30" name="TextBox 29"/>
          <p:cNvSpPr txBox="1"/>
          <p:nvPr/>
        </p:nvSpPr>
        <p:spPr>
          <a:xfrm>
            <a:off x="5878348" y="4367631"/>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Split, negotiated</a:t>
            </a:r>
          </a:p>
        </p:txBody>
      </p:sp>
      <p:sp>
        <p:nvSpPr>
          <p:cNvPr id="31" name="TextBox 30"/>
          <p:cNvSpPr txBox="1"/>
          <p:nvPr/>
        </p:nvSpPr>
        <p:spPr>
          <a:xfrm>
            <a:off x="8705837" y="4367631"/>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The merchant</a:t>
            </a:r>
          </a:p>
        </p:txBody>
      </p:sp>
      <p:sp>
        <p:nvSpPr>
          <p:cNvPr id="32" name="Rounded Rectangle 31"/>
          <p:cNvSpPr/>
          <p:nvPr/>
        </p:nvSpPr>
        <p:spPr>
          <a:xfrm>
            <a:off x="585216" y="4696815"/>
            <a:ext cx="11021263" cy="475488"/>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8368" y="4843119"/>
            <a:ext cx="2191812" cy="329184"/>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Time to first payment</a:t>
            </a:r>
          </a:p>
        </p:txBody>
      </p:sp>
      <p:sp>
        <p:nvSpPr>
          <p:cNvPr id="34" name="TextBox 33"/>
          <p:cNvSpPr txBox="1"/>
          <p:nvPr/>
        </p:nvSpPr>
        <p:spPr>
          <a:xfrm>
            <a:off x="2996484" y="4843119"/>
            <a:ext cx="2735560"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Weeks</a:t>
            </a:r>
          </a:p>
        </p:txBody>
      </p:sp>
      <p:sp>
        <p:nvSpPr>
          <p:cNvPr id="35" name="TextBox 34"/>
          <p:cNvSpPr txBox="1"/>
          <p:nvPr/>
        </p:nvSpPr>
        <p:spPr>
          <a:xfrm>
            <a:off x="5878348" y="4843119"/>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2–3 months</a:t>
            </a:r>
          </a:p>
        </p:txBody>
      </p:sp>
      <p:sp>
        <p:nvSpPr>
          <p:cNvPr id="36" name="TextBox 35"/>
          <p:cNvSpPr txBox="1"/>
          <p:nvPr/>
        </p:nvSpPr>
        <p:spPr>
          <a:xfrm>
            <a:off x="8705837" y="4843119"/>
            <a:ext cx="2681185" cy="329184"/>
          </a:xfrm>
          <a:prstGeom prst="rect">
            <a:avLst/>
          </a:prstGeom>
          <a:noFill/>
        </p:spPr>
        <p:txBody>
          <a:bodyPr wrap="square" lIns="0" tIns="0" rIns="0" bIns="0" anchor="t">
            <a:spAutoFit/>
          </a:bodyPr>
          <a:lstStyle/>
          <a:p>
            <a:pPr algn="l">
              <a:lnSpc>
                <a:spcPct val="112000"/>
              </a:lnSpc>
              <a:spcAft>
                <a:spcPts val="0"/>
              </a:spcAft>
            </a:pPr>
            <a:r>
              <a:rPr sz="960" b="0" i="0">
                <a:solidFill>
                  <a:srgbClr val="102236"/>
                </a:solidFill>
                <a:latin typeface="Arial"/>
              </a:rPr>
              <a:t>Days per merchant</a:t>
            </a:r>
          </a:p>
        </p:txBody>
      </p:sp>
      <p:sp>
        <p:nvSpPr>
          <p:cNvPr id="37" name="Rounded Rectangle 36"/>
          <p:cNvSpPr/>
          <p:nvPr/>
        </p:nvSpPr>
        <p:spPr>
          <a:xfrm>
            <a:off x="658368" y="5410047"/>
            <a:ext cx="10874959" cy="713232"/>
          </a:xfrm>
          <a:prstGeom prst="roundRect">
            <a:avLst>
              <a:gd name="adj" fmla="val 5000"/>
            </a:avLst>
          </a:prstGeom>
          <a:solidFill>
            <a:srgbClr val="E7F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32688" y="5538063"/>
            <a:ext cx="3291840"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8A69"/>
                </a:solidFill>
                <a:latin typeface="Arial"/>
              </a:rPr>
              <a:t>OUR RECOMMENDATION</a:t>
            </a:r>
          </a:p>
        </p:txBody>
      </p:sp>
      <p:sp>
        <p:nvSpPr>
          <p:cNvPr id="39" name="TextBox 38"/>
          <p:cNvSpPr txBox="1"/>
          <p:nvPr/>
        </p:nvSpPr>
        <p:spPr>
          <a:xfrm>
            <a:off x="932688" y="5794095"/>
            <a:ext cx="10326319" cy="320040"/>
          </a:xfrm>
          <a:prstGeom prst="rect">
            <a:avLst/>
          </a:prstGeom>
          <a:noFill/>
        </p:spPr>
        <p:txBody>
          <a:bodyPr wrap="square" lIns="0" tIns="0" rIns="0" bIns="0" anchor="t">
            <a:spAutoFit/>
          </a:bodyPr>
          <a:lstStyle/>
          <a:p>
            <a:pPr algn="l">
              <a:lnSpc>
                <a:spcPct val="120000"/>
              </a:lnSpc>
              <a:spcAft>
                <a:spcPts val="0"/>
              </a:spcAft>
            </a:pPr>
            <a:r>
              <a:rPr sz="1040" b="0" i="0">
                <a:solidFill>
                  <a:srgbClr val="102236"/>
                </a:solidFill>
                <a:latin typeface="Arial"/>
              </a:rPr>
              <a:t>A at launch for the SMB book  ·  B if you need to hold the record yourself  ·  C in year two for enterprise merchants who want their own account.</a:t>
            </a:r>
          </a:p>
        </p:txBody>
      </p:sp>
      <p:cxnSp>
        <p:nvCxnSpPr>
          <p:cNvPr id="40" name="Connector 39"/>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42" name="TextBox 41"/>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DISTRIBUTION</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How merchants actually arrive</a:t>
            </a:r>
          </a:p>
        </p:txBody>
      </p:sp>
      <p:sp>
        <p:nvSpPr>
          <p:cNvPr id="4" name="TextBox 3"/>
          <p:cNvSpPr txBox="1"/>
          <p:nvPr/>
        </p:nvSpPr>
        <p:spPr>
          <a:xfrm>
            <a:off x="658368" y="1307592"/>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In Asia, the integration is the sales channel. Phase 1 is deliberately the smallest thing that lets a merchant take a card payment this week.</a:t>
            </a:r>
          </a:p>
        </p:txBody>
      </p:sp>
      <p:sp>
        <p:nvSpPr>
          <p:cNvPr id="5" name="Rounded Rectangle 4"/>
          <p:cNvSpPr/>
          <p:nvPr/>
        </p:nvSpPr>
        <p:spPr>
          <a:xfrm>
            <a:off x="658368" y="2146554"/>
            <a:ext cx="3472586" cy="1874519"/>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347722"/>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01</a:t>
            </a:r>
          </a:p>
        </p:txBody>
      </p:sp>
      <p:sp>
        <p:nvSpPr>
          <p:cNvPr id="7" name="TextBox 6"/>
          <p:cNvSpPr txBox="1"/>
          <p:nvPr/>
        </p:nvSpPr>
        <p:spPr>
          <a:xfrm>
            <a:off x="896112" y="2585466"/>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Shopify and WooCommerce</a:t>
            </a:r>
          </a:p>
        </p:txBody>
      </p:sp>
      <p:sp>
        <p:nvSpPr>
          <p:cNvPr id="8" name="TextBox 7"/>
          <p:cNvSpPr txBox="1"/>
          <p:nvPr/>
        </p:nvSpPr>
        <p:spPr>
          <a:xfrm>
            <a:off x="896112" y="2966085"/>
            <a:ext cx="2997098" cy="890396"/>
          </a:xfrm>
          <a:prstGeom prst="rect">
            <a:avLst/>
          </a:prstGeom>
          <a:noFill/>
        </p:spPr>
        <p:txBody>
          <a:bodyPr wrap="square" lIns="0" tIns="0" rIns="0" bIns="0" anchor="t">
            <a:spAutoFit/>
          </a:bodyPr>
          <a:lstStyle/>
          <a:p>
            <a:pPr algn="l">
              <a:lnSpc>
                <a:spcPct val="122000"/>
              </a:lnSpc>
              <a:spcAft>
                <a:spcPts val="0"/>
              </a:spcAft>
            </a:pPr>
            <a:r>
              <a:rPr sz="1019" b="0" i="0">
                <a:solidFill>
                  <a:srgbClr val="5B6E82"/>
                </a:solidFill>
                <a:latin typeface="Arial"/>
              </a:rPr>
              <a:t>Plugins for both platforms: install, paste a key, take payments. Most Asian SMBs have no developer — this is the whole go-to-market for the long tail.</a:t>
            </a:r>
          </a:p>
        </p:txBody>
      </p:sp>
      <p:sp>
        <p:nvSpPr>
          <p:cNvPr id="9" name="Rounded Rectangle 8"/>
          <p:cNvSpPr/>
          <p:nvPr/>
        </p:nvSpPr>
        <p:spPr>
          <a:xfrm>
            <a:off x="4359554" y="2146554"/>
            <a:ext cx="3472586" cy="1874519"/>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97298" y="2347722"/>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02</a:t>
            </a:r>
          </a:p>
        </p:txBody>
      </p:sp>
      <p:sp>
        <p:nvSpPr>
          <p:cNvPr id="11" name="TextBox 10"/>
          <p:cNvSpPr txBox="1"/>
          <p:nvPr/>
        </p:nvSpPr>
        <p:spPr>
          <a:xfrm>
            <a:off x="4597298" y="2585466"/>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Hosted checkout and links</a:t>
            </a:r>
          </a:p>
        </p:txBody>
      </p:sp>
      <p:sp>
        <p:nvSpPr>
          <p:cNvPr id="12" name="TextBox 11"/>
          <p:cNvSpPr txBox="1"/>
          <p:nvPr/>
        </p:nvSpPr>
        <p:spPr>
          <a:xfrm>
            <a:off x="4597298" y="2966085"/>
            <a:ext cx="2997098" cy="890396"/>
          </a:xfrm>
          <a:prstGeom prst="rect">
            <a:avLst/>
          </a:prstGeom>
          <a:noFill/>
        </p:spPr>
        <p:txBody>
          <a:bodyPr wrap="square" lIns="0" tIns="0" rIns="0" bIns="0" anchor="t">
            <a:spAutoFit/>
          </a:bodyPr>
          <a:lstStyle/>
          <a:p>
            <a:pPr algn="l">
              <a:lnSpc>
                <a:spcPct val="122000"/>
              </a:lnSpc>
              <a:spcAft>
                <a:spcPts val="0"/>
              </a:spcAft>
            </a:pPr>
            <a:r>
              <a:rPr sz="1019" b="0" i="0">
                <a:solidFill>
                  <a:srgbClr val="5B6E82"/>
                </a:solidFill>
                <a:latin typeface="Arial"/>
              </a:rPr>
              <a:t>For merchants with no store platform at all: invoice, send a link, get paid. Works on any site, mobile-first.</a:t>
            </a:r>
          </a:p>
        </p:txBody>
      </p:sp>
      <p:sp>
        <p:nvSpPr>
          <p:cNvPr id="13" name="Rounded Rectangle 12"/>
          <p:cNvSpPr/>
          <p:nvPr/>
        </p:nvSpPr>
        <p:spPr>
          <a:xfrm>
            <a:off x="8060740" y="2146554"/>
            <a:ext cx="3472586" cy="1874519"/>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98484" y="2347722"/>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03</a:t>
            </a:r>
          </a:p>
        </p:txBody>
      </p:sp>
      <p:sp>
        <p:nvSpPr>
          <p:cNvPr id="15" name="TextBox 14"/>
          <p:cNvSpPr txBox="1"/>
          <p:nvPr/>
        </p:nvSpPr>
        <p:spPr>
          <a:xfrm>
            <a:off x="8298484" y="2585466"/>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Partner and agency channel</a:t>
            </a:r>
          </a:p>
        </p:txBody>
      </p:sp>
      <p:sp>
        <p:nvSpPr>
          <p:cNvPr id="16" name="TextBox 15"/>
          <p:cNvSpPr txBox="1"/>
          <p:nvPr/>
        </p:nvSpPr>
        <p:spPr>
          <a:xfrm>
            <a:off x="8298484" y="2966085"/>
            <a:ext cx="2997098" cy="890396"/>
          </a:xfrm>
          <a:prstGeom prst="rect">
            <a:avLst/>
          </a:prstGeom>
          <a:noFill/>
        </p:spPr>
        <p:txBody>
          <a:bodyPr wrap="square" lIns="0" tIns="0" rIns="0" bIns="0" anchor="t">
            <a:spAutoFit/>
          </a:bodyPr>
          <a:lstStyle/>
          <a:p>
            <a:pPr algn="l">
              <a:lnSpc>
                <a:spcPct val="122000"/>
              </a:lnSpc>
              <a:spcAft>
                <a:spcPts val="0"/>
              </a:spcAft>
            </a:pPr>
            <a:r>
              <a:rPr sz="1019" b="0" i="0">
                <a:solidFill>
                  <a:srgbClr val="5B6E82"/>
                </a:solidFill>
                <a:latin typeface="Arial"/>
              </a:rPr>
              <a:t>Agencies, hosting companies and ERP integrators who already serve these merchants. One partner brings twenty merchants.</a:t>
            </a:r>
          </a:p>
        </p:txBody>
      </p:sp>
      <p:sp>
        <p:nvSpPr>
          <p:cNvPr id="17" name="TextBox 16"/>
          <p:cNvSpPr txBox="1"/>
          <p:nvPr/>
        </p:nvSpPr>
        <p:spPr>
          <a:xfrm>
            <a:off x="658368" y="4267962"/>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WHY DISTRIBUTION BEATS FEATURES HERE</a:t>
            </a:r>
          </a:p>
        </p:txBody>
      </p:sp>
      <p:sp>
        <p:nvSpPr>
          <p:cNvPr id="18" name="TextBox 17"/>
          <p:cNvSpPr txBox="1"/>
          <p:nvPr/>
        </p:nvSpPr>
        <p:spPr>
          <a:xfrm>
            <a:off x="658368" y="4560570"/>
            <a:ext cx="2426131"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Time to live</a:t>
            </a:r>
          </a:p>
        </p:txBody>
      </p:sp>
      <p:sp>
        <p:nvSpPr>
          <p:cNvPr id="19" name="TextBox 18"/>
          <p:cNvSpPr txBox="1"/>
          <p:nvPr/>
        </p:nvSpPr>
        <p:spPr>
          <a:xfrm>
            <a:off x="658368" y="4816602"/>
            <a:ext cx="2426131" cy="502920"/>
          </a:xfrm>
          <a:prstGeom prst="rect">
            <a:avLst/>
          </a:prstGeom>
          <a:noFill/>
        </p:spPr>
        <p:txBody>
          <a:bodyPr wrap="square" lIns="0" tIns="0" rIns="0" bIns="0" anchor="t">
            <a:spAutoFit/>
          </a:bodyPr>
          <a:lstStyle/>
          <a:p>
            <a:pPr algn="l">
              <a:lnSpc>
                <a:spcPct val="120000"/>
              </a:lnSpc>
              <a:spcAft>
                <a:spcPts val="0"/>
              </a:spcAft>
            </a:pPr>
            <a:r>
              <a:rPr sz="919" b="0" i="0">
                <a:solidFill>
                  <a:srgbClr val="5B6E82"/>
                </a:solidFill>
                <a:latin typeface="Arial"/>
              </a:rPr>
              <a:t>Hours, not weeks — the merchant installs and starts.</a:t>
            </a:r>
          </a:p>
        </p:txBody>
      </p:sp>
      <p:sp>
        <p:nvSpPr>
          <p:cNvPr id="20" name="TextBox 19"/>
          <p:cNvSpPr txBox="1"/>
          <p:nvPr/>
        </p:nvSpPr>
        <p:spPr>
          <a:xfrm>
            <a:off x="3377107" y="4560570"/>
            <a:ext cx="2426131"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Local methods</a:t>
            </a:r>
          </a:p>
        </p:txBody>
      </p:sp>
      <p:sp>
        <p:nvSpPr>
          <p:cNvPr id="21" name="TextBox 20"/>
          <p:cNvSpPr txBox="1"/>
          <p:nvPr/>
        </p:nvSpPr>
        <p:spPr>
          <a:xfrm>
            <a:off x="3377107" y="4816602"/>
            <a:ext cx="2426131" cy="502920"/>
          </a:xfrm>
          <a:prstGeom prst="rect">
            <a:avLst/>
          </a:prstGeom>
          <a:noFill/>
        </p:spPr>
        <p:txBody>
          <a:bodyPr wrap="square" lIns="0" tIns="0" rIns="0" bIns="0" anchor="t">
            <a:spAutoFit/>
          </a:bodyPr>
          <a:lstStyle/>
          <a:p>
            <a:pPr algn="l">
              <a:lnSpc>
                <a:spcPct val="120000"/>
              </a:lnSpc>
              <a:spcAft>
                <a:spcPts val="0"/>
              </a:spcAft>
            </a:pPr>
            <a:r>
              <a:rPr sz="919" b="0" i="0">
                <a:solidFill>
                  <a:srgbClr val="5B6E82"/>
                </a:solidFill>
                <a:latin typeface="Arial"/>
              </a:rPr>
              <a:t>Wallets and bank transfer decide conversion in Asia, not card branding.</a:t>
            </a:r>
          </a:p>
        </p:txBody>
      </p:sp>
      <p:sp>
        <p:nvSpPr>
          <p:cNvPr id="22" name="TextBox 21"/>
          <p:cNvSpPr txBox="1"/>
          <p:nvPr/>
        </p:nvSpPr>
        <p:spPr>
          <a:xfrm>
            <a:off x="6095847" y="4560570"/>
            <a:ext cx="2426131"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Support language</a:t>
            </a:r>
          </a:p>
        </p:txBody>
      </p:sp>
      <p:sp>
        <p:nvSpPr>
          <p:cNvPr id="23" name="TextBox 22"/>
          <p:cNvSpPr txBox="1"/>
          <p:nvPr/>
        </p:nvSpPr>
        <p:spPr>
          <a:xfrm>
            <a:off x="6095847" y="4816602"/>
            <a:ext cx="2426131" cy="502920"/>
          </a:xfrm>
          <a:prstGeom prst="rect">
            <a:avLst/>
          </a:prstGeom>
          <a:noFill/>
        </p:spPr>
        <p:txBody>
          <a:bodyPr wrap="square" lIns="0" tIns="0" rIns="0" bIns="0" anchor="t">
            <a:spAutoFit/>
          </a:bodyPr>
          <a:lstStyle/>
          <a:p>
            <a:pPr algn="l">
              <a:lnSpc>
                <a:spcPct val="120000"/>
              </a:lnSpc>
              <a:spcAft>
                <a:spcPts val="0"/>
              </a:spcAft>
            </a:pPr>
            <a:r>
              <a:rPr sz="919" b="0" i="0">
                <a:solidFill>
                  <a:srgbClr val="5B6E82"/>
                </a:solidFill>
                <a:latin typeface="Arial"/>
              </a:rPr>
              <a:t>Bangla, Hindi, Bahasa and English at first line.</a:t>
            </a:r>
          </a:p>
        </p:txBody>
      </p:sp>
      <p:sp>
        <p:nvSpPr>
          <p:cNvPr id="24" name="TextBox 23"/>
          <p:cNvSpPr txBox="1"/>
          <p:nvPr/>
        </p:nvSpPr>
        <p:spPr>
          <a:xfrm>
            <a:off x="8814587" y="4560570"/>
            <a:ext cx="2426131"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One contract</a:t>
            </a:r>
          </a:p>
        </p:txBody>
      </p:sp>
      <p:sp>
        <p:nvSpPr>
          <p:cNvPr id="25" name="TextBox 24"/>
          <p:cNvSpPr txBox="1"/>
          <p:nvPr/>
        </p:nvSpPr>
        <p:spPr>
          <a:xfrm>
            <a:off x="8814587" y="4816602"/>
            <a:ext cx="2426131" cy="502920"/>
          </a:xfrm>
          <a:prstGeom prst="rect">
            <a:avLst/>
          </a:prstGeom>
          <a:noFill/>
        </p:spPr>
        <p:txBody>
          <a:bodyPr wrap="square" lIns="0" tIns="0" rIns="0" bIns="0" anchor="t">
            <a:spAutoFit/>
          </a:bodyPr>
          <a:lstStyle/>
          <a:p>
            <a:pPr algn="l">
              <a:lnSpc>
                <a:spcPct val="120000"/>
              </a:lnSpc>
              <a:spcAft>
                <a:spcPts val="0"/>
              </a:spcAft>
            </a:pPr>
            <a:r>
              <a:rPr sz="919" b="0" i="0">
                <a:solidFill>
                  <a:srgbClr val="5B6E82"/>
                </a:solidFill>
                <a:latin typeface="Arial"/>
              </a:rPr>
              <a:t>The merchant deals with us, not with a queue at a provider.</a:t>
            </a:r>
          </a:p>
        </p:txBody>
      </p:sp>
      <p:cxnSp>
        <p:nvCxnSpPr>
          <p:cNvPr id="26" name="Connector 25"/>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28" name="TextBox 27"/>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ECONOMICS</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What the model is worth at our volume</a:t>
            </a:r>
          </a:p>
        </p:txBody>
      </p:sp>
      <p:sp>
        <p:nvSpPr>
          <p:cNvPr id="4" name="TextBox 3"/>
          <p:cNvSpPr txBox="1"/>
          <p:nvPr/>
        </p:nvSpPr>
        <p:spPr>
          <a:xfrm>
            <a:off x="658368" y="1307592"/>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Take rate is the percentage we charge a merchant on card volume. Illustrative only — no price has been discussed with you yet.</a:t>
            </a:r>
          </a:p>
        </p:txBody>
      </p:sp>
      <p:sp>
        <p:nvSpPr>
          <p:cNvPr id="5" name="TextBox 4"/>
          <p:cNvSpPr txBox="1"/>
          <p:nvPr/>
        </p:nvSpPr>
        <p:spPr>
          <a:xfrm>
            <a:off x="658368" y="2100834"/>
            <a:ext cx="2227478" cy="310896"/>
          </a:xfrm>
          <a:prstGeom prst="rect">
            <a:avLst/>
          </a:prstGeom>
          <a:noFill/>
        </p:spPr>
        <p:txBody>
          <a:bodyPr wrap="square" lIns="0" tIns="0" rIns="0" bIns="0" anchor="t">
            <a:spAutoFit/>
          </a:bodyPr>
          <a:lstStyle/>
          <a:p>
            <a:pPr algn="l">
              <a:lnSpc>
                <a:spcPct val="112000"/>
              </a:lnSpc>
              <a:spcAft>
                <a:spcPts val="0"/>
              </a:spcAft>
            </a:pPr>
            <a:r>
              <a:rPr sz="880" b="1" i="0" spc="90">
                <a:solidFill>
                  <a:srgbClr val="5B6E82"/>
                </a:solidFill>
                <a:latin typeface="Arial"/>
              </a:rPr>
              <a:t>MONTHLY VOLUME</a:t>
            </a:r>
          </a:p>
        </p:txBody>
      </p:sp>
      <p:sp>
        <p:nvSpPr>
          <p:cNvPr id="6" name="TextBox 5"/>
          <p:cNvSpPr txBox="1"/>
          <p:nvPr/>
        </p:nvSpPr>
        <p:spPr>
          <a:xfrm>
            <a:off x="2995574" y="2100834"/>
            <a:ext cx="1253642" cy="310896"/>
          </a:xfrm>
          <a:prstGeom prst="rect">
            <a:avLst/>
          </a:prstGeom>
          <a:noFill/>
        </p:spPr>
        <p:txBody>
          <a:bodyPr wrap="square" lIns="0" tIns="0" rIns="0" bIns="0" anchor="t">
            <a:spAutoFit/>
          </a:bodyPr>
          <a:lstStyle/>
          <a:p>
            <a:pPr algn="l">
              <a:lnSpc>
                <a:spcPct val="112000"/>
              </a:lnSpc>
              <a:spcAft>
                <a:spcPts val="0"/>
              </a:spcAft>
            </a:pPr>
            <a:r>
              <a:rPr sz="880" b="1" i="0" spc="90">
                <a:solidFill>
                  <a:srgbClr val="5B6E82"/>
                </a:solidFill>
                <a:latin typeface="Arial"/>
              </a:rPr>
              <a:t>1.0% TAKE</a:t>
            </a:r>
          </a:p>
        </p:txBody>
      </p:sp>
      <p:sp>
        <p:nvSpPr>
          <p:cNvPr id="7" name="TextBox 6"/>
          <p:cNvSpPr txBox="1"/>
          <p:nvPr/>
        </p:nvSpPr>
        <p:spPr>
          <a:xfrm>
            <a:off x="4358944" y="2100834"/>
            <a:ext cx="1253642" cy="310896"/>
          </a:xfrm>
          <a:prstGeom prst="rect">
            <a:avLst/>
          </a:prstGeom>
          <a:noFill/>
        </p:spPr>
        <p:txBody>
          <a:bodyPr wrap="square" lIns="0" tIns="0" rIns="0" bIns="0" anchor="t">
            <a:spAutoFit/>
          </a:bodyPr>
          <a:lstStyle/>
          <a:p>
            <a:pPr algn="l">
              <a:lnSpc>
                <a:spcPct val="112000"/>
              </a:lnSpc>
              <a:spcAft>
                <a:spcPts val="0"/>
              </a:spcAft>
            </a:pPr>
            <a:r>
              <a:rPr sz="880" b="1" i="0" spc="90">
                <a:solidFill>
                  <a:srgbClr val="5B6E82"/>
                </a:solidFill>
                <a:latin typeface="Arial"/>
              </a:rPr>
              <a:t>1.5% TAKE</a:t>
            </a:r>
          </a:p>
        </p:txBody>
      </p:sp>
      <p:sp>
        <p:nvSpPr>
          <p:cNvPr id="8" name="TextBox 7"/>
          <p:cNvSpPr txBox="1"/>
          <p:nvPr/>
        </p:nvSpPr>
        <p:spPr>
          <a:xfrm>
            <a:off x="5722315" y="2100834"/>
            <a:ext cx="1253642" cy="310896"/>
          </a:xfrm>
          <a:prstGeom prst="rect">
            <a:avLst/>
          </a:prstGeom>
          <a:noFill/>
        </p:spPr>
        <p:txBody>
          <a:bodyPr wrap="square" lIns="0" tIns="0" rIns="0" bIns="0" anchor="t">
            <a:spAutoFit/>
          </a:bodyPr>
          <a:lstStyle/>
          <a:p>
            <a:pPr algn="l">
              <a:lnSpc>
                <a:spcPct val="112000"/>
              </a:lnSpc>
              <a:spcAft>
                <a:spcPts val="0"/>
              </a:spcAft>
            </a:pPr>
            <a:r>
              <a:rPr sz="880" b="1" i="0" spc="90">
                <a:solidFill>
                  <a:srgbClr val="5B6E82"/>
                </a:solidFill>
                <a:latin typeface="Arial"/>
              </a:rPr>
              <a:t>2.0% TAKE</a:t>
            </a:r>
          </a:p>
        </p:txBody>
      </p:sp>
      <p:cxnSp>
        <p:nvCxnSpPr>
          <p:cNvPr id="9" name="Connector 8"/>
          <p:cNvCxnSpPr/>
          <p:nvPr/>
        </p:nvCxnSpPr>
        <p:spPr>
          <a:xfrm>
            <a:off x="658368" y="2393441"/>
            <a:ext cx="6492239" cy="0"/>
          </a:xfrm>
          <a:prstGeom prst="line">
            <a:avLst/>
          </a:prstGeom>
          <a:ln w="11430">
            <a:solidFill>
              <a:srgbClr val="DFE6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539746"/>
            <a:ext cx="2190902" cy="420623"/>
          </a:xfrm>
          <a:prstGeom prst="rect">
            <a:avLst/>
          </a:prstGeom>
          <a:noFill/>
        </p:spPr>
        <p:txBody>
          <a:bodyPr wrap="square" lIns="0" tIns="0" rIns="0" bIns="0" anchor="t">
            <a:spAutoFit/>
          </a:bodyPr>
          <a:lstStyle/>
          <a:p>
            <a:pPr algn="l">
              <a:lnSpc>
                <a:spcPct val="112000"/>
              </a:lnSpc>
              <a:spcAft>
                <a:spcPts val="0"/>
              </a:spcAft>
            </a:pPr>
            <a:r>
              <a:rPr sz="1100" b="1" i="0">
                <a:solidFill>
                  <a:srgbClr val="102236"/>
                </a:solidFill>
                <a:latin typeface="Arial"/>
              </a:rPr>
              <a:t>Today — $800,000</a:t>
            </a:r>
          </a:p>
        </p:txBody>
      </p:sp>
      <p:sp>
        <p:nvSpPr>
          <p:cNvPr id="11" name="TextBox 10"/>
          <p:cNvSpPr txBox="1"/>
          <p:nvPr/>
        </p:nvSpPr>
        <p:spPr>
          <a:xfrm>
            <a:off x="2995574" y="2539746"/>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$8,000</a:t>
            </a:r>
          </a:p>
        </p:txBody>
      </p:sp>
      <p:sp>
        <p:nvSpPr>
          <p:cNvPr id="12" name="TextBox 11"/>
          <p:cNvSpPr txBox="1"/>
          <p:nvPr/>
        </p:nvSpPr>
        <p:spPr>
          <a:xfrm>
            <a:off x="4358944" y="2539746"/>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008A69"/>
                </a:solidFill>
                <a:latin typeface="Arial"/>
              </a:rPr>
              <a:t>$12,000</a:t>
            </a:r>
          </a:p>
        </p:txBody>
      </p:sp>
      <p:sp>
        <p:nvSpPr>
          <p:cNvPr id="13" name="TextBox 12"/>
          <p:cNvSpPr txBox="1"/>
          <p:nvPr/>
        </p:nvSpPr>
        <p:spPr>
          <a:xfrm>
            <a:off x="5722315" y="2539746"/>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$16,000</a:t>
            </a:r>
          </a:p>
        </p:txBody>
      </p:sp>
      <p:sp>
        <p:nvSpPr>
          <p:cNvPr id="14" name="Rounded Rectangle 13"/>
          <p:cNvSpPr/>
          <p:nvPr/>
        </p:nvSpPr>
        <p:spPr>
          <a:xfrm>
            <a:off x="585216" y="2960370"/>
            <a:ext cx="6638544" cy="566928"/>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106674"/>
            <a:ext cx="2190902" cy="420623"/>
          </a:xfrm>
          <a:prstGeom prst="rect">
            <a:avLst/>
          </a:prstGeom>
          <a:noFill/>
        </p:spPr>
        <p:txBody>
          <a:bodyPr wrap="square" lIns="0" tIns="0" rIns="0" bIns="0" anchor="t">
            <a:spAutoFit/>
          </a:bodyPr>
          <a:lstStyle/>
          <a:p>
            <a:pPr algn="l">
              <a:lnSpc>
                <a:spcPct val="112000"/>
              </a:lnSpc>
              <a:spcAft>
                <a:spcPts val="0"/>
              </a:spcAft>
            </a:pPr>
            <a:r>
              <a:rPr sz="1100" b="1" i="0">
                <a:solidFill>
                  <a:srgbClr val="102236"/>
                </a:solidFill>
                <a:latin typeface="Arial"/>
              </a:rPr>
              <a:t>$2,000,000</a:t>
            </a:r>
          </a:p>
        </p:txBody>
      </p:sp>
      <p:sp>
        <p:nvSpPr>
          <p:cNvPr id="16" name="TextBox 15"/>
          <p:cNvSpPr txBox="1"/>
          <p:nvPr/>
        </p:nvSpPr>
        <p:spPr>
          <a:xfrm>
            <a:off x="2995574" y="3106674"/>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$20,000</a:t>
            </a:r>
          </a:p>
        </p:txBody>
      </p:sp>
      <p:sp>
        <p:nvSpPr>
          <p:cNvPr id="17" name="TextBox 16"/>
          <p:cNvSpPr txBox="1"/>
          <p:nvPr/>
        </p:nvSpPr>
        <p:spPr>
          <a:xfrm>
            <a:off x="4358944" y="3106674"/>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008A69"/>
                </a:solidFill>
                <a:latin typeface="Arial"/>
              </a:rPr>
              <a:t>$30,000</a:t>
            </a:r>
          </a:p>
        </p:txBody>
      </p:sp>
      <p:sp>
        <p:nvSpPr>
          <p:cNvPr id="18" name="TextBox 17"/>
          <p:cNvSpPr txBox="1"/>
          <p:nvPr/>
        </p:nvSpPr>
        <p:spPr>
          <a:xfrm>
            <a:off x="5722315" y="3106674"/>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$40,000</a:t>
            </a:r>
          </a:p>
        </p:txBody>
      </p:sp>
      <p:sp>
        <p:nvSpPr>
          <p:cNvPr id="19" name="TextBox 18"/>
          <p:cNvSpPr txBox="1"/>
          <p:nvPr/>
        </p:nvSpPr>
        <p:spPr>
          <a:xfrm>
            <a:off x="658368" y="3673602"/>
            <a:ext cx="2190902" cy="420623"/>
          </a:xfrm>
          <a:prstGeom prst="rect">
            <a:avLst/>
          </a:prstGeom>
          <a:noFill/>
        </p:spPr>
        <p:txBody>
          <a:bodyPr wrap="square" lIns="0" tIns="0" rIns="0" bIns="0" anchor="t">
            <a:spAutoFit/>
          </a:bodyPr>
          <a:lstStyle/>
          <a:p>
            <a:pPr algn="l">
              <a:lnSpc>
                <a:spcPct val="112000"/>
              </a:lnSpc>
              <a:spcAft>
                <a:spcPts val="0"/>
              </a:spcAft>
            </a:pPr>
            <a:r>
              <a:rPr sz="1100" b="1" i="0">
                <a:solidFill>
                  <a:srgbClr val="102236"/>
                </a:solidFill>
                <a:latin typeface="Arial"/>
              </a:rPr>
              <a:t>$5,000,000</a:t>
            </a:r>
          </a:p>
        </p:txBody>
      </p:sp>
      <p:sp>
        <p:nvSpPr>
          <p:cNvPr id="20" name="TextBox 19"/>
          <p:cNvSpPr txBox="1"/>
          <p:nvPr/>
        </p:nvSpPr>
        <p:spPr>
          <a:xfrm>
            <a:off x="2995574" y="3673602"/>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$50,000</a:t>
            </a:r>
          </a:p>
        </p:txBody>
      </p:sp>
      <p:sp>
        <p:nvSpPr>
          <p:cNvPr id="21" name="TextBox 20"/>
          <p:cNvSpPr txBox="1"/>
          <p:nvPr/>
        </p:nvSpPr>
        <p:spPr>
          <a:xfrm>
            <a:off x="4358944" y="3673602"/>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008A69"/>
                </a:solidFill>
                <a:latin typeface="Arial"/>
              </a:rPr>
              <a:t>$75,000</a:t>
            </a:r>
          </a:p>
        </p:txBody>
      </p:sp>
      <p:sp>
        <p:nvSpPr>
          <p:cNvPr id="22" name="TextBox 21"/>
          <p:cNvSpPr txBox="1"/>
          <p:nvPr/>
        </p:nvSpPr>
        <p:spPr>
          <a:xfrm>
            <a:off x="5722315" y="3673602"/>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$100,000</a:t>
            </a:r>
          </a:p>
        </p:txBody>
      </p:sp>
      <p:sp>
        <p:nvSpPr>
          <p:cNvPr id="23" name="Rounded Rectangle 22"/>
          <p:cNvSpPr/>
          <p:nvPr/>
        </p:nvSpPr>
        <p:spPr>
          <a:xfrm>
            <a:off x="585216" y="4094226"/>
            <a:ext cx="6638544" cy="566928"/>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4240530"/>
            <a:ext cx="2190902" cy="420623"/>
          </a:xfrm>
          <a:prstGeom prst="rect">
            <a:avLst/>
          </a:prstGeom>
          <a:noFill/>
        </p:spPr>
        <p:txBody>
          <a:bodyPr wrap="square" lIns="0" tIns="0" rIns="0" bIns="0" anchor="t">
            <a:spAutoFit/>
          </a:bodyPr>
          <a:lstStyle/>
          <a:p>
            <a:pPr algn="l">
              <a:lnSpc>
                <a:spcPct val="112000"/>
              </a:lnSpc>
              <a:spcAft>
                <a:spcPts val="0"/>
              </a:spcAft>
            </a:pPr>
            <a:r>
              <a:rPr sz="1100" b="1" i="0">
                <a:solidFill>
                  <a:srgbClr val="102236"/>
                </a:solidFill>
                <a:latin typeface="Arial"/>
              </a:rPr>
              <a:t>$10,000,000</a:t>
            </a:r>
          </a:p>
        </p:txBody>
      </p:sp>
      <p:sp>
        <p:nvSpPr>
          <p:cNvPr id="25" name="TextBox 24"/>
          <p:cNvSpPr txBox="1"/>
          <p:nvPr/>
        </p:nvSpPr>
        <p:spPr>
          <a:xfrm>
            <a:off x="2995574" y="4240530"/>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$100,000</a:t>
            </a:r>
          </a:p>
        </p:txBody>
      </p:sp>
      <p:sp>
        <p:nvSpPr>
          <p:cNvPr id="26" name="TextBox 25"/>
          <p:cNvSpPr txBox="1"/>
          <p:nvPr/>
        </p:nvSpPr>
        <p:spPr>
          <a:xfrm>
            <a:off x="4358944" y="4240530"/>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008A69"/>
                </a:solidFill>
                <a:latin typeface="Arial"/>
              </a:rPr>
              <a:t>$150,000</a:t>
            </a:r>
          </a:p>
        </p:txBody>
      </p:sp>
      <p:sp>
        <p:nvSpPr>
          <p:cNvPr id="27" name="TextBox 26"/>
          <p:cNvSpPr txBox="1"/>
          <p:nvPr/>
        </p:nvSpPr>
        <p:spPr>
          <a:xfrm>
            <a:off x="5722315" y="4240530"/>
            <a:ext cx="1217066" cy="420623"/>
          </a:xfrm>
          <a:prstGeom prst="rect">
            <a:avLst/>
          </a:prstGeom>
          <a:noFill/>
        </p:spPr>
        <p:txBody>
          <a:bodyPr wrap="square" lIns="0" tIns="0" rIns="0" bIns="0" anchor="t">
            <a:spAutoFit/>
          </a:bodyPr>
          <a:lstStyle/>
          <a:p>
            <a:pPr algn="l">
              <a:lnSpc>
                <a:spcPct val="112000"/>
              </a:lnSpc>
              <a:spcAft>
                <a:spcPts val="0"/>
              </a:spcAft>
            </a:pPr>
            <a:r>
              <a:rPr sz="1100" b="0" i="0">
                <a:solidFill>
                  <a:srgbClr val="102236"/>
                </a:solidFill>
                <a:latin typeface="Arial"/>
              </a:rPr>
              <a:t>$200,000</a:t>
            </a:r>
          </a:p>
        </p:txBody>
      </p:sp>
      <p:sp>
        <p:nvSpPr>
          <p:cNvPr id="28" name="TextBox 27"/>
          <p:cNvSpPr txBox="1"/>
          <p:nvPr/>
        </p:nvSpPr>
        <p:spPr>
          <a:xfrm>
            <a:off x="658368" y="4862322"/>
            <a:ext cx="6492240" cy="548640"/>
          </a:xfrm>
          <a:prstGeom prst="rect">
            <a:avLst/>
          </a:prstGeom>
          <a:noFill/>
        </p:spPr>
        <p:txBody>
          <a:bodyPr wrap="square" lIns="0" tIns="0" rIns="0" bIns="0" anchor="t">
            <a:spAutoFit/>
          </a:bodyPr>
          <a:lstStyle/>
          <a:p>
            <a:pPr algn="l">
              <a:lnSpc>
                <a:spcPct val="125000"/>
              </a:lnSpc>
              <a:spcAft>
                <a:spcPts val="0"/>
              </a:spcAft>
            </a:pPr>
            <a:r>
              <a:rPr sz="960" b="0" i="0">
                <a:solidFill>
                  <a:srgbClr val="5B6E82"/>
                </a:solidFill>
                <a:latin typeface="Arial"/>
              </a:rPr>
              <a:t>Monthly gross revenue, before your cost of acceptance. The split between your fee and our margin is the commercial conversation — and it should get better as the book grows.</a:t>
            </a:r>
          </a:p>
        </p:txBody>
      </p:sp>
      <p:sp>
        <p:nvSpPr>
          <p:cNvPr id="29" name="Rounded Rectangle 28"/>
          <p:cNvSpPr/>
          <p:nvPr/>
        </p:nvSpPr>
        <p:spPr>
          <a:xfrm>
            <a:off x="7516368" y="2100834"/>
            <a:ext cx="4016959" cy="3246120"/>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790688" y="2292858"/>
            <a:ext cx="346831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WHAT THE TAKE HAS TO COVER</a:t>
            </a:r>
          </a:p>
        </p:txBody>
      </p:sp>
      <p:sp>
        <p:nvSpPr>
          <p:cNvPr id="31" name="TextBox 30"/>
          <p:cNvSpPr txBox="1"/>
          <p:nvPr/>
        </p:nvSpPr>
        <p:spPr>
          <a:xfrm>
            <a:off x="7790688" y="2603754"/>
            <a:ext cx="3468319" cy="292608"/>
          </a:xfrm>
          <a:prstGeom prst="rect">
            <a:avLst/>
          </a:prstGeom>
          <a:noFill/>
        </p:spPr>
        <p:txBody>
          <a:bodyPr wrap="square" lIns="0" tIns="0" rIns="0" bIns="0" anchor="t">
            <a:spAutoFit/>
          </a:bodyPr>
          <a:lstStyle/>
          <a:p>
            <a:pPr algn="l">
              <a:lnSpc>
                <a:spcPct val="115000"/>
              </a:lnSpc>
              <a:spcAft>
                <a:spcPts val="0"/>
              </a:spcAft>
            </a:pPr>
            <a:r>
              <a:rPr sz="960" b="0" i="0">
                <a:solidFill>
                  <a:srgbClr val="FFFFFF"/>
                </a:solidFill>
                <a:latin typeface="Arial"/>
              </a:rPr>
              <a:t>—  Your cost of acceptance</a:t>
            </a:r>
          </a:p>
        </p:txBody>
      </p:sp>
      <p:sp>
        <p:nvSpPr>
          <p:cNvPr id="32" name="TextBox 31"/>
          <p:cNvSpPr txBox="1"/>
          <p:nvPr/>
        </p:nvSpPr>
        <p:spPr>
          <a:xfrm>
            <a:off x="7790688" y="2932938"/>
            <a:ext cx="3468319" cy="292608"/>
          </a:xfrm>
          <a:prstGeom prst="rect">
            <a:avLst/>
          </a:prstGeom>
          <a:noFill/>
        </p:spPr>
        <p:txBody>
          <a:bodyPr wrap="square" lIns="0" tIns="0" rIns="0" bIns="0" anchor="t">
            <a:spAutoFit/>
          </a:bodyPr>
          <a:lstStyle/>
          <a:p>
            <a:pPr algn="l">
              <a:lnSpc>
                <a:spcPct val="115000"/>
              </a:lnSpc>
              <a:spcAft>
                <a:spcPts val="0"/>
              </a:spcAft>
            </a:pPr>
            <a:r>
              <a:rPr sz="960" b="0" i="0">
                <a:solidFill>
                  <a:srgbClr val="FFFFFF"/>
                </a:solidFill>
                <a:latin typeface="Arial"/>
              </a:rPr>
              <a:t>—  Merchant onboarding and KYB operations</a:t>
            </a:r>
          </a:p>
        </p:txBody>
      </p:sp>
      <p:sp>
        <p:nvSpPr>
          <p:cNvPr id="33" name="TextBox 32"/>
          <p:cNvSpPr txBox="1"/>
          <p:nvPr/>
        </p:nvSpPr>
        <p:spPr>
          <a:xfrm>
            <a:off x="7790688" y="3262122"/>
            <a:ext cx="3468319" cy="292608"/>
          </a:xfrm>
          <a:prstGeom prst="rect">
            <a:avLst/>
          </a:prstGeom>
          <a:noFill/>
        </p:spPr>
        <p:txBody>
          <a:bodyPr wrap="square" lIns="0" tIns="0" rIns="0" bIns="0" anchor="t">
            <a:spAutoFit/>
          </a:bodyPr>
          <a:lstStyle/>
          <a:p>
            <a:pPr algn="l">
              <a:lnSpc>
                <a:spcPct val="115000"/>
              </a:lnSpc>
              <a:spcAft>
                <a:spcPts val="0"/>
              </a:spcAft>
            </a:pPr>
            <a:r>
              <a:rPr sz="960" b="0" i="0">
                <a:solidFill>
                  <a:srgbClr val="FFFFFF"/>
                </a:solidFill>
                <a:latin typeface="Arial"/>
              </a:rPr>
              <a:t>—  First-line support and disputes</a:t>
            </a:r>
          </a:p>
        </p:txBody>
      </p:sp>
      <p:sp>
        <p:nvSpPr>
          <p:cNvPr id="34" name="TextBox 33"/>
          <p:cNvSpPr txBox="1"/>
          <p:nvPr/>
        </p:nvSpPr>
        <p:spPr>
          <a:xfrm>
            <a:off x="7790688" y="3591306"/>
            <a:ext cx="3468319" cy="292608"/>
          </a:xfrm>
          <a:prstGeom prst="rect">
            <a:avLst/>
          </a:prstGeom>
          <a:noFill/>
        </p:spPr>
        <p:txBody>
          <a:bodyPr wrap="square" lIns="0" tIns="0" rIns="0" bIns="0" anchor="t">
            <a:spAutoFit/>
          </a:bodyPr>
          <a:lstStyle/>
          <a:p>
            <a:pPr algn="l">
              <a:lnSpc>
                <a:spcPct val="115000"/>
              </a:lnSpc>
              <a:spcAft>
                <a:spcPts val="0"/>
              </a:spcAft>
            </a:pPr>
            <a:r>
              <a:rPr sz="960" b="0" i="0">
                <a:solidFill>
                  <a:srgbClr val="FFFFFF"/>
                </a:solidFill>
                <a:latin typeface="Arial"/>
              </a:rPr>
              <a:t>—  Chargeback and fraud losses</a:t>
            </a:r>
          </a:p>
        </p:txBody>
      </p:sp>
      <p:sp>
        <p:nvSpPr>
          <p:cNvPr id="35" name="TextBox 34"/>
          <p:cNvSpPr txBox="1"/>
          <p:nvPr/>
        </p:nvSpPr>
        <p:spPr>
          <a:xfrm>
            <a:off x="7790688" y="3920489"/>
            <a:ext cx="3468319" cy="292608"/>
          </a:xfrm>
          <a:prstGeom prst="rect">
            <a:avLst/>
          </a:prstGeom>
          <a:noFill/>
        </p:spPr>
        <p:txBody>
          <a:bodyPr wrap="square" lIns="0" tIns="0" rIns="0" bIns="0" anchor="t">
            <a:spAutoFit/>
          </a:bodyPr>
          <a:lstStyle/>
          <a:p>
            <a:pPr algn="l">
              <a:lnSpc>
                <a:spcPct val="115000"/>
              </a:lnSpc>
              <a:spcAft>
                <a:spcPts val="0"/>
              </a:spcAft>
            </a:pPr>
            <a:r>
              <a:rPr sz="960" b="0" i="0">
                <a:solidFill>
                  <a:srgbClr val="FFFFFF"/>
                </a:solidFill>
                <a:latin typeface="Arial"/>
              </a:rPr>
              <a:t>—  Reserves and working capital</a:t>
            </a:r>
          </a:p>
        </p:txBody>
      </p:sp>
      <p:sp>
        <p:nvSpPr>
          <p:cNvPr id="36" name="TextBox 35"/>
          <p:cNvSpPr txBox="1"/>
          <p:nvPr/>
        </p:nvSpPr>
        <p:spPr>
          <a:xfrm>
            <a:off x="7790688" y="4359402"/>
            <a:ext cx="3468319" cy="822960"/>
          </a:xfrm>
          <a:prstGeom prst="rect">
            <a:avLst/>
          </a:prstGeom>
          <a:noFill/>
        </p:spPr>
        <p:txBody>
          <a:bodyPr wrap="square" lIns="0" tIns="0" rIns="0" bIns="0" anchor="t">
            <a:spAutoFit/>
          </a:bodyPr>
          <a:lstStyle/>
          <a:p>
            <a:pPr algn="l">
              <a:lnSpc>
                <a:spcPct val="120000"/>
              </a:lnSpc>
              <a:spcAft>
                <a:spcPts val="0"/>
              </a:spcAft>
            </a:pPr>
            <a:r>
              <a:rPr sz="900" b="0" i="0">
                <a:solidFill>
                  <a:srgbClr val="9FB3C6"/>
                </a:solidFill>
                <a:latin typeface="Arial"/>
              </a:rPr>
              <a:t>At 0.01% disputes, the loss line is close to zero — which is why we can argue for a thinner spread than a generic SMB book.</a:t>
            </a:r>
          </a:p>
        </p:txBody>
      </p:sp>
      <p:cxnSp>
        <p:nvCxnSpPr>
          <p:cNvPr id="37" name="Connector 36"/>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39" name="TextBox 38"/>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RISK</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Our dispute record, against the threshold that matters</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Card networks start monitoring a merchant above 0.9% chargebacks. We operate at 0.01%.</a:t>
            </a:r>
          </a:p>
        </p:txBody>
      </p:sp>
      <p:sp>
        <p:nvSpPr>
          <p:cNvPr id="5" name="TextBox 4"/>
          <p:cNvSpPr txBox="1"/>
          <p:nvPr/>
        </p:nvSpPr>
        <p:spPr>
          <a:xfrm>
            <a:off x="658368" y="1864233"/>
            <a:ext cx="4572000" cy="219456"/>
          </a:xfrm>
          <a:prstGeom prst="rect">
            <a:avLst/>
          </a:prstGeom>
          <a:noFill/>
        </p:spPr>
        <p:txBody>
          <a:bodyPr wrap="square" lIns="0" tIns="0" rIns="0" bIns="0" anchor="t">
            <a:spAutoFit/>
          </a:bodyPr>
          <a:lstStyle/>
          <a:p>
            <a:pPr algn="l">
              <a:lnSpc>
                <a:spcPct val="112000"/>
              </a:lnSpc>
              <a:spcAft>
                <a:spcPts val="0"/>
              </a:spcAft>
            </a:pPr>
            <a:r>
              <a:rPr sz="1050" b="1" i="0">
                <a:solidFill>
                  <a:srgbClr val="008A69"/>
                </a:solidFill>
                <a:latin typeface="Arial"/>
              </a:rPr>
              <a:t>KD PAY — 0.01%</a:t>
            </a:r>
          </a:p>
        </p:txBody>
      </p:sp>
      <p:sp>
        <p:nvSpPr>
          <p:cNvPr id="6" name="Rounded Rectangle 5"/>
          <p:cNvSpPr/>
          <p:nvPr/>
        </p:nvSpPr>
        <p:spPr>
          <a:xfrm>
            <a:off x="658368" y="2120265"/>
            <a:ext cx="5989320" cy="274320"/>
          </a:xfrm>
          <a:prstGeom prst="roundRect">
            <a:avLst>
              <a:gd name="adj" fmla="val 2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120265"/>
            <a:ext cx="64008" cy="274320"/>
          </a:xfrm>
          <a:prstGeom prst="roundRect">
            <a:avLst>
              <a:gd name="adj" fmla="val 2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2156841"/>
            <a:ext cx="5486400" cy="219456"/>
          </a:xfrm>
          <a:prstGeom prst="rect">
            <a:avLst/>
          </a:prstGeom>
          <a:noFill/>
        </p:spPr>
        <p:txBody>
          <a:bodyPr wrap="square" lIns="0" tIns="0" rIns="0" bIns="0" anchor="t">
            <a:spAutoFit/>
          </a:bodyPr>
          <a:lstStyle/>
          <a:p>
            <a:pPr algn="l">
              <a:lnSpc>
                <a:spcPct val="112000"/>
              </a:lnSpc>
              <a:spcAft>
                <a:spcPts val="0"/>
              </a:spcAft>
            </a:pPr>
            <a:r>
              <a:rPr sz="950" b="0" i="0">
                <a:solidFill>
                  <a:srgbClr val="5B6E82"/>
                </a:solidFill>
                <a:latin typeface="Arial"/>
              </a:rPr>
              <a:t>1 dispute per 10,000 transactions</a:t>
            </a:r>
          </a:p>
        </p:txBody>
      </p:sp>
      <p:sp>
        <p:nvSpPr>
          <p:cNvPr id="9" name="TextBox 8"/>
          <p:cNvSpPr txBox="1"/>
          <p:nvPr/>
        </p:nvSpPr>
        <p:spPr>
          <a:xfrm>
            <a:off x="658368" y="2595753"/>
            <a:ext cx="3291840" cy="219456"/>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Network monitoring threshold — 0.9%</a:t>
            </a:r>
          </a:p>
        </p:txBody>
      </p:sp>
      <p:sp>
        <p:nvSpPr>
          <p:cNvPr id="10" name="TextBox 9"/>
          <p:cNvSpPr txBox="1"/>
          <p:nvPr/>
        </p:nvSpPr>
        <p:spPr>
          <a:xfrm>
            <a:off x="5321807" y="2604897"/>
            <a:ext cx="1325880" cy="219456"/>
          </a:xfrm>
          <a:prstGeom prst="rect">
            <a:avLst/>
          </a:prstGeom>
          <a:noFill/>
        </p:spPr>
        <p:txBody>
          <a:bodyPr wrap="square" lIns="0" tIns="0" rIns="0" bIns="0" anchor="t">
            <a:spAutoFit/>
          </a:bodyPr>
          <a:lstStyle/>
          <a:p>
            <a:pPr algn="r">
              <a:lnSpc>
                <a:spcPct val="112000"/>
              </a:lnSpc>
              <a:spcAft>
                <a:spcPts val="0"/>
              </a:spcAft>
            </a:pPr>
            <a:r>
              <a:rPr sz="950" b="1" i="0">
                <a:solidFill>
                  <a:srgbClr val="008A69"/>
                </a:solidFill>
                <a:latin typeface="Arial"/>
              </a:rPr>
              <a:t>90× headroom</a:t>
            </a:r>
          </a:p>
        </p:txBody>
      </p:sp>
      <p:sp>
        <p:nvSpPr>
          <p:cNvPr id="11" name="Rounded Rectangle 10"/>
          <p:cNvSpPr/>
          <p:nvPr/>
        </p:nvSpPr>
        <p:spPr>
          <a:xfrm>
            <a:off x="658368" y="2851785"/>
            <a:ext cx="5989320" cy="274320"/>
          </a:xfrm>
          <a:prstGeom prst="roundRect">
            <a:avLst>
              <a:gd name="adj" fmla="val 2000"/>
            </a:avLst>
          </a:prstGeom>
          <a:solidFill>
            <a:srgbClr val="C9D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3391281"/>
            <a:ext cx="5760720"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HOW A RECORD LIKE THIS IS KEPT</a:t>
            </a:r>
          </a:p>
        </p:txBody>
      </p:sp>
      <p:sp>
        <p:nvSpPr>
          <p:cNvPr id="13" name="TextBox 12"/>
          <p:cNvSpPr txBox="1"/>
          <p:nvPr/>
        </p:nvSpPr>
        <p:spPr>
          <a:xfrm>
            <a:off x="658368" y="3683889"/>
            <a:ext cx="6309360" cy="1737360"/>
          </a:xfrm>
          <a:prstGeom prst="rect">
            <a:avLst/>
          </a:prstGeom>
          <a:noFill/>
        </p:spPr>
        <p:txBody>
          <a:bodyPr wrap="square" lIns="0" rIns="0" tIns="0" bIns="0">
            <a:spAutoFit/>
          </a:bodyPr>
          <a:lstStyle/>
          <a:p>
            <a:pPr marL="219456" indent="-219456">
              <a:lnSpc>
                <a:spcPct val="116000"/>
              </a:lnSpc>
              <a:spcAft>
                <a:spcPts val="700"/>
              </a:spcAft>
              <a:buClr>
                <a:srgbClr val="00B589"/>
              </a:buClr>
              <a:buFont typeface="Arial"/>
              <a:buChar char="—"/>
            </a:pPr>
            <a:r>
              <a:rPr sz="980" b="1" i="0">
                <a:solidFill>
                  <a:srgbClr val="102236"/>
                </a:solidFill>
                <a:latin typeface="Arial"/>
              </a:rPr>
              <a:t>Verified buyers. </a:t>
            </a:r>
            <a:r>
              <a:rPr sz="980" b="0" i="0">
                <a:solidFill>
                  <a:srgbClr val="102236"/>
                </a:solidFill>
                <a:latin typeface="Arial"/>
              </a:rPr>
              <a:t>Invoices to known business counterparties; consumer volume screened before onboarding.</a:t>
            </a:r>
          </a:p>
          <a:p>
            <a:pPr marL="219456" indent="-219456">
              <a:lnSpc>
                <a:spcPct val="116000"/>
              </a:lnSpc>
              <a:spcAft>
                <a:spcPts val="700"/>
              </a:spcAft>
              <a:buClr>
                <a:srgbClr val="00B589"/>
              </a:buClr>
              <a:buFont typeface="Arial"/>
              <a:buChar char="—"/>
            </a:pPr>
            <a:r>
              <a:rPr sz="980" b="1" i="0">
                <a:solidFill>
                  <a:srgbClr val="102236"/>
                </a:solidFill>
                <a:latin typeface="Arial"/>
              </a:rPr>
              <a:t>Rules, not luck. </a:t>
            </a:r>
            <a:r>
              <a:rPr sz="980" b="0" i="0">
                <a:solidFill>
                  <a:srgbClr val="102236"/>
                </a:solidFill>
                <a:latin typeface="Arial"/>
              </a:rPr>
              <a:t>3DS2 forced on VPN or IP-country mismatch; AVS postal match for US/CA/UK.</a:t>
            </a:r>
          </a:p>
          <a:p>
            <a:pPr marL="219456" indent="-219456">
              <a:lnSpc>
                <a:spcPct val="116000"/>
              </a:lnSpc>
              <a:spcAft>
                <a:spcPts val="700"/>
              </a:spcAft>
              <a:buClr>
                <a:srgbClr val="00B589"/>
              </a:buClr>
              <a:buFont typeface="Arial"/>
              <a:buChar char="—"/>
            </a:pPr>
            <a:r>
              <a:rPr sz="980" b="1" i="0">
                <a:solidFill>
                  <a:srgbClr val="102236"/>
                </a:solidFill>
                <a:latin typeface="Arial"/>
              </a:rPr>
              <a:t>Hard blocks. </a:t>
            </a:r>
            <a:r>
              <a:rPr sz="980" b="0" i="0">
                <a:solidFill>
                  <a:srgbClr val="102236"/>
                </a:solidFill>
                <a:latin typeface="Arial"/>
              </a:rPr>
              <a:t>Prohibited MCCs, card-fingerprint blocklists, velocity limits per merchant.</a:t>
            </a:r>
          </a:p>
          <a:p>
            <a:pPr marL="219456" indent="-219456">
              <a:lnSpc>
                <a:spcPct val="116000"/>
              </a:lnSpc>
              <a:spcAft>
                <a:spcPts val="700"/>
              </a:spcAft>
              <a:buClr>
                <a:srgbClr val="00B589"/>
              </a:buClr>
              <a:buFont typeface="Arial"/>
              <a:buChar char="—"/>
            </a:pPr>
            <a:r>
              <a:rPr sz="980" b="1" i="0">
                <a:solidFill>
                  <a:srgbClr val="102236"/>
                </a:solidFill>
                <a:latin typeface="Arial"/>
              </a:rPr>
              <a:t>Evidence ready. </a:t>
            </a:r>
            <a:r>
              <a:rPr sz="980" b="0" i="0">
                <a:solidFill>
                  <a:srgbClr val="102236"/>
                </a:solidFill>
                <a:latin typeface="Arial"/>
              </a:rPr>
              <a:t>Reason-code checklists and deadline alerts inside the dispute window.</a:t>
            </a:r>
          </a:p>
        </p:txBody>
      </p:sp>
      <p:sp>
        <p:nvSpPr>
          <p:cNvPr id="14" name="Rounded Rectangle 13"/>
          <p:cNvSpPr/>
          <p:nvPr/>
        </p:nvSpPr>
        <p:spPr>
          <a:xfrm>
            <a:off x="7562088" y="1864233"/>
            <a:ext cx="3971239" cy="228600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18119" y="2056257"/>
            <a:ext cx="3514039" cy="219456"/>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ON RESERVES</a:t>
            </a:r>
          </a:p>
        </p:txBody>
      </p:sp>
      <p:sp>
        <p:nvSpPr>
          <p:cNvPr id="16" name="TextBox 15"/>
          <p:cNvSpPr txBox="1"/>
          <p:nvPr/>
        </p:nvSpPr>
        <p:spPr>
          <a:xfrm>
            <a:off x="7818119" y="2385441"/>
            <a:ext cx="3468319" cy="1600200"/>
          </a:xfrm>
          <a:prstGeom prst="rect">
            <a:avLst/>
          </a:prstGeom>
          <a:noFill/>
        </p:spPr>
        <p:txBody>
          <a:bodyPr wrap="square" lIns="0" rIns="0" tIns="0" bIns="0">
            <a:spAutoFit/>
          </a:bodyPr>
          <a:lstStyle/>
          <a:p>
            <a:pPr marL="219456" indent="-219456">
              <a:lnSpc>
                <a:spcPct val="116000"/>
              </a:lnSpc>
              <a:spcAft>
                <a:spcPts val="800"/>
              </a:spcAft>
              <a:buClr>
                <a:srgbClr val="00B589"/>
              </a:buClr>
              <a:buFont typeface="Arial"/>
              <a:buChar char="—"/>
            </a:pPr>
            <a:r>
              <a:rPr sz="960" b="0" i="0">
                <a:solidFill>
                  <a:srgbClr val="102236"/>
                </a:solidFill>
                <a:latin typeface="Arial"/>
              </a:rPr>
              <a:t>We fund risk before we argue about it: merchant-level reserves held by us, plus a platform reserve where your policy requires one.</a:t>
            </a:r>
          </a:p>
          <a:p>
            <a:pPr marL="219456" indent="-219456">
              <a:lnSpc>
                <a:spcPct val="116000"/>
              </a:lnSpc>
              <a:spcAft>
                <a:spcPts val="800"/>
              </a:spcAft>
              <a:buClr>
                <a:srgbClr val="00B589"/>
              </a:buClr>
              <a:buFont typeface="Arial"/>
              <a:buChar char="—"/>
            </a:pPr>
            <a:r>
              <a:rPr sz="960" b="0" i="0">
                <a:solidFill>
                  <a:srgbClr val="102236"/>
                </a:solidFill>
                <a:latin typeface="Arial"/>
              </a:rPr>
              <a:t>Rolling reserve percentage, cap and release schedule are negotiable.</a:t>
            </a:r>
          </a:p>
          <a:p>
            <a:pPr marL="219456" indent="-219456">
              <a:lnSpc>
                <a:spcPct val="116000"/>
              </a:lnSpc>
              <a:spcAft>
                <a:spcPts val="800"/>
              </a:spcAft>
              <a:buClr>
                <a:srgbClr val="00B589"/>
              </a:buClr>
              <a:buFont typeface="Arial"/>
              <a:buChar char="—"/>
            </a:pPr>
            <a:r>
              <a:rPr sz="960" b="0" i="0">
                <a:solidFill>
                  <a:srgbClr val="102236"/>
                </a:solidFill>
                <a:latin typeface="Arial"/>
              </a:rPr>
              <a:t>Dispute evidence and merchant follow-up stay with us — you keep the rail.</a:t>
            </a:r>
          </a:p>
        </p:txBody>
      </p:sp>
      <p:cxnSp>
        <p:nvCxnSpPr>
          <p:cNvPr id="17" name="Connector 16"/>
          <p:cNvCxnSpPr/>
          <p:nvPr/>
        </p:nvCxnSpPr>
        <p:spPr>
          <a:xfrm>
            <a:off x="658368" y="4817745"/>
            <a:ext cx="10874959" cy="0"/>
          </a:xfrm>
          <a:prstGeom prst="line">
            <a:avLst/>
          </a:prstGeom>
          <a:ln w="10160">
            <a:solidFill>
              <a:srgbClr val="DFE6E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5018913"/>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WHAT WE ASK OF YOU</a:t>
            </a:r>
          </a:p>
        </p:txBody>
      </p:sp>
      <p:sp>
        <p:nvSpPr>
          <p:cNvPr id="19" name="TextBox 18"/>
          <p:cNvSpPr txBox="1"/>
          <p:nvPr/>
        </p:nvSpPr>
        <p:spPr>
          <a:xfrm>
            <a:off x="658368" y="5311521"/>
            <a:ext cx="3259226" cy="457200"/>
          </a:xfrm>
          <a:prstGeom prst="rect">
            <a:avLst/>
          </a:prstGeom>
          <a:noFill/>
        </p:spPr>
        <p:txBody>
          <a:bodyPr wrap="square" lIns="0" tIns="0" rIns="0" bIns="0" anchor="t">
            <a:spAutoFit/>
          </a:bodyPr>
          <a:lstStyle/>
          <a:p>
            <a:pPr algn="l">
              <a:lnSpc>
                <a:spcPct val="120000"/>
              </a:lnSpc>
              <a:spcAft>
                <a:spcPts val="0"/>
              </a:spcAft>
            </a:pPr>
            <a:r>
              <a:rPr sz="1000" b="0" i="0">
                <a:solidFill>
                  <a:srgbClr val="102236"/>
                </a:solidFill>
                <a:latin typeface="Arial"/>
              </a:rPr>
              <a:t>A reserve policy proportionate to a 0.01% profile</a:t>
            </a:r>
          </a:p>
        </p:txBody>
      </p:sp>
      <p:sp>
        <p:nvSpPr>
          <p:cNvPr id="20" name="TextBox 19"/>
          <p:cNvSpPr txBox="1"/>
          <p:nvPr/>
        </p:nvSpPr>
        <p:spPr>
          <a:xfrm>
            <a:off x="4283354" y="5311521"/>
            <a:ext cx="3259226" cy="457200"/>
          </a:xfrm>
          <a:prstGeom prst="rect">
            <a:avLst/>
          </a:prstGeom>
          <a:noFill/>
        </p:spPr>
        <p:txBody>
          <a:bodyPr wrap="square" lIns="0" tIns="0" rIns="0" bIns="0" anchor="t">
            <a:spAutoFit/>
          </a:bodyPr>
          <a:lstStyle/>
          <a:p>
            <a:pPr algn="l">
              <a:lnSpc>
                <a:spcPct val="120000"/>
              </a:lnSpc>
              <a:spcAft>
                <a:spcPts val="0"/>
              </a:spcAft>
            </a:pPr>
            <a:r>
              <a:rPr sz="1000" b="0" i="0">
                <a:solidFill>
                  <a:srgbClr val="102236"/>
                </a:solidFill>
                <a:latin typeface="Arial"/>
              </a:rPr>
              <a:t>Dispute fees disclosed before we sign</a:t>
            </a:r>
          </a:p>
        </p:txBody>
      </p:sp>
      <p:sp>
        <p:nvSpPr>
          <p:cNvPr id="21" name="TextBox 20"/>
          <p:cNvSpPr txBox="1"/>
          <p:nvPr/>
        </p:nvSpPr>
        <p:spPr>
          <a:xfrm>
            <a:off x="7908340" y="5311521"/>
            <a:ext cx="3259226" cy="457200"/>
          </a:xfrm>
          <a:prstGeom prst="rect">
            <a:avLst/>
          </a:prstGeom>
          <a:noFill/>
        </p:spPr>
        <p:txBody>
          <a:bodyPr wrap="square" lIns="0" tIns="0" rIns="0" bIns="0" anchor="t">
            <a:spAutoFit/>
          </a:bodyPr>
          <a:lstStyle/>
          <a:p>
            <a:pPr algn="l">
              <a:lnSpc>
                <a:spcPct val="120000"/>
              </a:lnSpc>
              <a:spcAft>
                <a:spcPts val="0"/>
              </a:spcAft>
            </a:pPr>
            <a:r>
              <a:rPr sz="1000" b="0" i="0">
                <a:solidFill>
                  <a:srgbClr val="102236"/>
                </a:solidFill>
                <a:latin typeface="Arial"/>
              </a:rPr>
              <a:t>A named escalation contact for high-value cases</a:t>
            </a:r>
          </a:p>
        </p:txBody>
      </p:sp>
      <p:cxnSp>
        <p:nvCxnSpPr>
          <p:cNvPr id="22" name="Connector 21"/>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24" name="TextBox 23"/>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SECURITY AND COMPLIANCE</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Eight commitments that protect your rails</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Not a feature list — the controls we will be audited on, in plain business terms.</a:t>
            </a:r>
          </a:p>
        </p:txBody>
      </p:sp>
      <p:sp>
        <p:nvSpPr>
          <p:cNvPr id="5" name="Rounded Rectangle 4"/>
          <p:cNvSpPr/>
          <p:nvPr/>
        </p:nvSpPr>
        <p:spPr>
          <a:xfrm>
            <a:off x="658368" y="1891665"/>
            <a:ext cx="2567863" cy="144475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59536" y="2056257"/>
            <a:ext cx="731520" cy="182880"/>
          </a:xfrm>
          <a:prstGeom prst="rect">
            <a:avLst/>
          </a:prstGeom>
          <a:noFill/>
        </p:spPr>
        <p:txBody>
          <a:bodyPr wrap="square" lIns="0" tIns="0" rIns="0" bIns="0" anchor="t">
            <a:spAutoFit/>
          </a:bodyPr>
          <a:lstStyle/>
          <a:p>
            <a:pPr algn="l">
              <a:lnSpc>
                <a:spcPct val="112000"/>
              </a:lnSpc>
              <a:spcAft>
                <a:spcPts val="0"/>
              </a:spcAft>
            </a:pPr>
            <a:r>
              <a:rPr sz="850" b="1" i="0" spc="120">
                <a:solidFill>
                  <a:srgbClr val="00B589"/>
                </a:solidFill>
                <a:latin typeface="Arial"/>
              </a:rPr>
              <a:t>01</a:t>
            </a:r>
          </a:p>
        </p:txBody>
      </p:sp>
      <p:sp>
        <p:nvSpPr>
          <p:cNvPr id="7" name="TextBox 6"/>
          <p:cNvSpPr txBox="1"/>
          <p:nvPr/>
        </p:nvSpPr>
        <p:spPr>
          <a:xfrm>
            <a:off x="859536" y="2275713"/>
            <a:ext cx="2165527" cy="274320"/>
          </a:xfrm>
          <a:prstGeom prst="rect">
            <a:avLst/>
          </a:prstGeom>
          <a:noFill/>
        </p:spPr>
        <p:txBody>
          <a:bodyPr wrap="square" lIns="0" tIns="0" rIns="0" bIns="0" anchor="t">
            <a:spAutoFit/>
          </a:bodyPr>
          <a:lstStyle/>
          <a:p>
            <a:pPr algn="l">
              <a:lnSpc>
                <a:spcPct val="105000"/>
              </a:lnSpc>
              <a:spcAft>
                <a:spcPts val="0"/>
              </a:spcAft>
            </a:pPr>
            <a:r>
              <a:rPr sz="1050" b="1" i="0">
                <a:solidFill>
                  <a:srgbClr val="102236"/>
                </a:solidFill>
                <a:latin typeface="Arial"/>
              </a:rPr>
              <a:t>Card data never touches us</a:t>
            </a:r>
          </a:p>
        </p:txBody>
      </p:sp>
      <p:sp>
        <p:nvSpPr>
          <p:cNvPr id="8" name="TextBox 7"/>
          <p:cNvSpPr txBox="1"/>
          <p:nvPr/>
        </p:nvSpPr>
        <p:spPr>
          <a:xfrm>
            <a:off x="859536" y="2586609"/>
            <a:ext cx="2165527" cy="68580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Hosted fields and elements. Our scope is PCI DSS SAQ-A, which keeps our audit surface small.</a:t>
            </a:r>
          </a:p>
        </p:txBody>
      </p:sp>
      <p:sp>
        <p:nvSpPr>
          <p:cNvPr id="9" name="Rounded Rectangle 8"/>
          <p:cNvSpPr/>
          <p:nvPr/>
        </p:nvSpPr>
        <p:spPr>
          <a:xfrm>
            <a:off x="3427399" y="1891665"/>
            <a:ext cx="2567863" cy="144475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628567" y="2056257"/>
            <a:ext cx="731520" cy="182880"/>
          </a:xfrm>
          <a:prstGeom prst="rect">
            <a:avLst/>
          </a:prstGeom>
          <a:noFill/>
        </p:spPr>
        <p:txBody>
          <a:bodyPr wrap="square" lIns="0" tIns="0" rIns="0" bIns="0" anchor="t">
            <a:spAutoFit/>
          </a:bodyPr>
          <a:lstStyle/>
          <a:p>
            <a:pPr algn="l">
              <a:lnSpc>
                <a:spcPct val="112000"/>
              </a:lnSpc>
              <a:spcAft>
                <a:spcPts val="0"/>
              </a:spcAft>
            </a:pPr>
            <a:r>
              <a:rPr sz="850" b="1" i="0" spc="120">
                <a:solidFill>
                  <a:srgbClr val="00B589"/>
                </a:solidFill>
                <a:latin typeface="Arial"/>
              </a:rPr>
              <a:t>02</a:t>
            </a:r>
          </a:p>
        </p:txBody>
      </p:sp>
      <p:sp>
        <p:nvSpPr>
          <p:cNvPr id="11" name="TextBox 10"/>
          <p:cNvSpPr txBox="1"/>
          <p:nvPr/>
        </p:nvSpPr>
        <p:spPr>
          <a:xfrm>
            <a:off x="3628567" y="2275713"/>
            <a:ext cx="2165527" cy="274320"/>
          </a:xfrm>
          <a:prstGeom prst="rect">
            <a:avLst/>
          </a:prstGeom>
          <a:noFill/>
        </p:spPr>
        <p:txBody>
          <a:bodyPr wrap="square" lIns="0" tIns="0" rIns="0" bIns="0" anchor="t">
            <a:spAutoFit/>
          </a:bodyPr>
          <a:lstStyle/>
          <a:p>
            <a:pPr algn="l">
              <a:lnSpc>
                <a:spcPct val="105000"/>
              </a:lnSpc>
              <a:spcAft>
                <a:spcPts val="0"/>
              </a:spcAft>
            </a:pPr>
            <a:r>
              <a:rPr sz="1050" b="1" i="0">
                <a:solidFill>
                  <a:srgbClr val="102236"/>
                </a:solidFill>
                <a:latin typeface="Arial"/>
              </a:rPr>
              <a:t>Tokens, never card numbers</a:t>
            </a:r>
          </a:p>
        </p:txBody>
      </p:sp>
      <p:sp>
        <p:nvSpPr>
          <p:cNvPr id="12" name="TextBox 11"/>
          <p:cNvSpPr txBox="1"/>
          <p:nvPr/>
        </p:nvSpPr>
        <p:spPr>
          <a:xfrm>
            <a:off x="3628567" y="2586609"/>
            <a:ext cx="2165527" cy="68580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We store processor tokens and salted fingerprints. A database breach yields no usable card data.</a:t>
            </a:r>
          </a:p>
        </p:txBody>
      </p:sp>
      <p:sp>
        <p:nvSpPr>
          <p:cNvPr id="13" name="Rounded Rectangle 12"/>
          <p:cNvSpPr/>
          <p:nvPr/>
        </p:nvSpPr>
        <p:spPr>
          <a:xfrm>
            <a:off x="6196431" y="1891665"/>
            <a:ext cx="2567863" cy="144475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7599" y="2056257"/>
            <a:ext cx="731520" cy="182880"/>
          </a:xfrm>
          <a:prstGeom prst="rect">
            <a:avLst/>
          </a:prstGeom>
          <a:noFill/>
        </p:spPr>
        <p:txBody>
          <a:bodyPr wrap="square" lIns="0" tIns="0" rIns="0" bIns="0" anchor="t">
            <a:spAutoFit/>
          </a:bodyPr>
          <a:lstStyle/>
          <a:p>
            <a:pPr algn="l">
              <a:lnSpc>
                <a:spcPct val="112000"/>
              </a:lnSpc>
              <a:spcAft>
                <a:spcPts val="0"/>
              </a:spcAft>
            </a:pPr>
            <a:r>
              <a:rPr sz="850" b="1" i="0" spc="120">
                <a:solidFill>
                  <a:srgbClr val="00B589"/>
                </a:solidFill>
                <a:latin typeface="Arial"/>
              </a:rPr>
              <a:t>03</a:t>
            </a:r>
          </a:p>
        </p:txBody>
      </p:sp>
      <p:sp>
        <p:nvSpPr>
          <p:cNvPr id="15" name="TextBox 14"/>
          <p:cNvSpPr txBox="1"/>
          <p:nvPr/>
        </p:nvSpPr>
        <p:spPr>
          <a:xfrm>
            <a:off x="6397599" y="2275713"/>
            <a:ext cx="2165527" cy="274320"/>
          </a:xfrm>
          <a:prstGeom prst="rect">
            <a:avLst/>
          </a:prstGeom>
          <a:noFill/>
        </p:spPr>
        <p:txBody>
          <a:bodyPr wrap="square" lIns="0" tIns="0" rIns="0" bIns="0" anchor="t">
            <a:spAutoFit/>
          </a:bodyPr>
          <a:lstStyle/>
          <a:p>
            <a:pPr algn="l">
              <a:lnSpc>
                <a:spcPct val="105000"/>
              </a:lnSpc>
              <a:spcAft>
                <a:spcPts val="0"/>
              </a:spcAft>
            </a:pPr>
            <a:r>
              <a:rPr sz="1050" b="1" i="0">
                <a:solidFill>
                  <a:srgbClr val="102236"/>
                </a:solidFill>
                <a:latin typeface="Arial"/>
              </a:rPr>
              <a:t>3-D Secure 2 and SCA</a:t>
            </a:r>
          </a:p>
        </p:txBody>
      </p:sp>
      <p:sp>
        <p:nvSpPr>
          <p:cNvPr id="16" name="TextBox 15"/>
          <p:cNvSpPr txBox="1"/>
          <p:nvPr/>
        </p:nvSpPr>
        <p:spPr>
          <a:xfrm>
            <a:off x="6397599" y="2586609"/>
            <a:ext cx="2165527" cy="68580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Risk-based challenge, mandatory where regulation requires it, forced on VPN or IP-country mismatch.</a:t>
            </a:r>
          </a:p>
        </p:txBody>
      </p:sp>
      <p:sp>
        <p:nvSpPr>
          <p:cNvPr id="17" name="Rounded Rectangle 16"/>
          <p:cNvSpPr/>
          <p:nvPr/>
        </p:nvSpPr>
        <p:spPr>
          <a:xfrm>
            <a:off x="8965463" y="1891665"/>
            <a:ext cx="2567863" cy="144475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66631" y="2056257"/>
            <a:ext cx="731520" cy="182880"/>
          </a:xfrm>
          <a:prstGeom prst="rect">
            <a:avLst/>
          </a:prstGeom>
          <a:noFill/>
        </p:spPr>
        <p:txBody>
          <a:bodyPr wrap="square" lIns="0" tIns="0" rIns="0" bIns="0" anchor="t">
            <a:spAutoFit/>
          </a:bodyPr>
          <a:lstStyle/>
          <a:p>
            <a:pPr algn="l">
              <a:lnSpc>
                <a:spcPct val="112000"/>
              </a:lnSpc>
              <a:spcAft>
                <a:spcPts val="0"/>
              </a:spcAft>
            </a:pPr>
            <a:r>
              <a:rPr sz="850" b="1" i="0" spc="120">
                <a:solidFill>
                  <a:srgbClr val="00B589"/>
                </a:solidFill>
                <a:latin typeface="Arial"/>
              </a:rPr>
              <a:t>04</a:t>
            </a:r>
          </a:p>
        </p:txBody>
      </p:sp>
      <p:sp>
        <p:nvSpPr>
          <p:cNvPr id="19" name="TextBox 18"/>
          <p:cNvSpPr txBox="1"/>
          <p:nvPr/>
        </p:nvSpPr>
        <p:spPr>
          <a:xfrm>
            <a:off x="9166631" y="2275713"/>
            <a:ext cx="2165527" cy="274320"/>
          </a:xfrm>
          <a:prstGeom prst="rect">
            <a:avLst/>
          </a:prstGeom>
          <a:noFill/>
        </p:spPr>
        <p:txBody>
          <a:bodyPr wrap="square" lIns="0" tIns="0" rIns="0" bIns="0" anchor="t">
            <a:spAutoFit/>
          </a:bodyPr>
          <a:lstStyle/>
          <a:p>
            <a:pPr algn="l">
              <a:lnSpc>
                <a:spcPct val="105000"/>
              </a:lnSpc>
              <a:spcAft>
                <a:spcPts val="0"/>
              </a:spcAft>
            </a:pPr>
            <a:r>
              <a:rPr sz="1050" b="1" i="0">
                <a:solidFill>
                  <a:srgbClr val="102236"/>
                </a:solidFill>
                <a:latin typeface="Arial"/>
              </a:rPr>
              <a:t>Encryption everywhere</a:t>
            </a:r>
          </a:p>
        </p:txBody>
      </p:sp>
      <p:sp>
        <p:nvSpPr>
          <p:cNvPr id="20" name="TextBox 19"/>
          <p:cNvSpPr txBox="1"/>
          <p:nvPr/>
        </p:nvSpPr>
        <p:spPr>
          <a:xfrm>
            <a:off x="9166631" y="2586609"/>
            <a:ext cx="2165527" cy="68580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TLS 1.3 in transit, AES-256-GCM at rest with versioned keys for bank and KYC documents.</a:t>
            </a:r>
          </a:p>
        </p:txBody>
      </p:sp>
      <p:sp>
        <p:nvSpPr>
          <p:cNvPr id="21" name="Rounded Rectangle 20"/>
          <p:cNvSpPr/>
          <p:nvPr/>
        </p:nvSpPr>
        <p:spPr>
          <a:xfrm>
            <a:off x="658368" y="3519297"/>
            <a:ext cx="2567863" cy="144475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59536" y="3683888"/>
            <a:ext cx="731520" cy="182880"/>
          </a:xfrm>
          <a:prstGeom prst="rect">
            <a:avLst/>
          </a:prstGeom>
          <a:noFill/>
        </p:spPr>
        <p:txBody>
          <a:bodyPr wrap="square" lIns="0" tIns="0" rIns="0" bIns="0" anchor="t">
            <a:spAutoFit/>
          </a:bodyPr>
          <a:lstStyle/>
          <a:p>
            <a:pPr algn="l">
              <a:lnSpc>
                <a:spcPct val="112000"/>
              </a:lnSpc>
              <a:spcAft>
                <a:spcPts val="0"/>
              </a:spcAft>
            </a:pPr>
            <a:r>
              <a:rPr sz="850" b="1" i="0" spc="120">
                <a:solidFill>
                  <a:srgbClr val="00B589"/>
                </a:solidFill>
                <a:latin typeface="Arial"/>
              </a:rPr>
              <a:t>05</a:t>
            </a:r>
          </a:p>
        </p:txBody>
      </p:sp>
      <p:sp>
        <p:nvSpPr>
          <p:cNvPr id="23" name="TextBox 22"/>
          <p:cNvSpPr txBox="1"/>
          <p:nvPr/>
        </p:nvSpPr>
        <p:spPr>
          <a:xfrm>
            <a:off x="859536" y="3903345"/>
            <a:ext cx="2165527" cy="274320"/>
          </a:xfrm>
          <a:prstGeom prst="rect">
            <a:avLst/>
          </a:prstGeom>
          <a:noFill/>
        </p:spPr>
        <p:txBody>
          <a:bodyPr wrap="square" lIns="0" tIns="0" rIns="0" bIns="0" anchor="t">
            <a:spAutoFit/>
          </a:bodyPr>
          <a:lstStyle/>
          <a:p>
            <a:pPr algn="l">
              <a:lnSpc>
                <a:spcPct val="105000"/>
              </a:lnSpc>
              <a:spcAft>
                <a:spcPts val="0"/>
              </a:spcAft>
            </a:pPr>
            <a:r>
              <a:rPr sz="1050" b="1" i="0">
                <a:solidFill>
                  <a:srgbClr val="102236"/>
                </a:solidFill>
                <a:latin typeface="Arial"/>
              </a:rPr>
              <a:t>MFA and least privilege</a:t>
            </a:r>
          </a:p>
        </p:txBody>
      </p:sp>
      <p:sp>
        <p:nvSpPr>
          <p:cNvPr id="24" name="TextBox 23"/>
          <p:cNvSpPr txBox="1"/>
          <p:nvPr/>
        </p:nvSpPr>
        <p:spPr>
          <a:xfrm>
            <a:off x="859536" y="4214241"/>
            <a:ext cx="2165527" cy="68580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Two-factor on every staff account, role-based access, sessions bound to the device and revocable in one click.</a:t>
            </a:r>
          </a:p>
        </p:txBody>
      </p:sp>
      <p:sp>
        <p:nvSpPr>
          <p:cNvPr id="25" name="Rounded Rectangle 24"/>
          <p:cNvSpPr/>
          <p:nvPr/>
        </p:nvSpPr>
        <p:spPr>
          <a:xfrm>
            <a:off x="3427399" y="3519297"/>
            <a:ext cx="2567863" cy="144475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28567" y="3683888"/>
            <a:ext cx="731520" cy="182880"/>
          </a:xfrm>
          <a:prstGeom prst="rect">
            <a:avLst/>
          </a:prstGeom>
          <a:noFill/>
        </p:spPr>
        <p:txBody>
          <a:bodyPr wrap="square" lIns="0" tIns="0" rIns="0" bIns="0" anchor="t">
            <a:spAutoFit/>
          </a:bodyPr>
          <a:lstStyle/>
          <a:p>
            <a:pPr algn="l">
              <a:lnSpc>
                <a:spcPct val="112000"/>
              </a:lnSpc>
              <a:spcAft>
                <a:spcPts val="0"/>
              </a:spcAft>
            </a:pPr>
            <a:r>
              <a:rPr sz="850" b="1" i="0" spc="120">
                <a:solidFill>
                  <a:srgbClr val="00B589"/>
                </a:solidFill>
                <a:latin typeface="Arial"/>
              </a:rPr>
              <a:t>06</a:t>
            </a:r>
          </a:p>
        </p:txBody>
      </p:sp>
      <p:sp>
        <p:nvSpPr>
          <p:cNvPr id="27" name="TextBox 26"/>
          <p:cNvSpPr txBox="1"/>
          <p:nvPr/>
        </p:nvSpPr>
        <p:spPr>
          <a:xfrm>
            <a:off x="3628567" y="3903345"/>
            <a:ext cx="2165527" cy="274320"/>
          </a:xfrm>
          <a:prstGeom prst="rect">
            <a:avLst/>
          </a:prstGeom>
          <a:noFill/>
        </p:spPr>
        <p:txBody>
          <a:bodyPr wrap="square" lIns="0" tIns="0" rIns="0" bIns="0" anchor="t">
            <a:spAutoFit/>
          </a:bodyPr>
          <a:lstStyle/>
          <a:p>
            <a:pPr algn="l">
              <a:lnSpc>
                <a:spcPct val="105000"/>
              </a:lnSpc>
              <a:spcAft>
                <a:spcPts val="0"/>
              </a:spcAft>
            </a:pPr>
            <a:r>
              <a:rPr sz="1050" b="1" i="0">
                <a:solidFill>
                  <a:srgbClr val="102236"/>
                </a:solidFill>
                <a:latin typeface="Arial"/>
              </a:rPr>
              <a:t>Fraud controls built in</a:t>
            </a:r>
          </a:p>
        </p:txBody>
      </p:sp>
      <p:sp>
        <p:nvSpPr>
          <p:cNvPr id="28" name="TextBox 27"/>
          <p:cNvSpPr txBox="1"/>
          <p:nvPr/>
        </p:nvSpPr>
        <p:spPr>
          <a:xfrm>
            <a:off x="3628567" y="4214241"/>
            <a:ext cx="2165527" cy="68580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Velocity per IP, device and card; blocklists; instant rejection on your fraud signals.</a:t>
            </a:r>
          </a:p>
        </p:txBody>
      </p:sp>
      <p:sp>
        <p:nvSpPr>
          <p:cNvPr id="29" name="Rounded Rectangle 28"/>
          <p:cNvSpPr/>
          <p:nvPr/>
        </p:nvSpPr>
        <p:spPr>
          <a:xfrm>
            <a:off x="6196431" y="3519297"/>
            <a:ext cx="2567863" cy="144475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397599" y="3683888"/>
            <a:ext cx="731520" cy="182880"/>
          </a:xfrm>
          <a:prstGeom prst="rect">
            <a:avLst/>
          </a:prstGeom>
          <a:noFill/>
        </p:spPr>
        <p:txBody>
          <a:bodyPr wrap="square" lIns="0" tIns="0" rIns="0" bIns="0" anchor="t">
            <a:spAutoFit/>
          </a:bodyPr>
          <a:lstStyle/>
          <a:p>
            <a:pPr algn="l">
              <a:lnSpc>
                <a:spcPct val="112000"/>
              </a:lnSpc>
              <a:spcAft>
                <a:spcPts val="0"/>
              </a:spcAft>
            </a:pPr>
            <a:r>
              <a:rPr sz="850" b="1" i="0" spc="120">
                <a:solidFill>
                  <a:srgbClr val="00B589"/>
                </a:solidFill>
                <a:latin typeface="Arial"/>
              </a:rPr>
              <a:t>07</a:t>
            </a:r>
          </a:p>
        </p:txBody>
      </p:sp>
      <p:sp>
        <p:nvSpPr>
          <p:cNvPr id="31" name="TextBox 30"/>
          <p:cNvSpPr txBox="1"/>
          <p:nvPr/>
        </p:nvSpPr>
        <p:spPr>
          <a:xfrm>
            <a:off x="6397599" y="3903345"/>
            <a:ext cx="2165527" cy="274320"/>
          </a:xfrm>
          <a:prstGeom prst="rect">
            <a:avLst/>
          </a:prstGeom>
          <a:noFill/>
        </p:spPr>
        <p:txBody>
          <a:bodyPr wrap="square" lIns="0" tIns="0" rIns="0" bIns="0" anchor="t">
            <a:spAutoFit/>
          </a:bodyPr>
          <a:lstStyle/>
          <a:p>
            <a:pPr algn="l">
              <a:lnSpc>
                <a:spcPct val="105000"/>
              </a:lnSpc>
              <a:spcAft>
                <a:spcPts val="0"/>
              </a:spcAft>
            </a:pPr>
            <a:r>
              <a:rPr sz="1050" b="1" i="0">
                <a:solidFill>
                  <a:srgbClr val="102236"/>
                </a:solidFill>
                <a:latin typeface="Arial"/>
              </a:rPr>
              <a:t>Tamper-evident records</a:t>
            </a:r>
          </a:p>
        </p:txBody>
      </p:sp>
      <p:sp>
        <p:nvSpPr>
          <p:cNvPr id="32" name="TextBox 31"/>
          <p:cNvSpPr txBox="1"/>
          <p:nvPr/>
        </p:nvSpPr>
        <p:spPr>
          <a:xfrm>
            <a:off x="6397599" y="4214241"/>
            <a:ext cx="2165527" cy="68580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Append-only, hash-chained audit log of every decision, exported for your auditors on request.</a:t>
            </a:r>
          </a:p>
        </p:txBody>
      </p:sp>
      <p:sp>
        <p:nvSpPr>
          <p:cNvPr id="33" name="Rounded Rectangle 32"/>
          <p:cNvSpPr/>
          <p:nvPr/>
        </p:nvSpPr>
        <p:spPr>
          <a:xfrm>
            <a:off x="8965463" y="3519297"/>
            <a:ext cx="2567863" cy="144475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66631" y="3683888"/>
            <a:ext cx="731520" cy="182880"/>
          </a:xfrm>
          <a:prstGeom prst="rect">
            <a:avLst/>
          </a:prstGeom>
          <a:noFill/>
        </p:spPr>
        <p:txBody>
          <a:bodyPr wrap="square" lIns="0" tIns="0" rIns="0" bIns="0" anchor="t">
            <a:spAutoFit/>
          </a:bodyPr>
          <a:lstStyle/>
          <a:p>
            <a:pPr algn="l">
              <a:lnSpc>
                <a:spcPct val="112000"/>
              </a:lnSpc>
              <a:spcAft>
                <a:spcPts val="0"/>
              </a:spcAft>
            </a:pPr>
            <a:r>
              <a:rPr sz="850" b="1" i="0" spc="120">
                <a:solidFill>
                  <a:srgbClr val="00B589"/>
                </a:solidFill>
                <a:latin typeface="Arial"/>
              </a:rPr>
              <a:t>08</a:t>
            </a:r>
          </a:p>
        </p:txBody>
      </p:sp>
      <p:sp>
        <p:nvSpPr>
          <p:cNvPr id="35" name="TextBox 34"/>
          <p:cNvSpPr txBox="1"/>
          <p:nvPr/>
        </p:nvSpPr>
        <p:spPr>
          <a:xfrm>
            <a:off x="9166631" y="3903345"/>
            <a:ext cx="2165527" cy="274320"/>
          </a:xfrm>
          <a:prstGeom prst="rect">
            <a:avLst/>
          </a:prstGeom>
          <a:noFill/>
        </p:spPr>
        <p:txBody>
          <a:bodyPr wrap="square" lIns="0" tIns="0" rIns="0" bIns="0" anchor="t">
            <a:spAutoFit/>
          </a:bodyPr>
          <a:lstStyle/>
          <a:p>
            <a:pPr algn="l">
              <a:lnSpc>
                <a:spcPct val="105000"/>
              </a:lnSpc>
              <a:spcAft>
                <a:spcPts val="0"/>
              </a:spcAft>
            </a:pPr>
            <a:r>
              <a:rPr sz="1050" b="1" i="0">
                <a:solidFill>
                  <a:srgbClr val="102236"/>
                </a:solidFill>
                <a:latin typeface="Arial"/>
              </a:rPr>
              <a:t>KYB, AML and sanctions</a:t>
            </a:r>
          </a:p>
        </p:txBody>
      </p:sp>
      <p:sp>
        <p:nvSpPr>
          <p:cNvPr id="36" name="TextBox 35"/>
          <p:cNvSpPr txBox="1"/>
          <p:nvPr/>
        </p:nvSpPr>
        <p:spPr>
          <a:xfrm>
            <a:off x="9166631" y="4214241"/>
            <a:ext cx="2165527" cy="685800"/>
          </a:xfrm>
          <a:prstGeom prst="rect">
            <a:avLst/>
          </a:prstGeom>
          <a:noFill/>
        </p:spPr>
        <p:txBody>
          <a:bodyPr wrap="square" lIns="0" tIns="0" rIns="0" bIns="0" anchor="t">
            <a:spAutoFit/>
          </a:bodyPr>
          <a:lstStyle/>
          <a:p>
            <a:pPr algn="l">
              <a:lnSpc>
                <a:spcPct val="118000"/>
              </a:lnSpc>
              <a:spcAft>
                <a:spcPts val="0"/>
              </a:spcAft>
            </a:pPr>
            <a:r>
              <a:rPr sz="880" b="0" i="0">
                <a:solidFill>
                  <a:srgbClr val="5B6E82"/>
                </a:solidFill>
                <a:latin typeface="Arial"/>
              </a:rPr>
              <a:t>Ownership to 25%, PEP and sanctions screening, ongoing monitoring, and a documented incident response.</a:t>
            </a:r>
          </a:p>
        </p:txBody>
      </p:sp>
      <p:sp>
        <p:nvSpPr>
          <p:cNvPr id="37" name="Rounded Rectangle 36"/>
          <p:cNvSpPr/>
          <p:nvPr/>
        </p:nvSpPr>
        <p:spPr>
          <a:xfrm>
            <a:off x="658368" y="5274945"/>
            <a:ext cx="10874959" cy="868680"/>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69264" y="5421249"/>
            <a:ext cx="3840480"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SCOPE, NOT THEATRE</a:t>
            </a:r>
          </a:p>
        </p:txBody>
      </p:sp>
      <p:sp>
        <p:nvSpPr>
          <p:cNvPr id="39" name="TextBox 38"/>
          <p:cNvSpPr txBox="1"/>
          <p:nvPr/>
        </p:nvSpPr>
        <p:spPr>
          <a:xfrm>
            <a:off x="969264" y="5677281"/>
            <a:ext cx="10253167" cy="365760"/>
          </a:xfrm>
          <a:prstGeom prst="rect">
            <a:avLst/>
          </a:prstGeom>
          <a:noFill/>
        </p:spPr>
        <p:txBody>
          <a:bodyPr wrap="square" lIns="0" tIns="0" rIns="0" bIns="0" anchor="t">
            <a:spAutoFit/>
          </a:bodyPr>
          <a:lstStyle/>
          <a:p>
            <a:pPr algn="l">
              <a:lnSpc>
                <a:spcPct val="120000"/>
              </a:lnSpc>
              <a:spcAft>
                <a:spcPts val="0"/>
              </a:spcAft>
            </a:pPr>
            <a:r>
              <a:rPr sz="1019" b="0" i="0">
                <a:solidFill>
                  <a:srgbClr val="FFFFFF"/>
                </a:solidFill>
                <a:latin typeface="Arial"/>
              </a:rPr>
              <a:t>We do not claim SOC 2, ISO 27001 or PCI Level 1 that we have not earned. Our card-data scope is SAQ-A today; the certification roadmap and dates are in the due-diligence pack.</a:t>
            </a:r>
          </a:p>
        </p:txBody>
      </p:sp>
      <p:cxnSp>
        <p:nvCxnSpPr>
          <p:cNvPr id="40" name="Connector 39"/>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42" name="TextBox 41"/>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FIT</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Why us, and why now</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We evaluated Stripe Connect, Adyen for Platforms and Airwallex. This is why you won.</a:t>
            </a:r>
          </a:p>
        </p:txBody>
      </p:sp>
      <p:sp>
        <p:nvSpPr>
          <p:cNvPr id="5" name="Rounded Rectangle 4"/>
          <p:cNvSpPr/>
          <p:nvPr/>
        </p:nvSpPr>
        <p:spPr>
          <a:xfrm>
            <a:off x="658368" y="1928241"/>
            <a:ext cx="5323179" cy="157276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129409"/>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01</a:t>
            </a:r>
          </a:p>
        </p:txBody>
      </p:sp>
      <p:sp>
        <p:nvSpPr>
          <p:cNvPr id="7" name="TextBox 6"/>
          <p:cNvSpPr txBox="1"/>
          <p:nvPr/>
        </p:nvSpPr>
        <p:spPr>
          <a:xfrm>
            <a:off x="896112" y="2367153"/>
            <a:ext cx="484769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Asia-first, not Asia-later</a:t>
            </a:r>
          </a:p>
        </p:txBody>
      </p:sp>
      <p:sp>
        <p:nvSpPr>
          <p:cNvPr id="8" name="TextBox 7"/>
          <p:cNvSpPr txBox="1"/>
          <p:nvPr/>
        </p:nvSpPr>
        <p:spPr>
          <a:xfrm>
            <a:off x="896112" y="2747772"/>
            <a:ext cx="4847691" cy="588645"/>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Our merchants, our operations and our support are in the region. Your coverage map is the only constraint we plan around.</a:t>
            </a:r>
          </a:p>
        </p:txBody>
      </p:sp>
      <p:sp>
        <p:nvSpPr>
          <p:cNvPr id="9" name="Rounded Rectangle 8"/>
          <p:cNvSpPr/>
          <p:nvPr/>
        </p:nvSpPr>
        <p:spPr>
          <a:xfrm>
            <a:off x="6210147" y="1928241"/>
            <a:ext cx="5323179" cy="157276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47891" y="2129409"/>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02</a:t>
            </a:r>
          </a:p>
        </p:txBody>
      </p:sp>
      <p:sp>
        <p:nvSpPr>
          <p:cNvPr id="11" name="TextBox 10"/>
          <p:cNvSpPr txBox="1"/>
          <p:nvPr/>
        </p:nvSpPr>
        <p:spPr>
          <a:xfrm>
            <a:off x="6447891" y="2367153"/>
            <a:ext cx="484769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We run the operations ourselves</a:t>
            </a:r>
          </a:p>
        </p:txBody>
      </p:sp>
      <p:sp>
        <p:nvSpPr>
          <p:cNvPr id="12" name="TextBox 11"/>
          <p:cNvSpPr txBox="1"/>
          <p:nvPr/>
        </p:nvSpPr>
        <p:spPr>
          <a:xfrm>
            <a:off x="6447891" y="2747772"/>
            <a:ext cx="4847691" cy="588645"/>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Onboarding, KYB, support, disputes and reserves. We are not a shell that pipes volume and forwards tickets.</a:t>
            </a:r>
          </a:p>
        </p:txBody>
      </p:sp>
      <p:sp>
        <p:nvSpPr>
          <p:cNvPr id="13" name="Rounded Rectangle 12"/>
          <p:cNvSpPr/>
          <p:nvPr/>
        </p:nvSpPr>
        <p:spPr>
          <a:xfrm>
            <a:off x="658368" y="3683889"/>
            <a:ext cx="5323179" cy="157276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6112" y="3885057"/>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03</a:t>
            </a:r>
          </a:p>
        </p:txBody>
      </p:sp>
      <p:sp>
        <p:nvSpPr>
          <p:cNvPr id="15" name="TextBox 14"/>
          <p:cNvSpPr txBox="1"/>
          <p:nvPr/>
        </p:nvSpPr>
        <p:spPr>
          <a:xfrm>
            <a:off x="896112" y="4122801"/>
            <a:ext cx="484769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A clean, small, provable book</a:t>
            </a:r>
          </a:p>
        </p:txBody>
      </p:sp>
      <p:sp>
        <p:nvSpPr>
          <p:cNvPr id="16" name="TextBox 15"/>
          <p:cNvSpPr txBox="1"/>
          <p:nvPr/>
        </p:nvSpPr>
        <p:spPr>
          <a:xfrm>
            <a:off x="896112" y="4503420"/>
            <a:ext cx="4847691" cy="588645"/>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$800K a month at 0.01% — enough to prove the model, clean enough to keep your risk team idle.</a:t>
            </a:r>
          </a:p>
        </p:txBody>
      </p:sp>
      <p:sp>
        <p:nvSpPr>
          <p:cNvPr id="17" name="Rounded Rectangle 16"/>
          <p:cNvSpPr/>
          <p:nvPr/>
        </p:nvSpPr>
        <p:spPr>
          <a:xfrm>
            <a:off x="6210147" y="3683889"/>
            <a:ext cx="5323179" cy="157276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47891" y="3885057"/>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04</a:t>
            </a:r>
          </a:p>
        </p:txBody>
      </p:sp>
      <p:sp>
        <p:nvSpPr>
          <p:cNvPr id="19" name="TextBox 18"/>
          <p:cNvSpPr txBox="1"/>
          <p:nvPr/>
        </p:nvSpPr>
        <p:spPr>
          <a:xfrm>
            <a:off x="6447891" y="4122801"/>
            <a:ext cx="484769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White-label ready, not white-label aspirational</a:t>
            </a:r>
          </a:p>
        </p:txBody>
      </p:sp>
      <p:sp>
        <p:nvSpPr>
          <p:cNvPr id="20" name="TextBox 19"/>
          <p:cNvSpPr txBox="1"/>
          <p:nvPr/>
        </p:nvSpPr>
        <p:spPr>
          <a:xfrm>
            <a:off x="6447891" y="4503420"/>
            <a:ext cx="4847691" cy="588645"/>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Brand, domain, documents and support are ours from day one. Your rails stay untouched underneath.</a:t>
            </a:r>
          </a:p>
        </p:txBody>
      </p:sp>
      <p:cxnSp>
        <p:nvCxnSpPr>
          <p:cNvPr id="21" name="Connector 20"/>
          <p:cNvCxnSpPr/>
          <p:nvPr/>
        </p:nvCxnSpPr>
        <p:spPr>
          <a:xfrm>
            <a:off x="658368" y="5274945"/>
            <a:ext cx="10874959" cy="0"/>
          </a:xfrm>
          <a:prstGeom prst="line">
            <a:avLst/>
          </a:prstGeom>
          <a:ln w="10160">
            <a:solidFill>
              <a:srgbClr val="DFE6E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8" y="5457825"/>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WHAT HAS TO BE TRUE FOR THIS TO WORK</a:t>
            </a:r>
          </a:p>
        </p:txBody>
      </p:sp>
      <p:sp>
        <p:nvSpPr>
          <p:cNvPr id="23" name="TextBox 22"/>
          <p:cNvSpPr txBox="1"/>
          <p:nvPr/>
        </p:nvSpPr>
        <p:spPr>
          <a:xfrm>
            <a:off x="658368" y="5750433"/>
            <a:ext cx="3213506" cy="566928"/>
          </a:xfrm>
          <a:prstGeom prst="rect">
            <a:avLst/>
          </a:prstGeom>
          <a:noFill/>
        </p:spPr>
        <p:txBody>
          <a:bodyPr wrap="square" lIns="0" rIns="0" tIns="0" bIns="0">
            <a:spAutoFit/>
          </a:bodyPr>
          <a:lstStyle/>
          <a:p>
            <a:pPr algn="l">
              <a:lnSpc>
                <a:spcPct val="125000"/>
              </a:lnSpc>
            </a:pPr>
            <a:r>
              <a:rPr sz="930" b="1" i="0">
                <a:solidFill>
                  <a:srgbClr val="102236"/>
                </a:solidFill>
                <a:latin typeface="Arial"/>
              </a:rPr>
              <a:t>Corridor by corridor. </a:t>
            </a:r>
            <a:r>
              <a:rPr sz="930" b="0" i="0">
                <a:solidFill>
                  <a:srgbClr val="5B6E82"/>
                </a:solidFill>
                <a:latin typeface="Arial"/>
              </a:rPr>
              <a:t>You confirm which markets are live today. We do not assume coverage.</a:t>
            </a:r>
          </a:p>
        </p:txBody>
      </p:sp>
      <p:sp>
        <p:nvSpPr>
          <p:cNvPr id="24" name="TextBox 23"/>
          <p:cNvSpPr txBox="1"/>
          <p:nvPr/>
        </p:nvSpPr>
        <p:spPr>
          <a:xfrm>
            <a:off x="4283354" y="5750433"/>
            <a:ext cx="3213506" cy="566928"/>
          </a:xfrm>
          <a:prstGeom prst="rect">
            <a:avLst/>
          </a:prstGeom>
          <a:noFill/>
        </p:spPr>
        <p:txBody>
          <a:bodyPr wrap="square" lIns="0" rIns="0" tIns="0" bIns="0">
            <a:spAutoFit/>
          </a:bodyPr>
          <a:lstStyle/>
          <a:p>
            <a:pPr algn="l">
              <a:lnSpc>
                <a:spcPct val="125000"/>
              </a:lnSpc>
            </a:pPr>
            <a:r>
              <a:rPr sz="930" b="1" i="0">
                <a:solidFill>
                  <a:srgbClr val="102236"/>
                </a:solidFill>
                <a:latin typeface="Arial"/>
              </a:rPr>
              <a:t>Underwriting comfort. </a:t>
            </a:r>
            <a:r>
              <a:rPr sz="930" b="0" i="0">
                <a:solidFill>
                  <a:srgbClr val="5B6E82"/>
                </a:solidFill>
                <a:latin typeface="Arial"/>
              </a:rPr>
              <a:t>Your risk team is satisfied with how we hold and report merchant exposure.</a:t>
            </a:r>
          </a:p>
        </p:txBody>
      </p:sp>
      <p:sp>
        <p:nvSpPr>
          <p:cNvPr id="25" name="TextBox 24"/>
          <p:cNvSpPr txBox="1"/>
          <p:nvPr/>
        </p:nvSpPr>
        <p:spPr>
          <a:xfrm>
            <a:off x="7908340" y="5750433"/>
            <a:ext cx="3213506" cy="566928"/>
          </a:xfrm>
          <a:prstGeom prst="rect">
            <a:avLst/>
          </a:prstGeom>
          <a:noFill/>
        </p:spPr>
        <p:txBody>
          <a:bodyPr wrap="square" lIns="0" rIns="0" tIns="0" bIns="0">
            <a:spAutoFit/>
          </a:bodyPr>
          <a:lstStyle/>
          <a:p>
            <a:pPr algn="l">
              <a:lnSpc>
                <a:spcPct val="125000"/>
              </a:lnSpc>
            </a:pPr>
            <a:r>
              <a:rPr sz="930" b="1" i="0">
                <a:solidFill>
                  <a:srgbClr val="102236"/>
                </a:solidFill>
                <a:latin typeface="Arial"/>
              </a:rPr>
              <a:t>Economics that hold at volume. </a:t>
            </a:r>
            <a:r>
              <a:rPr sz="930" b="0" i="0">
                <a:solidFill>
                  <a:srgbClr val="5B6E82"/>
                </a:solidFill>
                <a:latin typeface="Arial"/>
              </a:rPr>
              <a:t>Pricing that works at $800K a month and still works at ten times that.</a:t>
            </a:r>
          </a:p>
        </p:txBody>
      </p:sp>
      <p:cxnSp>
        <p:nvCxnSpPr>
          <p:cNvPr id="26" name="Connector 25"/>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28" name="TextBox 27"/>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OUTLOOK</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Where this goes if it works</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Targets, not projections — we model them again once your pricing and corridor map are known.</a:t>
            </a:r>
          </a:p>
        </p:txBody>
      </p:sp>
      <p:sp>
        <p:nvSpPr>
          <p:cNvPr id="5" name="Rounded Rectangle 4"/>
          <p:cNvSpPr/>
          <p:nvPr/>
        </p:nvSpPr>
        <p:spPr>
          <a:xfrm>
            <a:off x="658368" y="1891665"/>
            <a:ext cx="2547289" cy="16276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77824" y="2056257"/>
            <a:ext cx="2108377" cy="201168"/>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NOW</a:t>
            </a:r>
          </a:p>
        </p:txBody>
      </p:sp>
      <p:sp>
        <p:nvSpPr>
          <p:cNvPr id="7" name="TextBox 6"/>
          <p:cNvSpPr txBox="1"/>
          <p:nvPr/>
        </p:nvSpPr>
        <p:spPr>
          <a:xfrm>
            <a:off x="877824" y="2330577"/>
            <a:ext cx="2108377" cy="457200"/>
          </a:xfrm>
          <a:prstGeom prst="rect">
            <a:avLst/>
          </a:prstGeom>
          <a:noFill/>
        </p:spPr>
        <p:txBody>
          <a:bodyPr wrap="square" lIns="0" tIns="0" rIns="0" bIns="0" anchor="t">
            <a:spAutoFit/>
          </a:bodyPr>
          <a:lstStyle/>
          <a:p>
            <a:pPr algn="l">
              <a:lnSpc>
                <a:spcPct val="108000"/>
              </a:lnSpc>
              <a:spcAft>
                <a:spcPts val="0"/>
              </a:spcAft>
            </a:pPr>
            <a:r>
              <a:rPr sz="1350" b="1" i="0">
                <a:solidFill>
                  <a:srgbClr val="102236"/>
                </a:solidFill>
                <a:latin typeface="Arial"/>
              </a:rPr>
              <a:t>$800K / month</a:t>
            </a:r>
          </a:p>
        </p:txBody>
      </p:sp>
      <p:sp>
        <p:nvSpPr>
          <p:cNvPr id="8" name="TextBox 7"/>
          <p:cNvSpPr txBox="1"/>
          <p:nvPr/>
        </p:nvSpPr>
        <p:spPr>
          <a:xfrm>
            <a:off x="877824" y="2751201"/>
            <a:ext cx="2108377" cy="640080"/>
          </a:xfrm>
          <a:prstGeom prst="rect">
            <a:avLst/>
          </a:prstGeom>
          <a:noFill/>
        </p:spPr>
        <p:txBody>
          <a:bodyPr wrap="square" lIns="0" tIns="0" rIns="0" bIns="0" anchor="t">
            <a:spAutoFit/>
          </a:bodyPr>
          <a:lstStyle/>
          <a:p>
            <a:pPr algn="l">
              <a:lnSpc>
                <a:spcPct val="125000"/>
              </a:lnSpc>
              <a:spcAft>
                <a:spcPts val="0"/>
              </a:spcAft>
            </a:pPr>
            <a:r>
              <a:rPr sz="910" b="0" i="0">
                <a:solidFill>
                  <a:srgbClr val="5B6E82"/>
                </a:solidFill>
                <a:latin typeface="Arial"/>
              </a:rPr>
              <a:t>Private accounts, USD-first, card-not-present</a:t>
            </a:r>
          </a:p>
        </p:txBody>
      </p:sp>
      <p:sp>
        <p:nvSpPr>
          <p:cNvPr id="9" name="Rounded Rectangle 8"/>
          <p:cNvSpPr/>
          <p:nvPr/>
        </p:nvSpPr>
        <p:spPr>
          <a:xfrm>
            <a:off x="3434257" y="1891665"/>
            <a:ext cx="2547289" cy="16276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653713" y="2056257"/>
            <a:ext cx="2108377" cy="201168"/>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MONTH 6</a:t>
            </a:r>
          </a:p>
        </p:txBody>
      </p:sp>
      <p:sp>
        <p:nvSpPr>
          <p:cNvPr id="11" name="TextBox 10"/>
          <p:cNvSpPr txBox="1"/>
          <p:nvPr/>
        </p:nvSpPr>
        <p:spPr>
          <a:xfrm>
            <a:off x="3653713" y="2330577"/>
            <a:ext cx="2108377" cy="457200"/>
          </a:xfrm>
          <a:prstGeom prst="rect">
            <a:avLst/>
          </a:prstGeom>
          <a:noFill/>
        </p:spPr>
        <p:txBody>
          <a:bodyPr wrap="square" lIns="0" tIns="0" rIns="0" bIns="0" anchor="t">
            <a:spAutoFit/>
          </a:bodyPr>
          <a:lstStyle/>
          <a:p>
            <a:pPr algn="l">
              <a:lnSpc>
                <a:spcPct val="108000"/>
              </a:lnSpc>
              <a:spcAft>
                <a:spcPts val="0"/>
              </a:spcAft>
            </a:pPr>
            <a:r>
              <a:rPr sz="1350" b="1" i="0">
                <a:solidFill>
                  <a:srgbClr val="102236"/>
                </a:solidFill>
                <a:latin typeface="Arial"/>
              </a:rPr>
              <a:t>3 corridors live</a:t>
            </a:r>
          </a:p>
        </p:txBody>
      </p:sp>
      <p:sp>
        <p:nvSpPr>
          <p:cNvPr id="12" name="TextBox 11"/>
          <p:cNvSpPr txBox="1"/>
          <p:nvPr/>
        </p:nvSpPr>
        <p:spPr>
          <a:xfrm>
            <a:off x="3653713" y="2751201"/>
            <a:ext cx="2108377" cy="640080"/>
          </a:xfrm>
          <a:prstGeom prst="rect">
            <a:avLst/>
          </a:prstGeom>
          <a:noFill/>
        </p:spPr>
        <p:txBody>
          <a:bodyPr wrap="square" lIns="0" tIns="0" rIns="0" bIns="0" anchor="t">
            <a:spAutoFit/>
          </a:bodyPr>
          <a:lstStyle/>
          <a:p>
            <a:pPr algn="l">
              <a:lnSpc>
                <a:spcPct val="125000"/>
              </a:lnSpc>
              <a:spcAft>
                <a:spcPts val="0"/>
              </a:spcAft>
            </a:pPr>
            <a:r>
              <a:rPr sz="910" b="0" i="0">
                <a:solidFill>
                  <a:srgbClr val="5B6E82"/>
                </a:solidFill>
                <a:latin typeface="Arial"/>
              </a:rPr>
              <a:t>South and South-East Asia; plugin distribution adopted; pilot book live</a:t>
            </a:r>
          </a:p>
        </p:txBody>
      </p:sp>
      <p:sp>
        <p:nvSpPr>
          <p:cNvPr id="13" name="Rounded Rectangle 12"/>
          <p:cNvSpPr/>
          <p:nvPr/>
        </p:nvSpPr>
        <p:spPr>
          <a:xfrm>
            <a:off x="6210147" y="1891665"/>
            <a:ext cx="2547289" cy="16276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29603" y="2056257"/>
            <a:ext cx="2108377" cy="201168"/>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MONTH 12</a:t>
            </a:r>
          </a:p>
        </p:txBody>
      </p:sp>
      <p:sp>
        <p:nvSpPr>
          <p:cNvPr id="15" name="TextBox 14"/>
          <p:cNvSpPr txBox="1"/>
          <p:nvPr/>
        </p:nvSpPr>
        <p:spPr>
          <a:xfrm>
            <a:off x="6429603" y="2330577"/>
            <a:ext cx="2108377" cy="457200"/>
          </a:xfrm>
          <a:prstGeom prst="rect">
            <a:avLst/>
          </a:prstGeom>
          <a:noFill/>
        </p:spPr>
        <p:txBody>
          <a:bodyPr wrap="square" lIns="0" tIns="0" rIns="0" bIns="0" anchor="t">
            <a:spAutoFit/>
          </a:bodyPr>
          <a:lstStyle/>
          <a:p>
            <a:pPr algn="l">
              <a:lnSpc>
                <a:spcPct val="108000"/>
              </a:lnSpc>
              <a:spcAft>
                <a:spcPts val="0"/>
              </a:spcAft>
            </a:pPr>
            <a:r>
              <a:rPr sz="1350" b="1" i="0">
                <a:solidFill>
                  <a:srgbClr val="102236"/>
                </a:solidFill>
                <a:latin typeface="Arial"/>
              </a:rPr>
              <a:t>$2M run-rate ambition</a:t>
            </a:r>
          </a:p>
        </p:txBody>
      </p:sp>
      <p:sp>
        <p:nvSpPr>
          <p:cNvPr id="16" name="TextBox 15"/>
          <p:cNvSpPr txBox="1"/>
          <p:nvPr/>
        </p:nvSpPr>
        <p:spPr>
          <a:xfrm>
            <a:off x="6429603" y="2751201"/>
            <a:ext cx="2108377" cy="640080"/>
          </a:xfrm>
          <a:prstGeom prst="rect">
            <a:avLst/>
          </a:prstGeom>
          <a:noFill/>
        </p:spPr>
        <p:txBody>
          <a:bodyPr wrap="square" lIns="0" tIns="0" rIns="0" bIns="0" anchor="t">
            <a:spAutoFit/>
          </a:bodyPr>
          <a:lstStyle/>
          <a:p>
            <a:pPr algn="l">
              <a:lnSpc>
                <a:spcPct val="125000"/>
              </a:lnSpc>
              <a:spcAft>
                <a:spcPts val="0"/>
              </a:spcAft>
            </a:pPr>
            <a:r>
              <a:rPr sz="910" b="0" i="0">
                <a:solidFill>
                  <a:srgbClr val="5B6E82"/>
                </a:solidFill>
                <a:latin typeface="Arial"/>
              </a:rPr>
              <a:t>Volume migrated under KD PAY; enterprise merchants on connected accounts</a:t>
            </a:r>
          </a:p>
        </p:txBody>
      </p:sp>
      <p:sp>
        <p:nvSpPr>
          <p:cNvPr id="17" name="Rounded Rectangle 16"/>
          <p:cNvSpPr/>
          <p:nvPr/>
        </p:nvSpPr>
        <p:spPr>
          <a:xfrm>
            <a:off x="8986037" y="1891665"/>
            <a:ext cx="2547289" cy="1627632"/>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205493" y="2056257"/>
            <a:ext cx="2108377" cy="201168"/>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YEAR 2</a:t>
            </a:r>
          </a:p>
        </p:txBody>
      </p:sp>
      <p:sp>
        <p:nvSpPr>
          <p:cNvPr id="19" name="TextBox 18"/>
          <p:cNvSpPr txBox="1"/>
          <p:nvPr/>
        </p:nvSpPr>
        <p:spPr>
          <a:xfrm>
            <a:off x="9205493" y="2330577"/>
            <a:ext cx="2108377" cy="457200"/>
          </a:xfrm>
          <a:prstGeom prst="rect">
            <a:avLst/>
          </a:prstGeom>
          <a:noFill/>
        </p:spPr>
        <p:txBody>
          <a:bodyPr wrap="square" lIns="0" tIns="0" rIns="0" bIns="0" anchor="t">
            <a:spAutoFit/>
          </a:bodyPr>
          <a:lstStyle/>
          <a:p>
            <a:pPr algn="l">
              <a:lnSpc>
                <a:spcPct val="108000"/>
              </a:lnSpc>
              <a:spcAft>
                <a:spcPts val="0"/>
              </a:spcAft>
            </a:pPr>
            <a:r>
              <a:rPr sz="1350" b="1" i="0">
                <a:solidFill>
                  <a:srgbClr val="FFFFFF"/>
                </a:solidFill>
                <a:latin typeface="Arial"/>
              </a:rPr>
              <a:t>Global corridors</a:t>
            </a:r>
          </a:p>
        </p:txBody>
      </p:sp>
      <p:sp>
        <p:nvSpPr>
          <p:cNvPr id="20" name="TextBox 19"/>
          <p:cNvSpPr txBox="1"/>
          <p:nvPr/>
        </p:nvSpPr>
        <p:spPr>
          <a:xfrm>
            <a:off x="9205493" y="2751201"/>
            <a:ext cx="2108377" cy="640080"/>
          </a:xfrm>
          <a:prstGeom prst="rect">
            <a:avLst/>
          </a:prstGeom>
          <a:noFill/>
        </p:spPr>
        <p:txBody>
          <a:bodyPr wrap="square" lIns="0" tIns="0" rIns="0" bIns="0" anchor="t">
            <a:spAutoFit/>
          </a:bodyPr>
          <a:lstStyle/>
          <a:p>
            <a:pPr algn="l">
              <a:lnSpc>
                <a:spcPct val="125000"/>
              </a:lnSpc>
              <a:spcAft>
                <a:spcPts val="0"/>
              </a:spcAft>
            </a:pPr>
            <a:r>
              <a:rPr sz="910" b="0" i="0">
                <a:solidFill>
                  <a:srgbClr val="9FB3C6"/>
                </a:solidFill>
                <a:latin typeface="Arial"/>
              </a:rPr>
              <a:t>EU/UK with SCA, US/Canada, LatAm; multi-currency settlement</a:t>
            </a:r>
          </a:p>
        </p:txBody>
      </p:sp>
      <p:sp>
        <p:nvSpPr>
          <p:cNvPr id="21" name="TextBox 20"/>
          <p:cNvSpPr txBox="1"/>
          <p:nvPr/>
        </p:nvSpPr>
        <p:spPr>
          <a:xfrm>
            <a:off x="658368" y="3647313"/>
            <a:ext cx="10874959" cy="274320"/>
          </a:xfrm>
          <a:prstGeom prst="rect">
            <a:avLst/>
          </a:prstGeom>
          <a:noFill/>
        </p:spPr>
        <p:txBody>
          <a:bodyPr wrap="square" lIns="0" tIns="0" rIns="0" bIns="0" anchor="t">
            <a:spAutoFit/>
          </a:bodyPr>
          <a:lstStyle/>
          <a:p>
            <a:pPr algn="l">
              <a:lnSpc>
                <a:spcPct val="112000"/>
              </a:lnSpc>
              <a:spcAft>
                <a:spcPts val="0"/>
              </a:spcAft>
            </a:pPr>
            <a:r>
              <a:rPr sz="950" b="1" i="0" spc="140">
                <a:solidFill>
                  <a:srgbClr val="5B6E82"/>
                </a:solidFill>
                <a:latin typeface="Arial"/>
              </a:rPr>
              <a:t>WHAT AIRWALLEX GETS</a:t>
            </a:r>
          </a:p>
        </p:txBody>
      </p:sp>
      <p:sp>
        <p:nvSpPr>
          <p:cNvPr id="22" name="TextBox 21"/>
          <p:cNvSpPr txBox="1"/>
          <p:nvPr/>
        </p:nvSpPr>
        <p:spPr>
          <a:xfrm>
            <a:off x="658368" y="3921633"/>
            <a:ext cx="10874959" cy="1097280"/>
          </a:xfrm>
          <a:prstGeom prst="rect">
            <a:avLst/>
          </a:prstGeom>
          <a:noFill/>
        </p:spPr>
        <p:txBody>
          <a:bodyPr wrap="square" lIns="0" rIns="0" tIns="0" bIns="0">
            <a:spAutoFit/>
          </a:bodyPr>
          <a:lstStyle/>
          <a:p>
            <a:pPr marL="219456" indent="-219456">
              <a:lnSpc>
                <a:spcPct val="116000"/>
              </a:lnSpc>
              <a:spcAft>
                <a:spcPts val="400"/>
              </a:spcAft>
              <a:buClr>
                <a:srgbClr val="00B589"/>
              </a:buClr>
              <a:buFont typeface="Arial"/>
              <a:buChar char="—"/>
            </a:pPr>
            <a:r>
              <a:rPr sz="960" b="1" i="0">
                <a:solidFill>
                  <a:srgbClr val="102236"/>
                </a:solidFill>
                <a:latin typeface="Arial"/>
              </a:rPr>
              <a:t>Quality volume, not raw volume — </a:t>
            </a:r>
            <a:r>
              <a:rPr sz="960" b="0" i="0">
                <a:solidFill>
                  <a:srgbClr val="102236"/>
                </a:solidFill>
                <a:latin typeface="Arial"/>
              </a:rPr>
              <a:t>verified merchants, 0.01% disputes, reserves funded</a:t>
            </a:r>
          </a:p>
          <a:p>
            <a:pPr marL="219456" indent="-219456">
              <a:lnSpc>
                <a:spcPct val="116000"/>
              </a:lnSpc>
              <a:spcAft>
                <a:spcPts val="400"/>
              </a:spcAft>
              <a:buClr>
                <a:srgbClr val="00B589"/>
              </a:buClr>
              <a:buFont typeface="Arial"/>
              <a:buChar char="—"/>
            </a:pPr>
            <a:r>
              <a:rPr sz="960" b="1" i="0">
                <a:solidFill>
                  <a:srgbClr val="102236"/>
                </a:solidFill>
                <a:latin typeface="Arial"/>
              </a:rPr>
              <a:t>Ownership in-region — </a:t>
            </a:r>
            <a:r>
              <a:rPr sz="960" b="0" i="0">
                <a:solidFill>
                  <a:srgbClr val="102236"/>
                </a:solidFill>
                <a:latin typeface="Arial"/>
              </a:rPr>
              <a:t>onboarding, support and disputes handled by us, not escalated to you</a:t>
            </a:r>
          </a:p>
          <a:p>
            <a:pPr marL="219456" indent="-219456">
              <a:lnSpc>
                <a:spcPct val="116000"/>
              </a:lnSpc>
              <a:spcAft>
                <a:spcPts val="400"/>
              </a:spcAft>
              <a:buClr>
                <a:srgbClr val="00B589"/>
              </a:buClr>
              <a:buFont typeface="Arial"/>
              <a:buChar char="—"/>
            </a:pPr>
            <a:r>
              <a:rPr sz="960" b="1" i="0">
                <a:solidFill>
                  <a:srgbClr val="102236"/>
                </a:solidFill>
                <a:latin typeface="Arial"/>
              </a:rPr>
              <a:t>Demand-led expansion — </a:t>
            </a:r>
            <a:r>
              <a:rPr sz="960" b="0" i="0">
                <a:solidFill>
                  <a:srgbClr val="102236"/>
                </a:solidFill>
                <a:latin typeface="Arial"/>
              </a:rPr>
              <a:t>corridors open because merchants ask, not because we speculate</a:t>
            </a:r>
          </a:p>
          <a:p>
            <a:pPr marL="219456" indent="-219456">
              <a:lnSpc>
                <a:spcPct val="116000"/>
              </a:lnSpc>
              <a:spcAft>
                <a:spcPts val="400"/>
              </a:spcAft>
              <a:buClr>
                <a:srgbClr val="00B589"/>
              </a:buClr>
              <a:buFont typeface="Arial"/>
              <a:buChar char="—"/>
            </a:pPr>
            <a:r>
              <a:rPr sz="960" b="1" i="0">
                <a:solidFill>
                  <a:srgbClr val="102236"/>
                </a:solidFill>
                <a:latin typeface="Arial"/>
              </a:rPr>
              <a:t>A team that integrates properly — </a:t>
            </a:r>
            <a:r>
              <a:rPr sz="960" b="0" i="0">
                <a:solidFill>
                  <a:srgbClr val="102236"/>
                </a:solidFill>
                <a:latin typeface="Arial"/>
              </a:rPr>
              <a:t>we build against your documented contracts</a:t>
            </a:r>
          </a:p>
        </p:txBody>
      </p:sp>
      <p:cxnSp>
        <p:nvCxnSpPr>
          <p:cNvPr id="23" name="Connector 22"/>
          <p:cNvCxnSpPr/>
          <p:nvPr/>
        </p:nvCxnSpPr>
        <p:spPr>
          <a:xfrm>
            <a:off x="658368" y="4762881"/>
            <a:ext cx="10874959" cy="0"/>
          </a:xfrm>
          <a:prstGeom prst="line">
            <a:avLst/>
          </a:prstGeom>
          <a:ln w="10160">
            <a:solidFill>
              <a:srgbClr val="DFE6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4945761"/>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WHAT COULD SLOW THIS DOWN — AND HOW WE HANDLE IT</a:t>
            </a:r>
          </a:p>
        </p:txBody>
      </p:sp>
      <p:sp>
        <p:nvSpPr>
          <p:cNvPr id="25" name="TextBox 24"/>
          <p:cNvSpPr txBox="1"/>
          <p:nvPr/>
        </p:nvSpPr>
        <p:spPr>
          <a:xfrm>
            <a:off x="658368" y="5220081"/>
            <a:ext cx="3240938" cy="274320"/>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Corridor coverage arrives later than the market</a:t>
            </a:r>
          </a:p>
        </p:txBody>
      </p:sp>
      <p:sp>
        <p:nvSpPr>
          <p:cNvPr id="26" name="TextBox 25"/>
          <p:cNvSpPr txBox="1"/>
          <p:nvPr/>
        </p:nvSpPr>
        <p:spPr>
          <a:xfrm>
            <a:off x="658368" y="5494401"/>
            <a:ext cx="3240938" cy="457200"/>
          </a:xfrm>
          <a:prstGeom prst="rect">
            <a:avLst/>
          </a:prstGeom>
          <a:noFill/>
        </p:spPr>
        <p:txBody>
          <a:bodyPr wrap="square" lIns="0" tIns="0" rIns="0" bIns="0" anchor="t">
            <a:spAutoFit/>
          </a:bodyPr>
          <a:lstStyle/>
          <a:p>
            <a:pPr algn="l">
              <a:lnSpc>
                <a:spcPct val="118000"/>
              </a:lnSpc>
              <a:spcAft>
                <a:spcPts val="0"/>
              </a:spcAft>
            </a:pPr>
            <a:r>
              <a:rPr sz="869" b="0" i="0">
                <a:solidFill>
                  <a:srgbClr val="5B6E82"/>
                </a:solidFill>
                <a:latin typeface="Arial"/>
              </a:rPr>
              <a:t>We sequence launches to your live corridors and sell only what we can service that week.</a:t>
            </a:r>
          </a:p>
        </p:txBody>
      </p:sp>
      <p:sp>
        <p:nvSpPr>
          <p:cNvPr id="27" name="TextBox 26"/>
          <p:cNvSpPr txBox="1"/>
          <p:nvPr/>
        </p:nvSpPr>
        <p:spPr>
          <a:xfrm>
            <a:off x="4283354" y="5220081"/>
            <a:ext cx="3240938" cy="274320"/>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KYB throughput becomes the bottleneck</a:t>
            </a:r>
          </a:p>
        </p:txBody>
      </p:sp>
      <p:sp>
        <p:nvSpPr>
          <p:cNvPr id="28" name="TextBox 27"/>
          <p:cNvSpPr txBox="1"/>
          <p:nvPr/>
        </p:nvSpPr>
        <p:spPr>
          <a:xfrm>
            <a:off x="4283354" y="5494401"/>
            <a:ext cx="3240938" cy="457200"/>
          </a:xfrm>
          <a:prstGeom prst="rect">
            <a:avLst/>
          </a:prstGeom>
          <a:noFill/>
        </p:spPr>
        <p:txBody>
          <a:bodyPr wrap="square" lIns="0" tIns="0" rIns="0" bIns="0" anchor="t">
            <a:spAutoFit/>
          </a:bodyPr>
          <a:lstStyle/>
          <a:p>
            <a:pPr algn="l">
              <a:lnSpc>
                <a:spcPct val="118000"/>
              </a:lnSpc>
              <a:spcAft>
                <a:spcPts val="0"/>
              </a:spcAft>
            </a:pPr>
            <a:r>
              <a:rPr sz="869" b="0" i="0">
                <a:solidFill>
                  <a:srgbClr val="5B6E82"/>
                </a:solidFill>
                <a:latin typeface="Arial"/>
              </a:rPr>
              <a:t>Batch onboarding with your team: fixed weekly cut-off, pre-screened files, named reviewer.</a:t>
            </a:r>
          </a:p>
        </p:txBody>
      </p:sp>
      <p:sp>
        <p:nvSpPr>
          <p:cNvPr id="29" name="TextBox 28"/>
          <p:cNvSpPr txBox="1"/>
          <p:nvPr/>
        </p:nvSpPr>
        <p:spPr>
          <a:xfrm>
            <a:off x="7908340" y="5220081"/>
            <a:ext cx="3240938" cy="274320"/>
          </a:xfrm>
          <a:prstGeom prst="rect">
            <a:avLst/>
          </a:prstGeom>
          <a:noFill/>
        </p:spPr>
        <p:txBody>
          <a:bodyPr wrap="square" lIns="0" tIns="0" rIns="0" bIns="0" anchor="t">
            <a:spAutoFit/>
          </a:bodyPr>
          <a:lstStyle/>
          <a:p>
            <a:pPr algn="l">
              <a:lnSpc>
                <a:spcPct val="112000"/>
              </a:lnSpc>
              <a:spcAft>
                <a:spcPts val="0"/>
              </a:spcAft>
            </a:pPr>
            <a:r>
              <a:rPr sz="960" b="1" i="0">
                <a:solidFill>
                  <a:srgbClr val="102236"/>
                </a:solidFill>
                <a:latin typeface="Arial"/>
              </a:rPr>
              <a:t>Our operations team has to scale with volume</a:t>
            </a:r>
          </a:p>
        </p:txBody>
      </p:sp>
      <p:sp>
        <p:nvSpPr>
          <p:cNvPr id="30" name="TextBox 29"/>
          <p:cNvSpPr txBox="1"/>
          <p:nvPr/>
        </p:nvSpPr>
        <p:spPr>
          <a:xfrm>
            <a:off x="7908340" y="5494401"/>
            <a:ext cx="3240938" cy="457200"/>
          </a:xfrm>
          <a:prstGeom prst="rect">
            <a:avLst/>
          </a:prstGeom>
          <a:noFill/>
        </p:spPr>
        <p:txBody>
          <a:bodyPr wrap="square" lIns="0" tIns="0" rIns="0" bIns="0" anchor="t">
            <a:spAutoFit/>
          </a:bodyPr>
          <a:lstStyle/>
          <a:p>
            <a:pPr algn="l">
              <a:lnSpc>
                <a:spcPct val="118000"/>
              </a:lnSpc>
              <a:spcAft>
                <a:spcPts val="0"/>
              </a:spcAft>
            </a:pPr>
            <a:r>
              <a:rPr sz="869" b="0" i="0">
                <a:solidFill>
                  <a:srgbClr val="5B6E82"/>
                </a:solidFill>
                <a:latin typeface="Arial"/>
              </a:rPr>
              <a:t>Two additional merchant-ops staff by month six, funded from the platform subscription line.</a:t>
            </a:r>
          </a:p>
        </p:txBody>
      </p:sp>
      <p:cxnSp>
        <p:nvCxnSpPr>
          <p:cNvPr id="31" name="Connector 30"/>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33" name="TextBox 32"/>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A2B"/>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NEXT STEPS</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FFFFFF"/>
                </a:solidFill>
                <a:latin typeface="Arial"/>
              </a:rPr>
              <a:t>Four decisions to make this week</a:t>
            </a:r>
          </a:p>
        </p:txBody>
      </p:sp>
      <p:sp>
        <p:nvSpPr>
          <p:cNvPr id="4" name="TextBox 3"/>
          <p:cNvSpPr txBox="1"/>
          <p:nvPr/>
        </p:nvSpPr>
        <p:spPr>
          <a:xfrm>
            <a:off x="658368" y="1600200"/>
            <a:ext cx="914400" cy="274320"/>
          </a:xfrm>
          <a:prstGeom prst="rect">
            <a:avLst/>
          </a:prstGeom>
          <a:noFill/>
        </p:spPr>
        <p:txBody>
          <a:bodyPr wrap="square" lIns="0" tIns="0" rIns="0" bIns="0" anchor="t">
            <a:spAutoFit/>
          </a:bodyPr>
          <a:lstStyle/>
          <a:p>
            <a:pPr algn="l">
              <a:lnSpc>
                <a:spcPct val="112000"/>
              </a:lnSpc>
              <a:spcAft>
                <a:spcPts val="0"/>
              </a:spcAft>
            </a:pPr>
            <a:r>
              <a:rPr sz="1000" b="1" i="0" spc="140">
                <a:solidFill>
                  <a:srgbClr val="00B589"/>
                </a:solidFill>
                <a:latin typeface="Arial"/>
              </a:rPr>
              <a:t>01</a:t>
            </a:r>
          </a:p>
        </p:txBody>
      </p:sp>
      <p:sp>
        <p:nvSpPr>
          <p:cNvPr id="5" name="TextBox 4"/>
          <p:cNvSpPr txBox="1"/>
          <p:nvPr/>
        </p:nvSpPr>
        <p:spPr>
          <a:xfrm>
            <a:off x="658368" y="1920240"/>
            <a:ext cx="2364409" cy="365760"/>
          </a:xfrm>
          <a:prstGeom prst="rect">
            <a:avLst/>
          </a:prstGeom>
          <a:noFill/>
        </p:spPr>
        <p:txBody>
          <a:bodyPr wrap="square" lIns="0" tIns="0" rIns="0" bIns="0" anchor="t">
            <a:spAutoFit/>
          </a:bodyPr>
          <a:lstStyle/>
          <a:p>
            <a:pPr algn="l">
              <a:lnSpc>
                <a:spcPct val="106000"/>
              </a:lnSpc>
              <a:spcAft>
                <a:spcPts val="0"/>
              </a:spcAft>
            </a:pPr>
            <a:r>
              <a:rPr sz="1300" b="1" i="0">
                <a:solidFill>
                  <a:srgbClr val="FFFFFF"/>
                </a:solidFill>
                <a:latin typeface="Arial"/>
              </a:rPr>
              <a:t>Confirm the structure</a:t>
            </a:r>
          </a:p>
        </p:txBody>
      </p:sp>
      <p:sp>
        <p:nvSpPr>
          <p:cNvPr id="6" name="TextBox 5"/>
          <p:cNvSpPr txBox="1"/>
          <p:nvPr/>
        </p:nvSpPr>
        <p:spPr>
          <a:xfrm>
            <a:off x="658368" y="2377440"/>
            <a:ext cx="2318689" cy="128016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A or B in writing, so both teams build against the same contract. Commercial detail can follow.</a:t>
            </a:r>
          </a:p>
        </p:txBody>
      </p:sp>
      <p:cxnSp>
        <p:nvCxnSpPr>
          <p:cNvPr id="7" name="Connector 6"/>
          <p:cNvCxnSpPr/>
          <p:nvPr/>
        </p:nvCxnSpPr>
        <p:spPr>
          <a:xfrm>
            <a:off x="3187369" y="1618488"/>
            <a:ext cx="0" cy="1874520"/>
          </a:xfrm>
          <a:prstGeom prst="line">
            <a:avLst/>
          </a:prstGeom>
          <a:ln w="9525">
            <a:solidFill>
              <a:srgbClr val="213B5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434257" y="1600200"/>
            <a:ext cx="914400" cy="274320"/>
          </a:xfrm>
          <a:prstGeom prst="rect">
            <a:avLst/>
          </a:prstGeom>
          <a:noFill/>
        </p:spPr>
        <p:txBody>
          <a:bodyPr wrap="square" lIns="0" tIns="0" rIns="0" bIns="0" anchor="t">
            <a:spAutoFit/>
          </a:bodyPr>
          <a:lstStyle/>
          <a:p>
            <a:pPr algn="l">
              <a:lnSpc>
                <a:spcPct val="112000"/>
              </a:lnSpc>
              <a:spcAft>
                <a:spcPts val="0"/>
              </a:spcAft>
            </a:pPr>
            <a:r>
              <a:rPr sz="1000" b="1" i="0" spc="140">
                <a:solidFill>
                  <a:srgbClr val="00B589"/>
                </a:solidFill>
                <a:latin typeface="Arial"/>
              </a:rPr>
              <a:t>02</a:t>
            </a:r>
          </a:p>
        </p:txBody>
      </p:sp>
      <p:sp>
        <p:nvSpPr>
          <p:cNvPr id="9" name="TextBox 8"/>
          <p:cNvSpPr txBox="1"/>
          <p:nvPr/>
        </p:nvSpPr>
        <p:spPr>
          <a:xfrm>
            <a:off x="3434257" y="1920240"/>
            <a:ext cx="2364409" cy="365760"/>
          </a:xfrm>
          <a:prstGeom prst="rect">
            <a:avLst/>
          </a:prstGeom>
          <a:noFill/>
        </p:spPr>
        <p:txBody>
          <a:bodyPr wrap="square" lIns="0" tIns="0" rIns="0" bIns="0" anchor="t">
            <a:spAutoFit/>
          </a:bodyPr>
          <a:lstStyle/>
          <a:p>
            <a:pPr algn="l">
              <a:lnSpc>
                <a:spcPct val="106000"/>
              </a:lnSpc>
              <a:spcAft>
                <a:spcPts val="0"/>
              </a:spcAft>
            </a:pPr>
            <a:r>
              <a:rPr sz="1300" b="1" i="0">
                <a:solidFill>
                  <a:srgbClr val="FFFFFF"/>
                </a:solidFill>
                <a:latin typeface="Arial"/>
              </a:rPr>
              <a:t>Share the corridor map</a:t>
            </a:r>
          </a:p>
        </p:txBody>
      </p:sp>
      <p:sp>
        <p:nvSpPr>
          <p:cNvPr id="10" name="TextBox 9"/>
          <p:cNvSpPr txBox="1"/>
          <p:nvPr/>
        </p:nvSpPr>
        <p:spPr>
          <a:xfrm>
            <a:off x="3434257" y="2377440"/>
            <a:ext cx="2318689" cy="128016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Which markets you can support today, which are 6–12 months out, and what local methods exist in each.</a:t>
            </a:r>
          </a:p>
        </p:txBody>
      </p:sp>
      <p:cxnSp>
        <p:nvCxnSpPr>
          <p:cNvPr id="11" name="Connector 10"/>
          <p:cNvCxnSpPr/>
          <p:nvPr/>
        </p:nvCxnSpPr>
        <p:spPr>
          <a:xfrm>
            <a:off x="5963259" y="1618488"/>
            <a:ext cx="0" cy="1874520"/>
          </a:xfrm>
          <a:prstGeom prst="line">
            <a:avLst/>
          </a:prstGeom>
          <a:ln w="9525">
            <a:solidFill>
              <a:srgbClr val="213B5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10147" y="1600200"/>
            <a:ext cx="914400" cy="274320"/>
          </a:xfrm>
          <a:prstGeom prst="rect">
            <a:avLst/>
          </a:prstGeom>
          <a:noFill/>
        </p:spPr>
        <p:txBody>
          <a:bodyPr wrap="square" lIns="0" tIns="0" rIns="0" bIns="0" anchor="t">
            <a:spAutoFit/>
          </a:bodyPr>
          <a:lstStyle/>
          <a:p>
            <a:pPr algn="l">
              <a:lnSpc>
                <a:spcPct val="112000"/>
              </a:lnSpc>
              <a:spcAft>
                <a:spcPts val="0"/>
              </a:spcAft>
            </a:pPr>
            <a:r>
              <a:rPr sz="1000" b="1" i="0" spc="140">
                <a:solidFill>
                  <a:srgbClr val="00B589"/>
                </a:solidFill>
                <a:latin typeface="Arial"/>
              </a:rPr>
              <a:t>03</a:t>
            </a:r>
          </a:p>
        </p:txBody>
      </p:sp>
      <p:sp>
        <p:nvSpPr>
          <p:cNvPr id="13" name="TextBox 12"/>
          <p:cNvSpPr txBox="1"/>
          <p:nvPr/>
        </p:nvSpPr>
        <p:spPr>
          <a:xfrm>
            <a:off x="6210147" y="1920240"/>
            <a:ext cx="2364409" cy="365760"/>
          </a:xfrm>
          <a:prstGeom prst="rect">
            <a:avLst/>
          </a:prstGeom>
          <a:noFill/>
        </p:spPr>
        <p:txBody>
          <a:bodyPr wrap="square" lIns="0" tIns="0" rIns="0" bIns="0" anchor="t">
            <a:spAutoFit/>
          </a:bodyPr>
          <a:lstStyle/>
          <a:p>
            <a:pPr algn="l">
              <a:lnSpc>
                <a:spcPct val="106000"/>
              </a:lnSpc>
              <a:spcAft>
                <a:spcPts val="0"/>
              </a:spcAft>
            </a:pPr>
            <a:r>
              <a:rPr sz="1300" b="1" i="0">
                <a:solidFill>
                  <a:srgbClr val="FFFFFF"/>
                </a:solidFill>
                <a:latin typeface="Arial"/>
              </a:rPr>
              <a:t>Agree commercials</a:t>
            </a:r>
          </a:p>
        </p:txBody>
      </p:sp>
      <p:sp>
        <p:nvSpPr>
          <p:cNvPr id="14" name="TextBox 13"/>
          <p:cNvSpPr txBox="1"/>
          <p:nvPr/>
        </p:nvSpPr>
        <p:spPr>
          <a:xfrm>
            <a:off x="6210147" y="2377440"/>
            <a:ext cx="2318689" cy="128016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Pricing at $800K/month and at growth volume, settlement timing, reserve terms and who carries dispute cost.</a:t>
            </a:r>
          </a:p>
        </p:txBody>
      </p:sp>
      <p:cxnSp>
        <p:nvCxnSpPr>
          <p:cNvPr id="15" name="Connector 14"/>
          <p:cNvCxnSpPr/>
          <p:nvPr/>
        </p:nvCxnSpPr>
        <p:spPr>
          <a:xfrm>
            <a:off x="8739149" y="1618488"/>
            <a:ext cx="0" cy="1874520"/>
          </a:xfrm>
          <a:prstGeom prst="line">
            <a:avLst/>
          </a:prstGeom>
          <a:ln w="9525">
            <a:solidFill>
              <a:srgbClr val="213B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86037" y="1600200"/>
            <a:ext cx="914400" cy="274320"/>
          </a:xfrm>
          <a:prstGeom prst="rect">
            <a:avLst/>
          </a:prstGeom>
          <a:noFill/>
        </p:spPr>
        <p:txBody>
          <a:bodyPr wrap="square" lIns="0" tIns="0" rIns="0" bIns="0" anchor="t">
            <a:spAutoFit/>
          </a:bodyPr>
          <a:lstStyle/>
          <a:p>
            <a:pPr algn="l">
              <a:lnSpc>
                <a:spcPct val="112000"/>
              </a:lnSpc>
              <a:spcAft>
                <a:spcPts val="0"/>
              </a:spcAft>
            </a:pPr>
            <a:r>
              <a:rPr sz="1000" b="1" i="0" spc="140">
                <a:solidFill>
                  <a:srgbClr val="00B589"/>
                </a:solidFill>
                <a:latin typeface="Arial"/>
              </a:rPr>
              <a:t>04</a:t>
            </a:r>
          </a:p>
        </p:txBody>
      </p:sp>
      <p:sp>
        <p:nvSpPr>
          <p:cNvPr id="17" name="TextBox 16"/>
          <p:cNvSpPr txBox="1"/>
          <p:nvPr/>
        </p:nvSpPr>
        <p:spPr>
          <a:xfrm>
            <a:off x="8986037" y="1920240"/>
            <a:ext cx="2364409" cy="365760"/>
          </a:xfrm>
          <a:prstGeom prst="rect">
            <a:avLst/>
          </a:prstGeom>
          <a:noFill/>
        </p:spPr>
        <p:txBody>
          <a:bodyPr wrap="square" lIns="0" tIns="0" rIns="0" bIns="0" anchor="t">
            <a:spAutoFit/>
          </a:bodyPr>
          <a:lstStyle/>
          <a:p>
            <a:pPr algn="l">
              <a:lnSpc>
                <a:spcPct val="106000"/>
              </a:lnSpc>
              <a:spcAft>
                <a:spcPts val="0"/>
              </a:spcAft>
            </a:pPr>
            <a:r>
              <a:rPr sz="1300" b="1" i="0">
                <a:solidFill>
                  <a:srgbClr val="FFFFFF"/>
                </a:solidFill>
                <a:latin typeface="Arial"/>
              </a:rPr>
              <a:t>Book the technical kickoff</a:t>
            </a:r>
          </a:p>
        </p:txBody>
      </p:sp>
      <p:sp>
        <p:nvSpPr>
          <p:cNvPr id="18" name="TextBox 17"/>
          <p:cNvSpPr txBox="1"/>
          <p:nvPr/>
        </p:nvSpPr>
        <p:spPr>
          <a:xfrm>
            <a:off x="8986037" y="2377440"/>
            <a:ext cx="2318689" cy="128016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Sandbox keys and a named solutions engineer; our team can start the week after.</a:t>
            </a:r>
          </a:p>
        </p:txBody>
      </p:sp>
      <p:cxnSp>
        <p:nvCxnSpPr>
          <p:cNvPr id="19" name="Connector 18"/>
          <p:cNvCxnSpPr/>
          <p:nvPr/>
        </p:nvCxnSpPr>
        <p:spPr>
          <a:xfrm>
            <a:off x="658368" y="3721608"/>
            <a:ext cx="10874959" cy="0"/>
          </a:xfrm>
          <a:prstGeom prst="line">
            <a:avLst/>
          </a:prstGeom>
          <a:ln w="10160">
            <a:solidFill>
              <a:srgbClr val="213B5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3886200"/>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WHAT WE BRING TO THE KICKOFF</a:t>
            </a:r>
          </a:p>
        </p:txBody>
      </p:sp>
      <p:sp>
        <p:nvSpPr>
          <p:cNvPr id="21" name="TextBox 20"/>
          <p:cNvSpPr txBox="1"/>
          <p:nvPr/>
        </p:nvSpPr>
        <p:spPr>
          <a:xfrm>
            <a:off x="658368" y="4206240"/>
            <a:ext cx="3304946" cy="457200"/>
          </a:xfrm>
          <a:prstGeom prst="rect">
            <a:avLst/>
          </a:prstGeom>
          <a:noFill/>
        </p:spPr>
        <p:txBody>
          <a:bodyPr wrap="square" lIns="0" tIns="0" rIns="0" bIns="0" anchor="t">
            <a:spAutoFit/>
          </a:bodyPr>
          <a:lstStyle/>
          <a:p>
            <a:pPr algn="l">
              <a:lnSpc>
                <a:spcPct val="120000"/>
              </a:lnSpc>
              <a:spcAft>
                <a:spcPts val="0"/>
              </a:spcAft>
            </a:pPr>
            <a:r>
              <a:rPr sz="1000" b="0" i="0">
                <a:solidFill>
                  <a:srgbClr val="FFFFFF"/>
                </a:solidFill>
                <a:latin typeface="Arial"/>
              </a:rPr>
              <a:t>Entity documents and the completed KYB pack</a:t>
            </a:r>
          </a:p>
        </p:txBody>
      </p:sp>
      <p:sp>
        <p:nvSpPr>
          <p:cNvPr id="22" name="TextBox 21"/>
          <p:cNvSpPr txBox="1"/>
          <p:nvPr/>
        </p:nvSpPr>
        <p:spPr>
          <a:xfrm>
            <a:off x="4283354" y="4206240"/>
            <a:ext cx="3304946" cy="457200"/>
          </a:xfrm>
          <a:prstGeom prst="rect">
            <a:avLst/>
          </a:prstGeom>
          <a:noFill/>
        </p:spPr>
        <p:txBody>
          <a:bodyPr wrap="square" lIns="0" tIns="0" rIns="0" bIns="0" anchor="t">
            <a:spAutoFit/>
          </a:bodyPr>
          <a:lstStyle/>
          <a:p>
            <a:pPr algn="l">
              <a:lnSpc>
                <a:spcPct val="120000"/>
              </a:lnSpc>
              <a:spcAft>
                <a:spcPts val="0"/>
              </a:spcAft>
            </a:pPr>
            <a:r>
              <a:rPr sz="1000" b="0" i="0">
                <a:solidFill>
                  <a:srgbClr val="FFFFFF"/>
                </a:solidFill>
                <a:latin typeface="Arial"/>
              </a:rPr>
              <a:t>A named integration owner and sandbox API keys</a:t>
            </a:r>
          </a:p>
        </p:txBody>
      </p:sp>
      <p:sp>
        <p:nvSpPr>
          <p:cNvPr id="23" name="TextBox 22"/>
          <p:cNvSpPr txBox="1"/>
          <p:nvPr/>
        </p:nvSpPr>
        <p:spPr>
          <a:xfrm>
            <a:off x="7908340" y="4206240"/>
            <a:ext cx="3304946" cy="457200"/>
          </a:xfrm>
          <a:prstGeom prst="rect">
            <a:avLst/>
          </a:prstGeom>
          <a:noFill/>
        </p:spPr>
        <p:txBody>
          <a:bodyPr wrap="square" lIns="0" tIns="0" rIns="0" bIns="0" anchor="t">
            <a:spAutoFit/>
          </a:bodyPr>
          <a:lstStyle/>
          <a:p>
            <a:pPr algn="l">
              <a:lnSpc>
                <a:spcPct val="120000"/>
              </a:lnSpc>
              <a:spcAft>
                <a:spcPts val="0"/>
              </a:spcAft>
            </a:pPr>
            <a:r>
              <a:rPr sz="1000" b="0" i="0">
                <a:solidFill>
                  <a:srgbClr val="FFFFFF"/>
                </a:solidFill>
                <a:latin typeface="Arial"/>
              </a:rPr>
              <a:t>Twenty pilot merchants, pre-screened</a:t>
            </a:r>
          </a:p>
        </p:txBody>
      </p:sp>
      <p:sp>
        <p:nvSpPr>
          <p:cNvPr id="24" name="Rounded Rectangle 23"/>
          <p:cNvSpPr/>
          <p:nvPr/>
        </p:nvSpPr>
        <p:spPr>
          <a:xfrm>
            <a:off x="658368" y="4864608"/>
            <a:ext cx="10874959" cy="969264"/>
          </a:xfrm>
          <a:prstGeom prst="roundRect">
            <a:avLst>
              <a:gd name="adj" fmla="val 4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8407" y="5010912"/>
            <a:ext cx="10234879" cy="274320"/>
          </a:xfrm>
          <a:prstGeom prst="rect">
            <a:avLst/>
          </a:prstGeom>
          <a:noFill/>
        </p:spPr>
        <p:txBody>
          <a:bodyPr wrap="square" lIns="0" tIns="0" rIns="0" bIns="0" anchor="t">
            <a:spAutoFit/>
          </a:bodyPr>
          <a:lstStyle/>
          <a:p>
            <a:pPr algn="l">
              <a:lnSpc>
                <a:spcPct val="112000"/>
              </a:lnSpc>
              <a:spcAft>
                <a:spcPts val="0"/>
              </a:spcAft>
            </a:pPr>
            <a:r>
              <a:rPr sz="1500" b="1" i="0">
                <a:solidFill>
                  <a:srgbClr val="0A1A2B"/>
                </a:solidFill>
                <a:latin typeface="Arial"/>
              </a:rPr>
              <a:t>Target: first live transaction eight weeks from approval.</a:t>
            </a:r>
          </a:p>
        </p:txBody>
      </p:sp>
      <p:sp>
        <p:nvSpPr>
          <p:cNvPr id="26" name="TextBox 25"/>
          <p:cNvSpPr txBox="1"/>
          <p:nvPr/>
        </p:nvSpPr>
        <p:spPr>
          <a:xfrm>
            <a:off x="978407" y="5358384"/>
            <a:ext cx="10234879" cy="274320"/>
          </a:xfrm>
          <a:prstGeom prst="rect">
            <a:avLst/>
          </a:prstGeom>
          <a:noFill/>
        </p:spPr>
        <p:txBody>
          <a:bodyPr wrap="square" lIns="0" tIns="0" rIns="0" bIns="0" anchor="t">
            <a:spAutoFit/>
          </a:bodyPr>
          <a:lstStyle/>
          <a:p>
            <a:pPr algn="l">
              <a:lnSpc>
                <a:spcPct val="110000"/>
              </a:lnSpc>
              <a:spcAft>
                <a:spcPts val="0"/>
              </a:spcAft>
            </a:pPr>
            <a:r>
              <a:rPr sz="1000" b="0" i="0">
                <a:solidFill>
                  <a:srgbClr val="0A1A2B"/>
                </a:solidFill>
                <a:latin typeface="Arial"/>
              </a:rPr>
              <a:t>KD PAY LLC  ·  [name] · [title] · [email] · [phone]</a:t>
            </a:r>
          </a:p>
        </p:txBody>
      </p:sp>
      <p:cxnSp>
        <p:nvCxnSpPr>
          <p:cNvPr id="27" name="Connector 26"/>
          <p:cNvCxnSpPr/>
          <p:nvPr/>
        </p:nvCxnSpPr>
        <p:spPr>
          <a:xfrm>
            <a:off x="658368" y="6327648"/>
            <a:ext cx="10874959" cy="0"/>
          </a:xfrm>
          <a:prstGeom prst="line">
            <a:avLst/>
          </a:prstGeom>
          <a:ln w="7620">
            <a:solidFill>
              <a:srgbClr val="213B5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9FB3C6"/>
                </a:solidFill>
                <a:latin typeface="Arial"/>
              </a:rPr>
              <a:t>KD PAY LLC  ·  White-label partnership proposal  ·  Confidential</a:t>
            </a:r>
          </a:p>
        </p:txBody>
      </p:sp>
      <p:sp>
        <p:nvSpPr>
          <p:cNvPr id="29" name="TextBox 28"/>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9FB3C6"/>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APPENDIX</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What we can provide during due diligence</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We expect underwriting. Here is the pack, ready on request under NDA.</a:t>
            </a:r>
          </a:p>
        </p:txBody>
      </p:sp>
      <p:sp>
        <p:nvSpPr>
          <p:cNvPr id="5" name="Rounded Rectangle 4"/>
          <p:cNvSpPr/>
          <p:nvPr/>
        </p:nvSpPr>
        <p:spPr>
          <a:xfrm>
            <a:off x="658368" y="1909953"/>
            <a:ext cx="2547289" cy="17830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77824" y="2092833"/>
            <a:ext cx="2108377"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CORPORATE</a:t>
            </a:r>
          </a:p>
        </p:txBody>
      </p:sp>
      <p:sp>
        <p:nvSpPr>
          <p:cNvPr id="7" name="TextBox 6"/>
          <p:cNvSpPr txBox="1"/>
          <p:nvPr/>
        </p:nvSpPr>
        <p:spPr>
          <a:xfrm>
            <a:off x="877824" y="2422017"/>
            <a:ext cx="2135809" cy="1097280"/>
          </a:xfrm>
          <a:prstGeom prst="rect">
            <a:avLst/>
          </a:prstGeom>
          <a:noFill/>
        </p:spPr>
        <p:txBody>
          <a:bodyPr wrap="square" lIns="0" rIns="0" tIns="0" bIns="0">
            <a:spAutoFit/>
          </a:bodyPr>
          <a:lstStyle/>
          <a:p>
            <a:pPr marL="219456" indent="-219456">
              <a:lnSpc>
                <a:spcPct val="118000"/>
              </a:lnSpc>
              <a:spcAft>
                <a:spcPts val="700"/>
              </a:spcAft>
              <a:buClr>
                <a:srgbClr val="00B589"/>
              </a:buClr>
              <a:buFont typeface="Arial"/>
              <a:buChar char="—"/>
            </a:pPr>
            <a:r>
              <a:rPr sz="950" b="0" i="0">
                <a:solidFill>
                  <a:srgbClr val="102236"/>
                </a:solidFill>
                <a:latin typeface="Arial"/>
              </a:rPr>
              <a:t>Certificate of formation and good standing</a:t>
            </a:r>
          </a:p>
          <a:p>
            <a:pPr marL="219456" indent="-219456">
              <a:lnSpc>
                <a:spcPct val="118000"/>
              </a:lnSpc>
              <a:spcAft>
                <a:spcPts val="700"/>
              </a:spcAft>
              <a:buClr>
                <a:srgbClr val="00B589"/>
              </a:buClr>
              <a:buFont typeface="Arial"/>
              <a:buChar char="—"/>
            </a:pPr>
            <a:r>
              <a:rPr sz="950" b="0" i="0">
                <a:solidFill>
                  <a:srgbClr val="102236"/>
                </a:solidFill>
                <a:latin typeface="Arial"/>
              </a:rPr>
              <a:t>Operating agreement and ownership chart</a:t>
            </a:r>
          </a:p>
          <a:p>
            <a:pPr marL="219456" indent="-219456">
              <a:lnSpc>
                <a:spcPct val="118000"/>
              </a:lnSpc>
              <a:spcAft>
                <a:spcPts val="700"/>
              </a:spcAft>
              <a:buClr>
                <a:srgbClr val="00B589"/>
              </a:buClr>
              <a:buFont typeface="Arial"/>
              <a:buChar char="—"/>
            </a:pPr>
            <a:r>
              <a:rPr sz="950" b="0" i="0">
                <a:solidFill>
                  <a:srgbClr val="102236"/>
                </a:solidFill>
                <a:latin typeface="Arial"/>
              </a:rPr>
              <a:t>Board resolution and signatory list</a:t>
            </a:r>
          </a:p>
        </p:txBody>
      </p:sp>
      <p:sp>
        <p:nvSpPr>
          <p:cNvPr id="8" name="Rounded Rectangle 7"/>
          <p:cNvSpPr/>
          <p:nvPr/>
        </p:nvSpPr>
        <p:spPr>
          <a:xfrm>
            <a:off x="3434257" y="1909953"/>
            <a:ext cx="2547289" cy="17830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653713" y="2092833"/>
            <a:ext cx="2108377"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FINANCIAL</a:t>
            </a:r>
          </a:p>
        </p:txBody>
      </p:sp>
      <p:sp>
        <p:nvSpPr>
          <p:cNvPr id="10" name="TextBox 9"/>
          <p:cNvSpPr txBox="1"/>
          <p:nvPr/>
        </p:nvSpPr>
        <p:spPr>
          <a:xfrm>
            <a:off x="3653713" y="2422017"/>
            <a:ext cx="2135809" cy="1097280"/>
          </a:xfrm>
          <a:prstGeom prst="rect">
            <a:avLst/>
          </a:prstGeom>
          <a:noFill/>
        </p:spPr>
        <p:txBody>
          <a:bodyPr wrap="square" lIns="0" rIns="0" tIns="0" bIns="0">
            <a:spAutoFit/>
          </a:bodyPr>
          <a:lstStyle/>
          <a:p>
            <a:pPr marL="219456" indent="-219456">
              <a:lnSpc>
                <a:spcPct val="118000"/>
              </a:lnSpc>
              <a:spcAft>
                <a:spcPts val="700"/>
              </a:spcAft>
              <a:buClr>
                <a:srgbClr val="00B589"/>
              </a:buClr>
              <a:buFont typeface="Arial"/>
              <a:buChar char="—"/>
            </a:pPr>
            <a:r>
              <a:rPr sz="950" b="0" i="0">
                <a:solidFill>
                  <a:srgbClr val="102236"/>
                </a:solidFill>
                <a:latin typeface="Arial"/>
              </a:rPr>
              <a:t>12 months of processing statements</a:t>
            </a:r>
          </a:p>
          <a:p>
            <a:pPr marL="219456" indent="-219456">
              <a:lnSpc>
                <a:spcPct val="118000"/>
              </a:lnSpc>
              <a:spcAft>
                <a:spcPts val="700"/>
              </a:spcAft>
              <a:buClr>
                <a:srgbClr val="00B589"/>
              </a:buClr>
              <a:buFont typeface="Arial"/>
              <a:buChar char="—"/>
            </a:pPr>
            <a:r>
              <a:rPr sz="950" b="0" i="0">
                <a:solidFill>
                  <a:srgbClr val="102236"/>
                </a:solidFill>
                <a:latin typeface="Arial"/>
              </a:rPr>
              <a:t>Chargeback and refund reports</a:t>
            </a:r>
          </a:p>
          <a:p>
            <a:pPr marL="219456" indent="-219456">
              <a:lnSpc>
                <a:spcPct val="118000"/>
              </a:lnSpc>
              <a:spcAft>
                <a:spcPts val="700"/>
              </a:spcAft>
              <a:buClr>
                <a:srgbClr val="00B589"/>
              </a:buClr>
              <a:buFont typeface="Arial"/>
              <a:buChar char="—"/>
            </a:pPr>
            <a:r>
              <a:rPr sz="950" b="0" i="0">
                <a:solidFill>
                  <a:srgbClr val="102236"/>
                </a:solidFill>
                <a:latin typeface="Arial"/>
              </a:rPr>
              <a:t>Bank statements for the operating account</a:t>
            </a:r>
          </a:p>
        </p:txBody>
      </p:sp>
      <p:sp>
        <p:nvSpPr>
          <p:cNvPr id="11" name="Rounded Rectangle 10"/>
          <p:cNvSpPr/>
          <p:nvPr/>
        </p:nvSpPr>
        <p:spPr>
          <a:xfrm>
            <a:off x="6210147" y="1909953"/>
            <a:ext cx="2547289" cy="17830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29603" y="2092833"/>
            <a:ext cx="2108377"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MERCHANT</a:t>
            </a:r>
          </a:p>
        </p:txBody>
      </p:sp>
      <p:sp>
        <p:nvSpPr>
          <p:cNvPr id="13" name="TextBox 12"/>
          <p:cNvSpPr txBox="1"/>
          <p:nvPr/>
        </p:nvSpPr>
        <p:spPr>
          <a:xfrm>
            <a:off x="6429603" y="2422017"/>
            <a:ext cx="2135809" cy="1097280"/>
          </a:xfrm>
          <a:prstGeom prst="rect">
            <a:avLst/>
          </a:prstGeom>
          <a:noFill/>
        </p:spPr>
        <p:txBody>
          <a:bodyPr wrap="square" lIns="0" rIns="0" tIns="0" bIns="0">
            <a:spAutoFit/>
          </a:bodyPr>
          <a:lstStyle/>
          <a:p>
            <a:pPr marL="219456" indent="-219456">
              <a:lnSpc>
                <a:spcPct val="118000"/>
              </a:lnSpc>
              <a:spcAft>
                <a:spcPts val="700"/>
              </a:spcAft>
              <a:buClr>
                <a:srgbClr val="00B589"/>
              </a:buClr>
              <a:buFont typeface="Arial"/>
              <a:buChar char="—"/>
            </a:pPr>
            <a:r>
              <a:rPr sz="950" b="0" i="0">
                <a:solidFill>
                  <a:srgbClr val="102236"/>
                </a:solidFill>
                <a:latin typeface="Arial"/>
              </a:rPr>
              <a:t>Sample merchant agreements and KYB files (redacted)</a:t>
            </a:r>
          </a:p>
          <a:p>
            <a:pPr marL="219456" indent="-219456">
              <a:lnSpc>
                <a:spcPct val="118000"/>
              </a:lnSpc>
              <a:spcAft>
                <a:spcPts val="700"/>
              </a:spcAft>
              <a:buClr>
                <a:srgbClr val="00B589"/>
              </a:buClr>
              <a:buFont typeface="Arial"/>
              <a:buChar char="—"/>
            </a:pPr>
            <a:r>
              <a:rPr sz="950" b="0" i="0">
                <a:solidFill>
                  <a:srgbClr val="102236"/>
                </a:solidFill>
                <a:latin typeface="Arial"/>
              </a:rPr>
              <a:t>Merchant mix and MCC summary</a:t>
            </a:r>
          </a:p>
          <a:p>
            <a:pPr marL="219456" indent="-219456">
              <a:lnSpc>
                <a:spcPct val="118000"/>
              </a:lnSpc>
              <a:spcAft>
                <a:spcPts val="700"/>
              </a:spcAft>
              <a:buClr>
                <a:srgbClr val="00B589"/>
              </a:buClr>
              <a:buFont typeface="Arial"/>
              <a:buChar char="—"/>
            </a:pPr>
            <a:r>
              <a:rPr sz="950" b="0" i="0">
                <a:solidFill>
                  <a:srgbClr val="102236"/>
                </a:solidFill>
                <a:latin typeface="Arial"/>
              </a:rPr>
              <a:t>Onboarding and monitoring procedures</a:t>
            </a:r>
          </a:p>
        </p:txBody>
      </p:sp>
      <p:sp>
        <p:nvSpPr>
          <p:cNvPr id="14" name="Rounded Rectangle 13"/>
          <p:cNvSpPr/>
          <p:nvPr/>
        </p:nvSpPr>
        <p:spPr>
          <a:xfrm>
            <a:off x="8986037" y="1909953"/>
            <a:ext cx="2547289" cy="17830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205493" y="2092833"/>
            <a:ext cx="2108377"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TECHNICAL</a:t>
            </a:r>
          </a:p>
        </p:txBody>
      </p:sp>
      <p:sp>
        <p:nvSpPr>
          <p:cNvPr id="16" name="TextBox 15"/>
          <p:cNvSpPr txBox="1"/>
          <p:nvPr/>
        </p:nvSpPr>
        <p:spPr>
          <a:xfrm>
            <a:off x="9205493" y="2422017"/>
            <a:ext cx="2135809" cy="1097280"/>
          </a:xfrm>
          <a:prstGeom prst="rect">
            <a:avLst/>
          </a:prstGeom>
          <a:noFill/>
        </p:spPr>
        <p:txBody>
          <a:bodyPr wrap="square" lIns="0" rIns="0" tIns="0" bIns="0">
            <a:spAutoFit/>
          </a:bodyPr>
          <a:lstStyle/>
          <a:p>
            <a:pPr marL="219456" indent="-219456">
              <a:lnSpc>
                <a:spcPct val="118000"/>
              </a:lnSpc>
              <a:spcAft>
                <a:spcPts val="700"/>
              </a:spcAft>
              <a:buClr>
                <a:srgbClr val="00B589"/>
              </a:buClr>
              <a:buFont typeface="Arial"/>
              <a:buChar char="—"/>
            </a:pPr>
            <a:r>
              <a:rPr sz="950" b="0" i="0">
                <a:solidFill>
                  <a:srgbClr val="102236"/>
                </a:solidFill>
                <a:latin typeface="Arial"/>
              </a:rPr>
              <a:t>Security architecture document</a:t>
            </a:r>
          </a:p>
          <a:p>
            <a:pPr marL="219456" indent="-219456">
              <a:lnSpc>
                <a:spcPct val="118000"/>
              </a:lnSpc>
              <a:spcAft>
                <a:spcPts val="700"/>
              </a:spcAft>
              <a:buClr>
                <a:srgbClr val="00B589"/>
              </a:buClr>
              <a:buFont typeface="Arial"/>
              <a:buChar char="—"/>
            </a:pPr>
            <a:r>
              <a:rPr sz="950" b="0" i="0">
                <a:solidFill>
                  <a:srgbClr val="102236"/>
                </a:solidFill>
                <a:latin typeface="Arial"/>
              </a:rPr>
              <a:t>PCI SAQ-A plan and ASV scan schedule</a:t>
            </a:r>
          </a:p>
          <a:p>
            <a:pPr marL="219456" indent="-219456">
              <a:lnSpc>
                <a:spcPct val="118000"/>
              </a:lnSpc>
              <a:spcAft>
                <a:spcPts val="700"/>
              </a:spcAft>
              <a:buClr>
                <a:srgbClr val="00B589"/>
              </a:buClr>
              <a:buFont typeface="Arial"/>
              <a:buChar char="—"/>
            </a:pPr>
            <a:r>
              <a:rPr sz="950" b="0" i="0">
                <a:solidFill>
                  <a:srgbClr val="102236"/>
                </a:solidFill>
                <a:latin typeface="Arial"/>
              </a:rPr>
              <a:t>Data-flow diagram and sub-processor list</a:t>
            </a:r>
          </a:p>
        </p:txBody>
      </p:sp>
      <p:sp>
        <p:nvSpPr>
          <p:cNvPr id="17" name="TextBox 16"/>
          <p:cNvSpPr txBox="1"/>
          <p:nvPr/>
        </p:nvSpPr>
        <p:spPr>
          <a:xfrm>
            <a:off x="658368" y="4040505"/>
            <a:ext cx="10874959" cy="365760"/>
          </a:xfrm>
          <a:prstGeom prst="rect">
            <a:avLst/>
          </a:prstGeom>
          <a:noFill/>
        </p:spPr>
        <p:txBody>
          <a:bodyPr wrap="square" lIns="0" tIns="0" rIns="0" bIns="0" anchor="t">
            <a:spAutoFit/>
          </a:bodyPr>
          <a:lstStyle/>
          <a:p>
            <a:pPr algn="l">
              <a:lnSpc>
                <a:spcPct val="125000"/>
              </a:lnSpc>
              <a:spcAft>
                <a:spcPts val="0"/>
              </a:spcAft>
            </a:pPr>
            <a:r>
              <a:rPr sz="980" b="0" i="0">
                <a:solidFill>
                  <a:srgbClr val="5B6E82"/>
                </a:solidFill>
                <a:latin typeface="Arial"/>
              </a:rPr>
              <a:t>Open item we will address first: the processing history sits with our operating entity; KD PAY LLC is new. We will provide continuity evidence and references so the underwriting risk is clear, not hidden.</a:t>
            </a:r>
          </a:p>
        </p:txBody>
      </p:sp>
      <p:sp>
        <p:nvSpPr>
          <p:cNvPr id="18" name="Rounded Rectangle 17"/>
          <p:cNvSpPr/>
          <p:nvPr/>
        </p:nvSpPr>
        <p:spPr>
          <a:xfrm>
            <a:off x="658368" y="4709160"/>
            <a:ext cx="10874959" cy="960120"/>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78407" y="4892040"/>
            <a:ext cx="3657600"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WHAT WE NEED FROM YOU</a:t>
            </a:r>
          </a:p>
        </p:txBody>
      </p:sp>
      <p:sp>
        <p:nvSpPr>
          <p:cNvPr id="20" name="TextBox 19"/>
          <p:cNvSpPr txBox="1"/>
          <p:nvPr/>
        </p:nvSpPr>
        <p:spPr>
          <a:xfrm>
            <a:off x="978407" y="5212080"/>
            <a:ext cx="3137306" cy="384048"/>
          </a:xfrm>
          <a:prstGeom prst="rect">
            <a:avLst/>
          </a:prstGeom>
          <a:noFill/>
        </p:spPr>
        <p:txBody>
          <a:bodyPr wrap="square" lIns="0" tIns="0" rIns="0" bIns="0" anchor="t">
            <a:spAutoFit/>
          </a:bodyPr>
          <a:lstStyle/>
          <a:p>
            <a:pPr algn="l">
              <a:lnSpc>
                <a:spcPct val="115000"/>
              </a:lnSpc>
              <a:spcAft>
                <a:spcPts val="0"/>
              </a:spcAft>
            </a:pPr>
            <a:r>
              <a:rPr sz="980" b="0" i="0">
                <a:solidFill>
                  <a:srgbClr val="FFFFFF"/>
                </a:solidFill>
                <a:latin typeface="Arial"/>
              </a:rPr>
              <a:t>Pricing sheet and reserve terms at our volume</a:t>
            </a:r>
          </a:p>
        </p:txBody>
      </p:sp>
      <p:sp>
        <p:nvSpPr>
          <p:cNvPr id="21" name="TextBox 20"/>
          <p:cNvSpPr txBox="1"/>
          <p:nvPr/>
        </p:nvSpPr>
        <p:spPr>
          <a:xfrm>
            <a:off x="4390034" y="5212080"/>
            <a:ext cx="3137306" cy="384048"/>
          </a:xfrm>
          <a:prstGeom prst="rect">
            <a:avLst/>
          </a:prstGeom>
          <a:noFill/>
        </p:spPr>
        <p:txBody>
          <a:bodyPr wrap="square" lIns="0" tIns="0" rIns="0" bIns="0" anchor="t">
            <a:spAutoFit/>
          </a:bodyPr>
          <a:lstStyle/>
          <a:p>
            <a:pPr algn="l">
              <a:lnSpc>
                <a:spcPct val="115000"/>
              </a:lnSpc>
              <a:spcAft>
                <a:spcPts val="0"/>
              </a:spcAft>
            </a:pPr>
            <a:r>
              <a:rPr sz="980" b="0" i="0">
                <a:solidFill>
                  <a:srgbClr val="FFFFFF"/>
                </a:solidFill>
                <a:latin typeface="Arial"/>
              </a:rPr>
              <a:t>Capability and corridor matrix, today and roadmap</a:t>
            </a:r>
          </a:p>
        </p:txBody>
      </p:sp>
      <p:sp>
        <p:nvSpPr>
          <p:cNvPr id="22" name="TextBox 21"/>
          <p:cNvSpPr txBox="1"/>
          <p:nvPr/>
        </p:nvSpPr>
        <p:spPr>
          <a:xfrm>
            <a:off x="7801660" y="5212080"/>
            <a:ext cx="3137306" cy="384048"/>
          </a:xfrm>
          <a:prstGeom prst="rect">
            <a:avLst/>
          </a:prstGeom>
          <a:noFill/>
        </p:spPr>
        <p:txBody>
          <a:bodyPr wrap="square" lIns="0" tIns="0" rIns="0" bIns="0" anchor="t">
            <a:spAutoFit/>
          </a:bodyPr>
          <a:lstStyle/>
          <a:p>
            <a:pPr algn="l">
              <a:lnSpc>
                <a:spcPct val="115000"/>
              </a:lnSpc>
              <a:spcAft>
                <a:spcPts val="0"/>
              </a:spcAft>
            </a:pPr>
            <a:r>
              <a:rPr sz="980" b="0" i="0">
                <a:solidFill>
                  <a:srgbClr val="FFFFFF"/>
                </a:solidFill>
                <a:latin typeface="Arial"/>
              </a:rPr>
              <a:t>Draft term sheet, SLA and settlement timetable</a:t>
            </a:r>
          </a:p>
        </p:txBody>
      </p:sp>
      <p:cxnSp>
        <p:nvCxnSpPr>
          <p:cNvPr id="23" name="Connector 22"/>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White-label partnership proposal  ·  Confidential</a:t>
            </a:r>
          </a:p>
        </p:txBody>
      </p:sp>
      <p:sp>
        <p:nvSpPr>
          <p:cNvPr id="25" name="TextBox 24"/>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KD PAY LLC — white-label partnership proposal for Airwallex</dc:title>
  <dc:subject>Operating the merchant-facing layer for Asia on Airwallex rails</dc:subject>
  <dc:creator>KD PAY LLC</dc:creator>
  <cp:keywords>Airwallex, white-label, merchant of record, Asia, cross-border payments</cp:keywords>
  <dc:description>17-slide business-model deck. Figures supplied by KD PAY: $800K monthly volume, 0.01% chargeback ratio, operating since 2022. See deck/SOURCES.md for the basis of every claim.</dc:description>
  <cp:lastModifiedBy>KD PAY LLC</cp:lastModifiedBy>
  <cp:revision>1</cp:revision>
  <dcterms:created xsi:type="dcterms:W3CDTF">2013-01-27T09:14:16Z</dcterms:created>
  <dcterms:modified xsi:type="dcterms:W3CDTF">2013-01-27T09:15:58Z</dcterms:modified>
  <cp:category>Partnership proposal</cp:category>
</cp:coreProperties>
</file>